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Good morning everyone. We are Team FraudShield AI. Our project is about detecting payment fraud using deep learning. The key idea is simple: instead of judging one transaction alone, we look at a customer's recent sequence of transactions and decide if the next payment is fraud. I will introduce the problem and the business value, Yash will cover the data and features, Atharva will explain the LSTM model and how we evaluate it, and our fourth member will cover limitations, ethics and future scope. The whole presentation will take about 12 minutes. Let's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Here is our project in three business sentences. First, we look at customer behaviour over time, not just one isolated payment. Second, we use an LSTM, a type of neural network with memory, to learn what suspicious payment patterns look like. Third, and most importantly for the business, every transaction receives a fraud risk score that maps to a clear action: approve it, send it for manual review or one-time-password, or block it and alert the fraud team. So the output is not just a number — it is a decision the bank can act on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Let's talk about the real problem. Digital payments happen in seconds, and fraudsters exploit that speed. The typical attack looks like this: an account behaves normally with small amounts, then suddenly there is a very large transfer, followed by a quick cash-out, and the balance is drained to zero. By the time a human notices, the money is gone. On top of that, manually investigating every flagged payment is extremely expensive. So banks need a system that can spot these suspicious sequences automatically and in real time. That is exactly the gap FraudShield AI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Why does this matter so much? There are five business impacts. One, direct financial loss — every missed fraud is money gone. Two, customer trust — a customer who is defrauded often leaves the bank for good. Three, regulatory risk — banks face fines if they fail to control fraud. Four, operational workload — without smart prioritisation, analysts drown in alerts. And five, reputation damage — a public fraud story can hurt the brand for years. A good detection system protects all five at once, which is why this is a board-level priority, not just a technical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Banks already use rule-based systems, so why move to deep learning? Consider a simple rule: if the amount is over ten thousand, block it. This has four big problems. The thresholds are static, so they are easy to bypass. They create many false alerts, annoying genuine customers. Fraudsters quickly learn the limit and simply stay just under it. And critically, rules have no memory — they look at one transaction in isolation. A nine thousand payment might be totally normal for a business account but a clear fraud for a student account. A fixed number cannot tell the difference. The customer's behaviour over time can — and that is what we model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This slide is the heart of the why. A normal machine-learning model looks at one transaction at a time — it has no sense of order or history. An LSTM, which stands for Long Short-Term Memory, is a recurrent neural network that reads a sequence of transactions in order and keeps a memory of what came before. Look at the example. A normal customer goes 100, 150, 120, 90 — steady and small. A fraud case goes 100, 120, then suddenly 9,000, 9,500, and the balance hits zero. Judged alone, a 9,000 payment is just a big number. But the LSTM remembers the calm history right before it, so the sudden spike stands out immediately. That memory of behaviour is exactly why we chose an LSTM. Now Yash will walk you through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Petkar]
Thank you Krishna. I will cover the data. We use the PaySim dataset, which simulates mobile-money transactions and is widely used for fraud research. Each row is one transaction. The key columns are: step, which is time in hours; type, which is the kind of transaction such as transfer or cash-out; amount; the sender ID and the sender's balance before and after; the receiver ID and their balance before and after; and finally isFraud, which is our label. One honesty note: PaySim is synthetic, and for the demo we generate a small sample so the notebook and dashboard always run. For final, real numbers we drop the full PaySim file into the data folder and re-run. We never report fake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Petkar]
Raw columns alone are not enough, so we engineer features that capture the fraud story. Origin balance change shows how much the sender lost. Destination balance change shows how much the receiver gained. Amount-to-balance ratio tells us if the payment is huge relative to what the customer had. The zero-balance flag marks accounts drained to nearly zero — a very strong fraud signal. The high-amount flag marks unusually large payments. Transaction count by customer measures how active the customer is. And we encode the transaction type as a number so the network can use it. Each of these directly reflects the suspicious behaviour we saw earlier, and all of it lives in one clean module, feature_engineering dot 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Petkar]
Here is how we prepare data for a sequence model. For each customer, we sort their transactions in time order. Then we slide a window — in our project, length ten. The window of past transactions, say T1 to T5 in this simple diagram, becomes the input. The very next transaction, T6, is what we try to predict: is it fraud or not. We never mix transactions from different customers, and we keep time order so there is no cheating. The result is a three-dimensional array: number of samples, by sequence length, by number of features. That shape is exactly what the LSTM expects. Now Atharva will explain the model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[Atharva Soundankar]
Thanks Yash. Let me show the full system. Raw transaction data comes in. We clean it, engineer the features Yash described, and then the sequence builder turns it into time-ordered windows. Those windows go into the LSTM model, which outputs a fraud score between zero and one. That score flows into the dashboard, and finally into a business action — approve, review, or block. The important engineering point is that every stage is a separate, tested Python module in the src folder, and the exact same code runs both in our training notebook and in the live Streamlit dashboard. That means what we train is what we deploy — no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[Atharva Soundankar]
Here is the model architecture. The input is a sequence: ten time steps, each with our twelve features. It goes into an LSTM layer with sixty-four units, which is where the sequence memory lives. Then a dropout layer of zero point three randomly switches off neurons during training to prevent overfitting. Next a dense layer with thirty-two units and ReLU activation learns higher-level combinations. Finally a single neuron with a sigmoid activation outputs a fraud probability between zero and one. We train with binary cross-entropy loss and the Adam optimizer. Crucially, because fraud is rare, we use class weights so the model pays extra attention to the few fraud cases instead of ignoring them. We also build a simple Dense baseline that flattens the sequence, to prove the LSTM's memory actually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[Atharva Soundankar]
How do we judge the model? We use six metrics plus a confusion matrix. Accuracy is the overall correctness, but it is misleading when fraud is rare — a model that says no to everything can still look ninety-nine percent accurate. Precision asks: of the transactions we flagged, how many were really fraud. Recall asks: of all the real frauds, how many did we catch — and this is our most important metric, because missing a real fraud is far more expensive than reviewing a genuine payment by mistake. F1 balances precision and recall. ROC-AUC and PR-AUC measure ranking quality, and PR-AUC is especially good for imbalanced fraud data. Finally, an important integrity point: until we train on the real PaySim dataset, every metric in our report literally says update after running on real dataset. We never invent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Now the part people actually use — the dashboard. We built ten pages, each for a real job. Executive Overview gives leadership the headline numbers. Dataset Explorer lets you inspect the data. Fraud Risk Scoring scores an uploaded file. The Customer Sequence Analyzer shows one customer's last ten transactions and explains the behaviour. Fraud Pattern Insights shows where fraud concentrates. Model Performance shows the metrics. The Explainability Panel gives a plain-English reason for each alert. The Alert Center is the fraud team's work queue with CSV export. The Business Impact Simulator turns detection into money saved. And Recommendations summarises guidance, limitations and ethics. The whole thing runs with one command, and if the trained model is missing it still works in a transparent demo mode. We will show a short live demo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[Krishna Mathur]
What is the business payoff? Five things. We reduce fraud loss by scoring before the payment is approved, so money never leaves. We detect suspicious behaviour early, as the pattern builds, instead of after the fact. We cut manual workload — low-risk payments are auto-approved and analysts focus only on the high-risk queue. We improve customer trust because fewer genuine customers get falsely blocked. And we prioritise risk, ranking transactions so the worst cases are handled first. In our Business Impact Simulator you can plug in your own numbers — average fraud loss, review cost — and it estimates the net savings. That turns a technical score into a board-level business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[4th member]
I will cover limitations and ethics, and we want to be honest here. First, our demo uses PaySim, which is synthetic data — real customer transactions are private and very hard to obtain, so real-world results may differ. Second, fraud patterns change constantly; a model trained today will slowly decay, which we call model drift, so it must be retrained. Third, false positives are a real cost — every genuine customer we wrongly block is a bad experience. On ethics, three principles guide us. We keep a human in the loop: the model only recommends, and a person makes the final call on high-impact cases. We protect data privacy, because transaction data is highly sensitive. And we monitor fairness, making sure the model does not unfairly target any particular group of customers. Responsible use is part of the design, not an afterthought.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[4th member]
Finally, the future scope. We would build a real-time fraud API that scores each payment in milliseconds. We would add OTP or SMS step-up verification for medium-risk payments. We would close the loop so confirmed analyst decisions automatically retrain the model. We would add explainable AI techniques like SHAP for even richer reasons. And we would deploy to the cloud with automatic retraining so the model never goes stale. To conclude: FraudShield AI takes a customer's transaction sequence, turns it into a fraud risk score using an LSTM, and maps that score to a clear business action — all wrapped in a professional dashboard a fraud team can actually use. Thank you very much for listening. We are happy to take any questions, and we can show a quick live demo of the dashboard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S_MASTER">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p:spPr>
      </p:sp>
      <p:sp>
        <p:nvSpPr>
          <p:cNvPr id="3" name="Shape 1"/>
          <p:cNvSpPr/>
          <p:nvPr/>
        </p:nvSpPr>
        <p:spPr>
          <a:xfrm>
            <a:off x="0" y="6473952"/>
            <a:ext cx="12191695" cy="384048"/>
          </a:xfrm>
          <a:prstGeom prst="rect">
            <a:avLst/>
          </a:prstGeom>
          <a:solidFill>
            <a:srgbClr val="12294D"/>
          </a:solidFill>
          <a:ln/>
        </p:spPr>
      </p:sp>
      <p:sp>
        <p:nvSpPr>
          <p:cNvPr id="4" name="Text 2"/>
          <p:cNvSpPr/>
          <p:nvPr/>
        </p:nvSpPr>
        <p:spPr>
          <a:xfrm>
            <a:off x="365760" y="6473952"/>
            <a:ext cx="8229600" cy="384048"/>
          </a:xfrm>
          <a:prstGeom prst="rect">
            <a:avLst/>
          </a:prstGeom>
          <a:noFill/>
          <a:ln/>
        </p:spPr>
        <p:txBody>
          <a:bodyPr wrap="square" rtlCol="0" anchor="ctr"/>
          <a:lstStyle/>
          <a:p>
            <a:pPr algn="l" indent="0" marL="0">
              <a:buNone/>
            </a:pPr>
            <a:r>
              <a:rPr lang="en-US" sz="900" dirty="0">
                <a:solidFill>
                  <a:srgbClr val="94A3B8"/>
                </a:solidFill>
                <a:latin typeface="Arial" pitchFamily="34" charset="0"/>
                <a:ea typeface="Arial" pitchFamily="34" charset="-122"/>
                <a:cs typeface="Arial" pitchFamily="34" charset="-120"/>
              </a:rPr>
              <a:t>FraudShield AI  ·  Payment Fraud Sequence Detection (LSTM/RNN)</a:t>
            </a:r>
            <a:endParaRPr lang="en-US" sz="900" dirty="0"/>
          </a:p>
        </p:txBody>
      </p:sp>
      <p:sp>
        <p:nvSpPr>
          <p:cNvPr id="5" name="Text 3"/>
          <p:cNvSpPr/>
          <p:nvPr/>
        </p:nvSpPr>
        <p:spPr>
          <a:xfrm>
            <a:off x="9082735" y="6473952"/>
            <a:ext cx="2743200" cy="384048"/>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MAIB Sept 25 · Term 3</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1371600"/>
            <a:ext cx="1097280" cy="1097280"/>
          </a:xfrm>
          <a:prstGeom prst="roundRect">
            <a:avLst>
              <a:gd name="adj" fmla="val 10000"/>
            </a:avLst>
          </a:prstGeom>
          <a:solidFill>
            <a:srgbClr val="2563EB"/>
          </a:solidFill>
          <a:ln w="12700">
            <a:solidFill>
              <a:srgbClr val="38BDF8"/>
            </a:solidFill>
            <a:prstDash val="solid"/>
          </a:ln>
        </p:spPr>
      </p:sp>
      <p:sp>
        <p:nvSpPr>
          <p:cNvPr id="3" name="Text 1"/>
          <p:cNvSpPr/>
          <p:nvPr/>
        </p:nvSpPr>
        <p:spPr>
          <a:xfrm>
            <a:off x="548640" y="1371600"/>
            <a:ext cx="1097280" cy="1097280"/>
          </a:xfrm>
          <a:prstGeom prst="rect">
            <a:avLst/>
          </a:prstGeom>
          <a:noFill/>
          <a:ln/>
        </p:spPr>
        <p:txBody>
          <a:bodyPr wrap="square" rtlCol="0" anchor="ctr"/>
          <a:lstStyle/>
          <a:p>
            <a:pPr algn="ctr" indent="0" marL="0">
              <a:buNone/>
            </a:pPr>
            <a:r>
              <a:rPr lang="en-US" sz="4000" dirty="0">
                <a:solidFill>
                  <a:srgbClr val="FFFFFF"/>
                </a:solidFill>
              </a:rPr>
              <a:t>🛡</a:t>
            </a:r>
            <a:endParaRPr lang="en-US" sz="4000" dirty="0"/>
          </a:p>
        </p:txBody>
      </p:sp>
      <p:sp>
        <p:nvSpPr>
          <p:cNvPr id="4" name="Text 2"/>
          <p:cNvSpPr/>
          <p:nvPr/>
        </p:nvSpPr>
        <p:spPr>
          <a:xfrm>
            <a:off x="1828800" y="1417320"/>
            <a:ext cx="9601200" cy="82296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FraudShield AI</a:t>
            </a:r>
            <a:endParaRPr lang="en-US" sz="4600" dirty="0"/>
          </a:p>
        </p:txBody>
      </p:sp>
      <p:sp>
        <p:nvSpPr>
          <p:cNvPr id="5" name="Text 3"/>
          <p:cNvSpPr/>
          <p:nvPr/>
        </p:nvSpPr>
        <p:spPr>
          <a:xfrm>
            <a:off x="1828800" y="2240280"/>
            <a:ext cx="9784080" cy="548640"/>
          </a:xfrm>
          <a:prstGeom prst="rect">
            <a:avLst/>
          </a:prstGeom>
          <a:noFill/>
          <a:ln/>
        </p:spPr>
        <p:txBody>
          <a:bodyPr wrap="square" rtlCol="0" anchor="ctr"/>
          <a:lstStyle/>
          <a:p>
            <a:pPr indent="0" marL="0">
              <a:buNone/>
            </a:pPr>
            <a:r>
              <a:rPr lang="en-US" sz="2200" dirty="0">
                <a:solidFill>
                  <a:srgbClr val="38BDF8"/>
                </a:solidFill>
                <a:latin typeface="Arial" pitchFamily="34" charset="0"/>
                <a:ea typeface="Arial" pitchFamily="34" charset="-122"/>
                <a:cs typeface="Arial" pitchFamily="34" charset="-120"/>
              </a:rPr>
              <a:t>Payment Fraud Sequence Detection using LSTM / RNN</a:t>
            </a:r>
            <a:endParaRPr lang="en-US" sz="2200" dirty="0"/>
          </a:p>
        </p:txBody>
      </p:sp>
      <p:sp>
        <p:nvSpPr>
          <p:cNvPr id="6" name="Shape 4"/>
          <p:cNvSpPr/>
          <p:nvPr/>
        </p:nvSpPr>
        <p:spPr>
          <a:xfrm>
            <a:off x="548640" y="3200400"/>
            <a:ext cx="3840480" cy="36576"/>
          </a:xfrm>
          <a:prstGeom prst="rect">
            <a:avLst/>
          </a:prstGeom>
          <a:solidFill>
            <a:srgbClr val="2563EB"/>
          </a:solidFill>
          <a:ln/>
        </p:spPr>
      </p:sp>
      <p:sp>
        <p:nvSpPr>
          <p:cNvPr id="7" name="Text 5"/>
          <p:cNvSpPr/>
          <p:nvPr/>
        </p:nvSpPr>
        <p:spPr>
          <a:xfrm>
            <a:off x="548640" y="3383280"/>
            <a:ext cx="10058400" cy="365760"/>
          </a:xfrm>
          <a:prstGeom prst="rect">
            <a:avLst/>
          </a:prstGeom>
          <a:noFill/>
          <a:ln/>
        </p:spPr>
        <p:txBody>
          <a:bodyPr wrap="square" rtlCol="0" anchor="ctr"/>
          <a:lstStyle/>
          <a:p>
            <a:pPr indent="0" marL="0">
              <a:buNone/>
            </a:pPr>
            <a:r>
              <a:rPr lang="en-US" sz="1600" dirty="0">
                <a:solidFill>
                  <a:srgbClr val="E2E8F0"/>
                </a:solidFill>
                <a:latin typeface="Arial" pitchFamily="34" charset="0"/>
                <a:ea typeface="Arial" pitchFamily="34" charset="-122"/>
                <a:cs typeface="Arial" pitchFamily="34" charset="-120"/>
              </a:rPr>
              <a:t>Deep Learning Project  —  MAIB Sept 25 · Term 3</a:t>
            </a:r>
            <a:endParaRPr lang="en-US" sz="1600" dirty="0"/>
          </a:p>
        </p:txBody>
      </p:sp>
      <p:sp>
        <p:nvSpPr>
          <p:cNvPr id="8" name="Text 6"/>
          <p:cNvSpPr/>
          <p:nvPr/>
        </p:nvSpPr>
        <p:spPr>
          <a:xfrm>
            <a:off x="548640" y="3931920"/>
            <a:ext cx="10972800" cy="4572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Group members:  </a:t>
            </a:r>
            <a:pPr indent="0" marL="0">
              <a:buNone/>
            </a:pPr>
            <a:r>
              <a:rPr lang="en-US" sz="1600" dirty="0">
                <a:solidFill>
                  <a:srgbClr val="E2E8F0"/>
                </a:solidFill>
                <a:latin typeface="Arial" pitchFamily="34" charset="0"/>
                <a:ea typeface="Arial" pitchFamily="34" charset="-122"/>
                <a:cs typeface="Arial" pitchFamily="34" charset="-120"/>
              </a:rPr>
              <a:t>Krishna Mathur  ·  Yash Petkar  ·  Atharva Soundankar  ·  __________</a:t>
            </a:r>
            <a:endParaRPr lang="en-US" sz="1600" dirty="0"/>
          </a:p>
        </p:txBody>
      </p:sp>
      <p:sp>
        <p:nvSpPr>
          <p:cNvPr id="9" name="Shape 7"/>
          <p:cNvSpPr/>
          <p:nvPr/>
        </p:nvSpPr>
        <p:spPr>
          <a:xfrm>
            <a:off x="548640" y="4754880"/>
            <a:ext cx="3474720" cy="914400"/>
          </a:xfrm>
          <a:prstGeom prst="roundRect">
            <a:avLst>
              <a:gd name="adj" fmla="val 8000"/>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10" name="Shape 8"/>
          <p:cNvSpPr/>
          <p:nvPr/>
        </p:nvSpPr>
        <p:spPr>
          <a:xfrm>
            <a:off x="548640" y="4754880"/>
            <a:ext cx="73152" cy="914400"/>
          </a:xfrm>
          <a:prstGeom prst="rect">
            <a:avLst/>
          </a:prstGeom>
          <a:solidFill>
            <a:srgbClr val="38BDF8"/>
          </a:solidFill>
          <a:ln/>
        </p:spPr>
      </p:sp>
      <p:sp>
        <p:nvSpPr>
          <p:cNvPr id="11" name="Text 9"/>
          <p:cNvSpPr/>
          <p:nvPr/>
        </p:nvSpPr>
        <p:spPr>
          <a:xfrm>
            <a:off x="731520" y="4864608"/>
            <a:ext cx="32004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Sequence-aware fraud detection</a:t>
            </a:r>
            <a:endParaRPr lang="en-US" sz="1400" dirty="0"/>
          </a:p>
        </p:txBody>
      </p:sp>
      <p:sp>
        <p:nvSpPr>
          <p:cNvPr id="12" name="Shape 10"/>
          <p:cNvSpPr/>
          <p:nvPr/>
        </p:nvSpPr>
        <p:spPr>
          <a:xfrm>
            <a:off x="4297680" y="4754880"/>
            <a:ext cx="3474720" cy="914400"/>
          </a:xfrm>
          <a:prstGeom prst="roundRect">
            <a:avLst>
              <a:gd name="adj" fmla="val 8000"/>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13" name="Shape 11"/>
          <p:cNvSpPr/>
          <p:nvPr/>
        </p:nvSpPr>
        <p:spPr>
          <a:xfrm>
            <a:off x="4297680" y="4754880"/>
            <a:ext cx="73152" cy="914400"/>
          </a:xfrm>
          <a:prstGeom prst="rect">
            <a:avLst/>
          </a:prstGeom>
          <a:solidFill>
            <a:srgbClr val="38BDF8"/>
          </a:solidFill>
          <a:ln/>
        </p:spPr>
      </p:sp>
      <p:sp>
        <p:nvSpPr>
          <p:cNvPr id="14" name="Text 12"/>
          <p:cNvSpPr/>
          <p:nvPr/>
        </p:nvSpPr>
        <p:spPr>
          <a:xfrm>
            <a:off x="4480560" y="4864608"/>
            <a:ext cx="32004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Risk score → business action</a:t>
            </a:r>
            <a:endParaRPr lang="en-US" sz="1400" dirty="0"/>
          </a:p>
        </p:txBody>
      </p:sp>
      <p:sp>
        <p:nvSpPr>
          <p:cNvPr id="15" name="Shape 13"/>
          <p:cNvSpPr/>
          <p:nvPr/>
        </p:nvSpPr>
        <p:spPr>
          <a:xfrm>
            <a:off x="8046720" y="4754880"/>
            <a:ext cx="3474720" cy="914400"/>
          </a:xfrm>
          <a:prstGeom prst="roundRect">
            <a:avLst>
              <a:gd name="adj" fmla="val 8000"/>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16" name="Shape 14"/>
          <p:cNvSpPr/>
          <p:nvPr/>
        </p:nvSpPr>
        <p:spPr>
          <a:xfrm>
            <a:off x="8046720" y="4754880"/>
            <a:ext cx="73152" cy="914400"/>
          </a:xfrm>
          <a:prstGeom prst="rect">
            <a:avLst/>
          </a:prstGeom>
          <a:solidFill>
            <a:srgbClr val="38BDF8"/>
          </a:solidFill>
          <a:ln/>
        </p:spPr>
      </p:sp>
      <p:sp>
        <p:nvSpPr>
          <p:cNvPr id="17" name="Text 15"/>
          <p:cNvSpPr/>
          <p:nvPr/>
        </p:nvSpPr>
        <p:spPr>
          <a:xfrm>
            <a:off x="8229600" y="4864608"/>
            <a:ext cx="32004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Premium analyst dashboard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EXECUTIVE SUMMARY</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FraudShield AI does, in three points</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Shape 3"/>
          <p:cNvSpPr/>
          <p:nvPr/>
        </p:nvSpPr>
        <p:spPr>
          <a:xfrm>
            <a:off x="548640" y="1920240"/>
            <a:ext cx="3566160" cy="3291840"/>
          </a:xfrm>
          <a:prstGeom prst="roundRect">
            <a:avLst>
              <a:gd name="adj" fmla="val 2222"/>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6" name="Shape 4"/>
          <p:cNvSpPr/>
          <p:nvPr/>
        </p:nvSpPr>
        <p:spPr>
          <a:xfrm>
            <a:off x="548640" y="1920240"/>
            <a:ext cx="73152" cy="3291840"/>
          </a:xfrm>
          <a:prstGeom prst="rect">
            <a:avLst/>
          </a:prstGeom>
          <a:solidFill>
            <a:srgbClr val="3B82F6"/>
          </a:solidFill>
          <a:ln/>
        </p:spPr>
      </p:sp>
      <p:sp>
        <p:nvSpPr>
          <p:cNvPr id="7" name="Text 5"/>
          <p:cNvSpPr/>
          <p:nvPr/>
        </p:nvSpPr>
        <p:spPr>
          <a:xfrm>
            <a:off x="731520" y="20299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1 · Behaviour, not a single payment</a:t>
            </a:r>
            <a:endParaRPr lang="en-US" sz="1400" dirty="0"/>
          </a:p>
        </p:txBody>
      </p:sp>
      <p:sp>
        <p:nvSpPr>
          <p:cNvPr id="8" name="Text 6"/>
          <p:cNvSpPr/>
          <p:nvPr/>
        </p:nvSpPr>
        <p:spPr>
          <a:xfrm>
            <a:off x="731520" y="2377440"/>
            <a:ext cx="3246120" cy="27432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We detect fraud from the SEQUENCE of a customer's transactions, capturing how behaviour changes over time.</a:t>
            </a:r>
            <a:endParaRPr lang="en-US" sz="1200" dirty="0"/>
          </a:p>
        </p:txBody>
      </p:sp>
      <p:sp>
        <p:nvSpPr>
          <p:cNvPr id="9" name="Shape 7"/>
          <p:cNvSpPr/>
          <p:nvPr/>
        </p:nvSpPr>
        <p:spPr>
          <a:xfrm>
            <a:off x="4297680" y="1920240"/>
            <a:ext cx="3566160" cy="3291840"/>
          </a:xfrm>
          <a:prstGeom prst="roundRect">
            <a:avLst>
              <a:gd name="adj" fmla="val 2222"/>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10" name="Shape 8"/>
          <p:cNvSpPr/>
          <p:nvPr/>
        </p:nvSpPr>
        <p:spPr>
          <a:xfrm>
            <a:off x="4297680" y="1920240"/>
            <a:ext cx="73152" cy="3291840"/>
          </a:xfrm>
          <a:prstGeom prst="rect">
            <a:avLst/>
          </a:prstGeom>
          <a:solidFill>
            <a:srgbClr val="38BDF8"/>
          </a:solidFill>
          <a:ln/>
        </p:spPr>
      </p:sp>
      <p:sp>
        <p:nvSpPr>
          <p:cNvPr id="11" name="Text 9"/>
          <p:cNvSpPr/>
          <p:nvPr/>
        </p:nvSpPr>
        <p:spPr>
          <a:xfrm>
            <a:off x="4480560" y="20299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2 · LSTM learns the patterns</a:t>
            </a:r>
            <a:endParaRPr lang="en-US" sz="1400" dirty="0"/>
          </a:p>
        </p:txBody>
      </p:sp>
      <p:sp>
        <p:nvSpPr>
          <p:cNvPr id="12" name="Text 10"/>
          <p:cNvSpPr/>
          <p:nvPr/>
        </p:nvSpPr>
        <p:spPr>
          <a:xfrm>
            <a:off x="4480560" y="2377440"/>
            <a:ext cx="3246120" cy="27432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An LSTM network reads the recent history and learns the suspicious payment patterns that simple rules miss.</a:t>
            </a:r>
            <a:endParaRPr lang="en-US" sz="1200" dirty="0"/>
          </a:p>
        </p:txBody>
      </p:sp>
      <p:sp>
        <p:nvSpPr>
          <p:cNvPr id="13" name="Shape 11"/>
          <p:cNvSpPr/>
          <p:nvPr/>
        </p:nvSpPr>
        <p:spPr>
          <a:xfrm>
            <a:off x="8046720" y="1920240"/>
            <a:ext cx="3566160" cy="3291840"/>
          </a:xfrm>
          <a:prstGeom prst="roundRect">
            <a:avLst>
              <a:gd name="adj" fmla="val 2222"/>
            </a:avLst>
          </a:prstGeom>
          <a:solidFill>
            <a:srgbClr val="12294D"/>
          </a:solidFill>
          <a:ln w="12700">
            <a:solidFill>
              <a:srgbClr val="16A34A"/>
            </a:solidFill>
            <a:prstDash val="solid"/>
          </a:ln>
          <a:effectLst>
            <a:outerShdw sx="100000" sy="100000" kx="0" ky="0" algn="bl" rotWithShape="0" blurRad="76200" dist="25400" dir="5400000">
              <a:srgbClr val="000000">
                <a:alpha val="35000"/>
              </a:srgbClr>
            </a:outerShdw>
          </a:effectLst>
        </p:spPr>
      </p:sp>
      <p:sp>
        <p:nvSpPr>
          <p:cNvPr id="14" name="Shape 12"/>
          <p:cNvSpPr/>
          <p:nvPr/>
        </p:nvSpPr>
        <p:spPr>
          <a:xfrm>
            <a:off x="8046720" y="1920240"/>
            <a:ext cx="73152" cy="3291840"/>
          </a:xfrm>
          <a:prstGeom prst="rect">
            <a:avLst/>
          </a:prstGeom>
          <a:solidFill>
            <a:srgbClr val="16A34A"/>
          </a:solidFill>
          <a:ln/>
        </p:spPr>
      </p:sp>
      <p:sp>
        <p:nvSpPr>
          <p:cNvPr id="15" name="Text 13"/>
          <p:cNvSpPr/>
          <p:nvPr/>
        </p:nvSpPr>
        <p:spPr>
          <a:xfrm>
            <a:off x="8229600" y="20299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3 · Score → business action</a:t>
            </a:r>
            <a:endParaRPr lang="en-US" sz="1400" dirty="0"/>
          </a:p>
        </p:txBody>
      </p:sp>
      <p:sp>
        <p:nvSpPr>
          <p:cNvPr id="16" name="Text 14"/>
          <p:cNvSpPr/>
          <p:nvPr/>
        </p:nvSpPr>
        <p:spPr>
          <a:xfrm>
            <a:off x="8229600" y="2377440"/>
            <a:ext cx="3246120" cy="27432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Every transaction gets a fraud probability mapped to a clear action: Approve, Review/OTP, or Block.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BUSINESS PROBLEM</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Digital payment fraud is fast and hides in behaviour</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Text 3"/>
          <p:cNvSpPr/>
          <p:nvPr/>
        </p:nvSpPr>
        <p:spPr>
          <a:xfrm>
            <a:off x="640080" y="1920240"/>
            <a:ext cx="5669280" cy="4206240"/>
          </a:xfrm>
          <a:prstGeom prst="rect">
            <a:avLst/>
          </a:prstGeom>
          <a:noFill/>
          <a:ln/>
        </p:spPr>
        <p:txBody>
          <a:bodyPr wrap="square" rtlCol="0" anchor="t"/>
          <a:lstStyle/>
          <a:p>
            <a:pPr marL="228600" indent="-228600">
              <a:spcAft>
                <a:spcPts val="1000"/>
              </a:spcAft>
              <a:buSzPct val="100000"/>
              <a:buChar char="•"/>
            </a:pPr>
            <a:r>
              <a:rPr lang="en-US" sz="1800" dirty="0">
                <a:solidFill>
                  <a:srgbClr val="E2E8F0"/>
                </a:solidFill>
                <a:latin typeface="Arial" pitchFamily="34" charset="0"/>
                <a:ea typeface="Arial" pitchFamily="34" charset="-122"/>
                <a:cs typeface="Arial" pitchFamily="34" charset="-120"/>
              </a:rPr>
              <a:t>Sudden large transfers out of an account</a:t>
            </a:r>
            <a:endParaRPr lang="en-US" sz="1800" dirty="0"/>
          </a:p>
          <a:p>
            <a:pPr marL="228600" indent="-228600">
              <a:spcAft>
                <a:spcPts val="1000"/>
              </a:spcAft>
              <a:buSzPct val="100000"/>
              <a:buChar char="•"/>
            </a:pPr>
            <a:r>
              <a:rPr lang="en-US" sz="1800" dirty="0">
                <a:solidFill>
                  <a:srgbClr val="E2E8F0"/>
                </a:solidFill>
                <a:latin typeface="Arial" pitchFamily="34" charset="0"/>
                <a:ea typeface="Arial" pitchFamily="34" charset="-122"/>
                <a:cs typeface="Arial" pitchFamily="34" charset="-120"/>
              </a:rPr>
              <a:t>Rapid cash-outs right after a transfer</a:t>
            </a:r>
            <a:endParaRPr lang="en-US" sz="1800" dirty="0"/>
          </a:p>
          <a:p>
            <a:pPr marL="228600" indent="-228600">
              <a:spcAft>
                <a:spcPts val="1000"/>
              </a:spcAft>
              <a:buSzPct val="100000"/>
              <a:buChar char="•"/>
            </a:pPr>
            <a:r>
              <a:rPr lang="en-US" sz="1800" dirty="0">
                <a:solidFill>
                  <a:srgbClr val="E2E8F0"/>
                </a:solidFill>
                <a:latin typeface="Arial" pitchFamily="34" charset="0"/>
                <a:ea typeface="Arial" pitchFamily="34" charset="-122"/>
                <a:cs typeface="Arial" pitchFamily="34" charset="-120"/>
              </a:rPr>
              <a:t>Balance draining to zero in minutes</a:t>
            </a:r>
            <a:endParaRPr lang="en-US" sz="1800" dirty="0"/>
          </a:p>
          <a:p>
            <a:pPr marL="228600" indent="-228600">
              <a:spcAft>
                <a:spcPts val="1000"/>
              </a:spcAft>
              <a:buSzPct val="100000"/>
              <a:buChar char="•"/>
            </a:pPr>
            <a:r>
              <a:rPr lang="en-US" sz="1800" dirty="0">
                <a:solidFill>
                  <a:srgbClr val="E2E8F0"/>
                </a:solidFill>
                <a:latin typeface="Arial" pitchFamily="34" charset="0"/>
                <a:ea typeface="Arial" pitchFamily="34" charset="-122"/>
                <a:cs typeface="Arial" pitchFamily="34" charset="-120"/>
              </a:rPr>
              <a:t>Suspicious sequences of transactions</a:t>
            </a:r>
            <a:endParaRPr lang="en-US" sz="1800" dirty="0"/>
          </a:p>
          <a:p>
            <a:pPr marL="228600" indent="-228600">
              <a:spcAft>
                <a:spcPts val="1000"/>
              </a:spcAft>
              <a:buSzPct val="100000"/>
              <a:buChar char="•"/>
            </a:pPr>
            <a:r>
              <a:rPr lang="en-US" sz="1800" dirty="0">
                <a:solidFill>
                  <a:srgbClr val="E2E8F0"/>
                </a:solidFill>
                <a:latin typeface="Arial" pitchFamily="34" charset="0"/>
                <a:ea typeface="Arial" pitchFamily="34" charset="-122"/>
                <a:cs typeface="Arial" pitchFamily="34" charset="-120"/>
              </a:rPr>
              <a:t>High cost of manual fraud investigation</a:t>
            </a:r>
            <a:endParaRPr lang="en-US" sz="1800" dirty="0"/>
          </a:p>
        </p:txBody>
      </p:sp>
      <p:sp>
        <p:nvSpPr>
          <p:cNvPr id="6" name="Shape 4"/>
          <p:cNvSpPr/>
          <p:nvPr/>
        </p:nvSpPr>
        <p:spPr>
          <a:xfrm>
            <a:off x="6583680" y="1920240"/>
            <a:ext cx="5029200" cy="1463040"/>
          </a:xfrm>
          <a:prstGeom prst="roundRect">
            <a:avLst>
              <a:gd name="adj" fmla="val 5000"/>
            </a:avLst>
          </a:prstGeom>
          <a:solidFill>
            <a:srgbClr val="12294D"/>
          </a:solidFill>
          <a:ln w="12700">
            <a:solidFill>
              <a:srgbClr val="DC2626"/>
            </a:solidFill>
            <a:prstDash val="solid"/>
          </a:ln>
          <a:effectLst>
            <a:outerShdw sx="100000" sy="100000" kx="0" ky="0" algn="bl" rotWithShape="0" blurRad="76200" dist="25400" dir="5400000">
              <a:srgbClr val="000000">
                <a:alpha val="35000"/>
              </a:srgbClr>
            </a:outerShdw>
          </a:effectLst>
        </p:spPr>
      </p:sp>
      <p:sp>
        <p:nvSpPr>
          <p:cNvPr id="7" name="Shape 5"/>
          <p:cNvSpPr/>
          <p:nvPr/>
        </p:nvSpPr>
        <p:spPr>
          <a:xfrm>
            <a:off x="6583680" y="1920240"/>
            <a:ext cx="73152" cy="1463040"/>
          </a:xfrm>
          <a:prstGeom prst="rect">
            <a:avLst/>
          </a:prstGeom>
          <a:solidFill>
            <a:srgbClr val="DC2626"/>
          </a:solidFill>
          <a:ln/>
        </p:spPr>
      </p:sp>
      <p:sp>
        <p:nvSpPr>
          <p:cNvPr id="8" name="Text 6"/>
          <p:cNvSpPr/>
          <p:nvPr/>
        </p:nvSpPr>
        <p:spPr>
          <a:xfrm>
            <a:off x="6766560" y="2029968"/>
            <a:ext cx="475488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The pattern that hurts</a:t>
            </a:r>
            <a:endParaRPr lang="en-US" sz="1400" dirty="0"/>
          </a:p>
        </p:txBody>
      </p:sp>
      <p:sp>
        <p:nvSpPr>
          <p:cNvPr id="9" name="Text 7"/>
          <p:cNvSpPr/>
          <p:nvPr/>
        </p:nvSpPr>
        <p:spPr>
          <a:xfrm>
            <a:off x="6766560" y="2377440"/>
            <a:ext cx="470916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100  →  120  →  9,000  →  9,500  →  balance 0</a:t>
            </a:r>
            <a:endParaRPr lang="en-US" sz="1200" dirty="0"/>
          </a:p>
          <a:p>
            <a:pPr indent="0" marL="0">
              <a:buNone/>
            </a:pPr>
            <a:r>
              <a:rPr lang="en-US" sz="1200" dirty="0">
                <a:solidFill>
                  <a:srgbClr val="E2E8F0"/>
                </a:solidFill>
                <a:latin typeface="Arial" pitchFamily="34" charset="0"/>
                <a:ea typeface="Arial" pitchFamily="34" charset="-122"/>
                <a:cs typeface="Arial" pitchFamily="34" charset="-120"/>
              </a:rPr>
              <a:t>A huge spike that empties the account.</a:t>
            </a:r>
            <a:endParaRPr lang="en-US" sz="1200" dirty="0"/>
          </a:p>
        </p:txBody>
      </p:sp>
      <p:sp>
        <p:nvSpPr>
          <p:cNvPr id="10" name="Shape 8"/>
          <p:cNvSpPr/>
          <p:nvPr/>
        </p:nvSpPr>
        <p:spPr>
          <a:xfrm>
            <a:off x="6583680" y="3520440"/>
            <a:ext cx="5029200" cy="1691640"/>
          </a:xfrm>
          <a:prstGeom prst="roundRect">
            <a:avLst>
              <a:gd name="adj" fmla="val 4324"/>
            </a:avLst>
          </a:prstGeom>
          <a:solidFill>
            <a:srgbClr val="12294D"/>
          </a:solidFill>
          <a:ln w="12700">
            <a:solidFill>
              <a:srgbClr val="F59E0B"/>
            </a:solidFill>
            <a:prstDash val="solid"/>
          </a:ln>
          <a:effectLst>
            <a:outerShdw sx="100000" sy="100000" kx="0" ky="0" algn="bl" rotWithShape="0" blurRad="76200" dist="25400" dir="5400000">
              <a:srgbClr val="000000">
                <a:alpha val="35000"/>
              </a:srgbClr>
            </a:outerShdw>
          </a:effectLst>
        </p:spPr>
      </p:sp>
      <p:sp>
        <p:nvSpPr>
          <p:cNvPr id="11" name="Shape 9"/>
          <p:cNvSpPr/>
          <p:nvPr/>
        </p:nvSpPr>
        <p:spPr>
          <a:xfrm>
            <a:off x="6583680" y="3520440"/>
            <a:ext cx="73152" cy="1691640"/>
          </a:xfrm>
          <a:prstGeom prst="rect">
            <a:avLst/>
          </a:prstGeom>
          <a:solidFill>
            <a:srgbClr val="F59E0B"/>
          </a:solidFill>
          <a:ln/>
        </p:spPr>
      </p:sp>
      <p:sp>
        <p:nvSpPr>
          <p:cNvPr id="12" name="Text 10"/>
          <p:cNvSpPr/>
          <p:nvPr/>
        </p:nvSpPr>
        <p:spPr>
          <a:xfrm>
            <a:off x="6766560" y="3630168"/>
            <a:ext cx="475488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Why it is hard</a:t>
            </a:r>
            <a:endParaRPr lang="en-US" sz="1400" dirty="0"/>
          </a:p>
        </p:txBody>
      </p:sp>
      <p:sp>
        <p:nvSpPr>
          <p:cNvPr id="13" name="Text 11"/>
          <p:cNvSpPr/>
          <p:nvPr/>
        </p:nvSpPr>
        <p:spPr>
          <a:xfrm>
            <a:off x="6766560" y="3977640"/>
            <a:ext cx="4709160" cy="11430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Fraud is rare, fast, and looks normal one row at a time. Investigators cannot manually check every payment.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WHY FRAUD DETECTION MATTERS</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The business impact of getting this wrong</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Shape 3"/>
          <p:cNvSpPr/>
          <p:nvPr/>
        </p:nvSpPr>
        <p:spPr>
          <a:xfrm>
            <a:off x="548640" y="1920240"/>
            <a:ext cx="3566160" cy="1463040"/>
          </a:xfrm>
          <a:prstGeom prst="roundRect">
            <a:avLst>
              <a:gd name="adj" fmla="val 5000"/>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6" name="Shape 4"/>
          <p:cNvSpPr/>
          <p:nvPr/>
        </p:nvSpPr>
        <p:spPr>
          <a:xfrm>
            <a:off x="548640" y="1920240"/>
            <a:ext cx="73152" cy="1463040"/>
          </a:xfrm>
          <a:prstGeom prst="rect">
            <a:avLst/>
          </a:prstGeom>
          <a:solidFill>
            <a:srgbClr val="3B82F6"/>
          </a:solidFill>
          <a:ln/>
        </p:spPr>
      </p:sp>
      <p:sp>
        <p:nvSpPr>
          <p:cNvPr id="7" name="Text 5"/>
          <p:cNvSpPr/>
          <p:nvPr/>
        </p:nvSpPr>
        <p:spPr>
          <a:xfrm>
            <a:off x="731520" y="20299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Financial loss</a:t>
            </a:r>
            <a:endParaRPr lang="en-US" sz="1400" dirty="0"/>
          </a:p>
        </p:txBody>
      </p:sp>
      <p:sp>
        <p:nvSpPr>
          <p:cNvPr id="8" name="Text 6"/>
          <p:cNvSpPr/>
          <p:nvPr/>
        </p:nvSpPr>
        <p:spPr>
          <a:xfrm>
            <a:off x="731520" y="2377440"/>
            <a:ext cx="324612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Direct money lost on every undetected fraud.</a:t>
            </a:r>
            <a:endParaRPr lang="en-US" sz="1200" dirty="0"/>
          </a:p>
        </p:txBody>
      </p:sp>
      <p:sp>
        <p:nvSpPr>
          <p:cNvPr id="9" name="Shape 7"/>
          <p:cNvSpPr/>
          <p:nvPr/>
        </p:nvSpPr>
        <p:spPr>
          <a:xfrm>
            <a:off x="4343400" y="1920240"/>
            <a:ext cx="3566160" cy="1463040"/>
          </a:xfrm>
          <a:prstGeom prst="roundRect">
            <a:avLst>
              <a:gd name="adj" fmla="val 5000"/>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10" name="Shape 8"/>
          <p:cNvSpPr/>
          <p:nvPr/>
        </p:nvSpPr>
        <p:spPr>
          <a:xfrm>
            <a:off x="4343400" y="1920240"/>
            <a:ext cx="73152" cy="1463040"/>
          </a:xfrm>
          <a:prstGeom prst="rect">
            <a:avLst/>
          </a:prstGeom>
          <a:solidFill>
            <a:srgbClr val="38BDF8"/>
          </a:solidFill>
          <a:ln/>
        </p:spPr>
      </p:sp>
      <p:sp>
        <p:nvSpPr>
          <p:cNvPr id="11" name="Text 9"/>
          <p:cNvSpPr/>
          <p:nvPr/>
        </p:nvSpPr>
        <p:spPr>
          <a:xfrm>
            <a:off x="4526280" y="20299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Customer trust</a:t>
            </a:r>
            <a:endParaRPr lang="en-US" sz="1400" dirty="0"/>
          </a:p>
        </p:txBody>
      </p:sp>
      <p:sp>
        <p:nvSpPr>
          <p:cNvPr id="12" name="Text 10"/>
          <p:cNvSpPr/>
          <p:nvPr/>
        </p:nvSpPr>
        <p:spPr>
          <a:xfrm>
            <a:off x="4526280" y="2377440"/>
            <a:ext cx="324612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Victims lose confidence and leave the bank.</a:t>
            </a:r>
            <a:endParaRPr lang="en-US" sz="1200" dirty="0"/>
          </a:p>
        </p:txBody>
      </p:sp>
      <p:sp>
        <p:nvSpPr>
          <p:cNvPr id="13" name="Shape 11"/>
          <p:cNvSpPr/>
          <p:nvPr/>
        </p:nvSpPr>
        <p:spPr>
          <a:xfrm>
            <a:off x="8138160" y="1920240"/>
            <a:ext cx="3566160" cy="1463040"/>
          </a:xfrm>
          <a:prstGeom prst="roundRect">
            <a:avLst>
              <a:gd name="adj" fmla="val 5000"/>
            </a:avLst>
          </a:prstGeom>
          <a:solidFill>
            <a:srgbClr val="12294D"/>
          </a:solidFill>
          <a:ln w="12700">
            <a:solidFill>
              <a:srgbClr val="F59E0B"/>
            </a:solidFill>
            <a:prstDash val="solid"/>
          </a:ln>
          <a:effectLst>
            <a:outerShdw sx="100000" sy="100000" kx="0" ky="0" algn="bl" rotWithShape="0" blurRad="76200" dist="25400" dir="5400000">
              <a:srgbClr val="000000">
                <a:alpha val="35000"/>
              </a:srgbClr>
            </a:outerShdw>
          </a:effectLst>
        </p:spPr>
      </p:sp>
      <p:sp>
        <p:nvSpPr>
          <p:cNvPr id="14" name="Shape 12"/>
          <p:cNvSpPr/>
          <p:nvPr/>
        </p:nvSpPr>
        <p:spPr>
          <a:xfrm>
            <a:off x="8138160" y="1920240"/>
            <a:ext cx="73152" cy="1463040"/>
          </a:xfrm>
          <a:prstGeom prst="rect">
            <a:avLst/>
          </a:prstGeom>
          <a:solidFill>
            <a:srgbClr val="F59E0B"/>
          </a:solidFill>
          <a:ln/>
        </p:spPr>
      </p:sp>
      <p:sp>
        <p:nvSpPr>
          <p:cNvPr id="15" name="Text 13"/>
          <p:cNvSpPr/>
          <p:nvPr/>
        </p:nvSpPr>
        <p:spPr>
          <a:xfrm>
            <a:off x="8321040" y="20299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Regulatory risk</a:t>
            </a:r>
            <a:endParaRPr lang="en-US" sz="1400" dirty="0"/>
          </a:p>
        </p:txBody>
      </p:sp>
      <p:sp>
        <p:nvSpPr>
          <p:cNvPr id="16" name="Text 14"/>
          <p:cNvSpPr/>
          <p:nvPr/>
        </p:nvSpPr>
        <p:spPr>
          <a:xfrm>
            <a:off x="8321040" y="2377440"/>
            <a:ext cx="324612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Fines and compliance pressure from regulators.</a:t>
            </a:r>
            <a:endParaRPr lang="en-US" sz="1200" dirty="0"/>
          </a:p>
        </p:txBody>
      </p:sp>
      <p:sp>
        <p:nvSpPr>
          <p:cNvPr id="17" name="Shape 15"/>
          <p:cNvSpPr/>
          <p:nvPr/>
        </p:nvSpPr>
        <p:spPr>
          <a:xfrm>
            <a:off x="548640" y="3520440"/>
            <a:ext cx="3566160" cy="1463040"/>
          </a:xfrm>
          <a:prstGeom prst="roundRect">
            <a:avLst>
              <a:gd name="adj" fmla="val 5000"/>
            </a:avLst>
          </a:prstGeom>
          <a:solidFill>
            <a:srgbClr val="12294D"/>
          </a:solidFill>
          <a:ln w="12700">
            <a:solidFill>
              <a:srgbClr val="16A34A"/>
            </a:solidFill>
            <a:prstDash val="solid"/>
          </a:ln>
          <a:effectLst>
            <a:outerShdw sx="100000" sy="100000" kx="0" ky="0" algn="bl" rotWithShape="0" blurRad="76200" dist="25400" dir="5400000">
              <a:srgbClr val="000000">
                <a:alpha val="35000"/>
              </a:srgbClr>
            </a:outerShdw>
          </a:effectLst>
        </p:spPr>
      </p:sp>
      <p:sp>
        <p:nvSpPr>
          <p:cNvPr id="18" name="Shape 16"/>
          <p:cNvSpPr/>
          <p:nvPr/>
        </p:nvSpPr>
        <p:spPr>
          <a:xfrm>
            <a:off x="548640" y="3520440"/>
            <a:ext cx="73152" cy="1463040"/>
          </a:xfrm>
          <a:prstGeom prst="rect">
            <a:avLst/>
          </a:prstGeom>
          <a:solidFill>
            <a:srgbClr val="16A34A"/>
          </a:solidFill>
          <a:ln/>
        </p:spPr>
      </p:sp>
      <p:sp>
        <p:nvSpPr>
          <p:cNvPr id="19" name="Text 17"/>
          <p:cNvSpPr/>
          <p:nvPr/>
        </p:nvSpPr>
        <p:spPr>
          <a:xfrm>
            <a:off x="731520" y="36301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Operational workload</a:t>
            </a:r>
            <a:endParaRPr lang="en-US" sz="1400" dirty="0"/>
          </a:p>
        </p:txBody>
      </p:sp>
      <p:sp>
        <p:nvSpPr>
          <p:cNvPr id="20" name="Text 18"/>
          <p:cNvSpPr/>
          <p:nvPr/>
        </p:nvSpPr>
        <p:spPr>
          <a:xfrm>
            <a:off x="731520" y="3977640"/>
            <a:ext cx="324612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Analysts overloaded with manual reviews.</a:t>
            </a:r>
            <a:endParaRPr lang="en-US" sz="1200" dirty="0"/>
          </a:p>
        </p:txBody>
      </p:sp>
      <p:sp>
        <p:nvSpPr>
          <p:cNvPr id="21" name="Shape 19"/>
          <p:cNvSpPr/>
          <p:nvPr/>
        </p:nvSpPr>
        <p:spPr>
          <a:xfrm>
            <a:off x="4343400" y="3520440"/>
            <a:ext cx="3566160" cy="1463040"/>
          </a:xfrm>
          <a:prstGeom prst="roundRect">
            <a:avLst>
              <a:gd name="adj" fmla="val 5000"/>
            </a:avLst>
          </a:prstGeom>
          <a:solidFill>
            <a:srgbClr val="12294D"/>
          </a:solidFill>
          <a:ln w="12700">
            <a:solidFill>
              <a:srgbClr val="DC2626"/>
            </a:solidFill>
            <a:prstDash val="solid"/>
          </a:ln>
          <a:effectLst>
            <a:outerShdw sx="100000" sy="100000" kx="0" ky="0" algn="bl" rotWithShape="0" blurRad="76200" dist="25400" dir="5400000">
              <a:srgbClr val="000000">
                <a:alpha val="35000"/>
              </a:srgbClr>
            </a:outerShdw>
          </a:effectLst>
        </p:spPr>
      </p:sp>
      <p:sp>
        <p:nvSpPr>
          <p:cNvPr id="22" name="Shape 20"/>
          <p:cNvSpPr/>
          <p:nvPr/>
        </p:nvSpPr>
        <p:spPr>
          <a:xfrm>
            <a:off x="4343400" y="3520440"/>
            <a:ext cx="73152" cy="1463040"/>
          </a:xfrm>
          <a:prstGeom prst="rect">
            <a:avLst/>
          </a:prstGeom>
          <a:solidFill>
            <a:srgbClr val="DC2626"/>
          </a:solidFill>
          <a:ln/>
        </p:spPr>
      </p:sp>
      <p:sp>
        <p:nvSpPr>
          <p:cNvPr id="23" name="Text 21"/>
          <p:cNvSpPr/>
          <p:nvPr/>
        </p:nvSpPr>
        <p:spPr>
          <a:xfrm>
            <a:off x="4526280" y="36301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Reputation damage</a:t>
            </a:r>
            <a:endParaRPr lang="en-US" sz="1400" dirty="0"/>
          </a:p>
        </p:txBody>
      </p:sp>
      <p:sp>
        <p:nvSpPr>
          <p:cNvPr id="24" name="Text 22"/>
          <p:cNvSpPr/>
          <p:nvPr/>
        </p:nvSpPr>
        <p:spPr>
          <a:xfrm>
            <a:off x="4526280" y="3977640"/>
            <a:ext cx="324612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Public fraud cases harm the brand.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LIMITS OF RULE-BASED SYSTEMS</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Static rules cannot keep up with fraudsters</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Shape 3"/>
          <p:cNvSpPr/>
          <p:nvPr/>
        </p:nvSpPr>
        <p:spPr>
          <a:xfrm>
            <a:off x="548640" y="1920240"/>
            <a:ext cx="5120640" cy="1280160"/>
          </a:xfrm>
          <a:prstGeom prst="roundRect">
            <a:avLst>
              <a:gd name="adj" fmla="val 5714"/>
            </a:avLst>
          </a:prstGeom>
          <a:solidFill>
            <a:srgbClr val="12294D"/>
          </a:solidFill>
          <a:ln w="12700">
            <a:solidFill>
              <a:srgbClr val="F59E0B"/>
            </a:solidFill>
            <a:prstDash val="solid"/>
          </a:ln>
          <a:effectLst>
            <a:outerShdw sx="100000" sy="100000" kx="0" ky="0" algn="bl" rotWithShape="0" blurRad="76200" dist="25400" dir="5400000">
              <a:srgbClr val="000000">
                <a:alpha val="35000"/>
              </a:srgbClr>
            </a:outerShdw>
          </a:effectLst>
        </p:spPr>
      </p:sp>
      <p:sp>
        <p:nvSpPr>
          <p:cNvPr id="6" name="Shape 4"/>
          <p:cNvSpPr/>
          <p:nvPr/>
        </p:nvSpPr>
        <p:spPr>
          <a:xfrm>
            <a:off x="548640" y="1920240"/>
            <a:ext cx="73152" cy="1280160"/>
          </a:xfrm>
          <a:prstGeom prst="rect">
            <a:avLst/>
          </a:prstGeom>
          <a:solidFill>
            <a:srgbClr val="F59E0B"/>
          </a:solidFill>
          <a:ln/>
        </p:spPr>
      </p:sp>
      <p:sp>
        <p:nvSpPr>
          <p:cNvPr id="7" name="Text 5"/>
          <p:cNvSpPr/>
          <p:nvPr/>
        </p:nvSpPr>
        <p:spPr>
          <a:xfrm>
            <a:off x="731520" y="2029968"/>
            <a:ext cx="484632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Typical rule</a:t>
            </a:r>
            <a:endParaRPr lang="en-US" sz="1400" dirty="0"/>
          </a:p>
        </p:txBody>
      </p:sp>
      <p:sp>
        <p:nvSpPr>
          <p:cNvPr id="8" name="Text 6"/>
          <p:cNvSpPr/>
          <p:nvPr/>
        </p:nvSpPr>
        <p:spPr>
          <a:xfrm>
            <a:off x="731520" y="2377440"/>
            <a:ext cx="4800600" cy="7315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IF amount &gt; 10,000  THEN block</a:t>
            </a:r>
            <a:endParaRPr lang="en-US" sz="1200" dirty="0"/>
          </a:p>
          <a:p>
            <a:pPr indent="0" marL="0">
              <a:buNone/>
            </a:pPr>
            <a:r>
              <a:rPr lang="en-US" sz="1200" dirty="0">
                <a:solidFill>
                  <a:srgbClr val="E2E8F0"/>
                </a:solidFill>
                <a:latin typeface="Arial" pitchFamily="34" charset="0"/>
                <a:ea typeface="Arial" pitchFamily="34" charset="-122"/>
                <a:cs typeface="Arial" pitchFamily="34" charset="-120"/>
              </a:rPr>
              <a:t>Simple, but blind to context.</a:t>
            </a:r>
            <a:endParaRPr lang="en-US" sz="1200" dirty="0"/>
          </a:p>
        </p:txBody>
      </p:sp>
      <p:sp>
        <p:nvSpPr>
          <p:cNvPr id="9" name="Text 7"/>
          <p:cNvSpPr/>
          <p:nvPr/>
        </p:nvSpPr>
        <p:spPr>
          <a:xfrm>
            <a:off x="640080" y="3474720"/>
            <a:ext cx="5212080" cy="4206240"/>
          </a:xfrm>
          <a:prstGeom prst="rect">
            <a:avLst/>
          </a:prstGeom>
          <a:noFill/>
          <a:ln/>
        </p:spPr>
        <p:txBody>
          <a:bodyPr wrap="square" rtlCol="0" anchor="t"/>
          <a:lstStyle/>
          <a:p>
            <a:pPr marL="228600" indent="-228600">
              <a:spcAft>
                <a:spcPts val="1000"/>
              </a:spcAft>
              <a:buSzPct val="100000"/>
              <a:buChar char="•"/>
            </a:pPr>
            <a:r>
              <a:rPr lang="en-US" sz="1800" dirty="0">
                <a:solidFill>
                  <a:srgbClr val="E2E8F0"/>
                </a:solidFill>
                <a:latin typeface="Arial" pitchFamily="34" charset="0"/>
                <a:ea typeface="Arial" pitchFamily="34" charset="-122"/>
                <a:cs typeface="Arial" pitchFamily="34" charset="-120"/>
              </a:rPr>
              <a:t>Static thresholds — easy to bypass</a:t>
            </a:r>
            <a:endParaRPr lang="en-US" sz="1800" dirty="0"/>
          </a:p>
          <a:p>
            <a:pPr marL="228600" indent="-228600">
              <a:spcAft>
                <a:spcPts val="1000"/>
              </a:spcAft>
              <a:buSzPct val="100000"/>
              <a:buChar char="•"/>
            </a:pPr>
            <a:r>
              <a:rPr lang="en-US" sz="1800" dirty="0">
                <a:solidFill>
                  <a:srgbClr val="E2E8F0"/>
                </a:solidFill>
                <a:latin typeface="Arial" pitchFamily="34" charset="0"/>
                <a:ea typeface="Arial" pitchFamily="34" charset="-122"/>
                <a:cs typeface="Arial" pitchFamily="34" charset="-120"/>
              </a:rPr>
              <a:t>Too many false alerts on genuine customers</a:t>
            </a:r>
            <a:endParaRPr lang="en-US" sz="1800" dirty="0"/>
          </a:p>
          <a:p>
            <a:pPr marL="228600" indent="-228600">
              <a:spcAft>
                <a:spcPts val="1000"/>
              </a:spcAft>
              <a:buSzPct val="100000"/>
              <a:buChar char="•"/>
            </a:pPr>
            <a:r>
              <a:rPr lang="en-US" sz="1800" dirty="0">
                <a:solidFill>
                  <a:srgbClr val="E2E8F0"/>
                </a:solidFill>
                <a:latin typeface="Arial" pitchFamily="34" charset="0"/>
                <a:ea typeface="Arial" pitchFamily="34" charset="-122"/>
                <a:cs typeface="Arial" pitchFamily="34" charset="-120"/>
              </a:rPr>
              <a:t>Fraudsters learn the limits and stay just under them</a:t>
            </a:r>
            <a:endParaRPr lang="en-US" sz="1800" dirty="0"/>
          </a:p>
          <a:p>
            <a:pPr marL="228600" indent="-228600">
              <a:spcAft>
                <a:spcPts val="1000"/>
              </a:spcAft>
              <a:buSzPct val="100000"/>
              <a:buChar char="•"/>
            </a:pPr>
            <a:r>
              <a:rPr lang="en-US" sz="1800" dirty="0">
                <a:solidFill>
                  <a:srgbClr val="E2E8F0"/>
                </a:solidFill>
                <a:latin typeface="Arial" pitchFamily="34" charset="0"/>
                <a:ea typeface="Arial" pitchFamily="34" charset="-122"/>
                <a:cs typeface="Arial" pitchFamily="34" charset="-120"/>
              </a:rPr>
              <a:t>No memory of past behaviour (no sequence view)</a:t>
            </a:r>
            <a:endParaRPr lang="en-US" sz="1800" dirty="0"/>
          </a:p>
        </p:txBody>
      </p:sp>
      <p:sp>
        <p:nvSpPr>
          <p:cNvPr id="10" name="Shape 8"/>
          <p:cNvSpPr/>
          <p:nvPr/>
        </p:nvSpPr>
        <p:spPr>
          <a:xfrm>
            <a:off x="6126480" y="1920240"/>
            <a:ext cx="5486400" cy="3291840"/>
          </a:xfrm>
          <a:prstGeom prst="roundRect">
            <a:avLst>
              <a:gd name="adj" fmla="val 2222"/>
            </a:avLst>
          </a:prstGeom>
          <a:solidFill>
            <a:srgbClr val="12294D"/>
          </a:solidFill>
          <a:ln w="12700">
            <a:solidFill>
              <a:srgbClr val="DC2626"/>
            </a:solidFill>
            <a:prstDash val="solid"/>
          </a:ln>
          <a:effectLst>
            <a:outerShdw sx="100000" sy="100000" kx="0" ky="0" algn="bl" rotWithShape="0" blurRad="76200" dist="25400" dir="5400000">
              <a:srgbClr val="000000">
                <a:alpha val="35000"/>
              </a:srgbClr>
            </a:outerShdw>
          </a:effectLst>
        </p:spPr>
      </p:sp>
      <p:sp>
        <p:nvSpPr>
          <p:cNvPr id="11" name="Shape 9"/>
          <p:cNvSpPr/>
          <p:nvPr/>
        </p:nvSpPr>
        <p:spPr>
          <a:xfrm>
            <a:off x="6126480" y="1920240"/>
            <a:ext cx="73152" cy="3291840"/>
          </a:xfrm>
          <a:prstGeom prst="rect">
            <a:avLst/>
          </a:prstGeom>
          <a:solidFill>
            <a:srgbClr val="DC2626"/>
          </a:solidFill>
          <a:ln/>
        </p:spPr>
      </p:sp>
      <p:sp>
        <p:nvSpPr>
          <p:cNvPr id="12" name="Text 10"/>
          <p:cNvSpPr/>
          <p:nvPr/>
        </p:nvSpPr>
        <p:spPr>
          <a:xfrm>
            <a:off x="6309360" y="2029968"/>
            <a:ext cx="521208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Rule vs Behaviour</a:t>
            </a:r>
            <a:endParaRPr lang="en-US" sz="1400" dirty="0"/>
          </a:p>
        </p:txBody>
      </p:sp>
      <p:sp>
        <p:nvSpPr>
          <p:cNvPr id="13" name="Text 11"/>
          <p:cNvSpPr/>
          <p:nvPr/>
        </p:nvSpPr>
        <p:spPr>
          <a:xfrm>
            <a:off x="6309360" y="2377440"/>
            <a:ext cx="5166360" cy="27432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A 9,000 payment may be perfectly normal for one customer and a clear fraud for another. A fixed number cannot tell the difference — but the customer's recent behaviour can.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WHY DEEP LEARNING &amp; LSTM</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A model with memory of past behaviour</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Shape 3"/>
          <p:cNvSpPr/>
          <p:nvPr/>
        </p:nvSpPr>
        <p:spPr>
          <a:xfrm>
            <a:off x="548640" y="1920240"/>
            <a:ext cx="5394960" cy="1371600"/>
          </a:xfrm>
          <a:prstGeom prst="roundRect">
            <a:avLst>
              <a:gd name="adj" fmla="val 5333"/>
            </a:avLst>
          </a:prstGeom>
          <a:solidFill>
            <a:srgbClr val="12294D"/>
          </a:solidFill>
          <a:ln w="12700">
            <a:solidFill>
              <a:srgbClr val="94A3B8"/>
            </a:solidFill>
            <a:prstDash val="solid"/>
          </a:ln>
          <a:effectLst>
            <a:outerShdw sx="100000" sy="100000" kx="0" ky="0" algn="bl" rotWithShape="0" blurRad="76200" dist="25400" dir="5400000">
              <a:srgbClr val="000000">
                <a:alpha val="35000"/>
              </a:srgbClr>
            </a:outerShdw>
          </a:effectLst>
        </p:spPr>
      </p:sp>
      <p:sp>
        <p:nvSpPr>
          <p:cNvPr id="6" name="Shape 4"/>
          <p:cNvSpPr/>
          <p:nvPr/>
        </p:nvSpPr>
        <p:spPr>
          <a:xfrm>
            <a:off x="548640" y="1920240"/>
            <a:ext cx="73152" cy="1371600"/>
          </a:xfrm>
          <a:prstGeom prst="rect">
            <a:avLst/>
          </a:prstGeom>
          <a:solidFill>
            <a:srgbClr val="94A3B8"/>
          </a:solidFill>
          <a:ln/>
        </p:spPr>
      </p:sp>
      <p:sp>
        <p:nvSpPr>
          <p:cNvPr id="7" name="Text 5"/>
          <p:cNvSpPr/>
          <p:nvPr/>
        </p:nvSpPr>
        <p:spPr>
          <a:xfrm>
            <a:off x="731520" y="2029968"/>
            <a:ext cx="51206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Normal ML</a:t>
            </a:r>
            <a:endParaRPr lang="en-US" sz="1400" dirty="0"/>
          </a:p>
        </p:txBody>
      </p:sp>
      <p:sp>
        <p:nvSpPr>
          <p:cNvPr id="8" name="Text 6"/>
          <p:cNvSpPr/>
          <p:nvPr/>
        </p:nvSpPr>
        <p:spPr>
          <a:xfrm>
            <a:off x="731520" y="2377440"/>
            <a:ext cx="5074920" cy="82296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Sees ONE transaction at a time. No sense of history or order.</a:t>
            </a:r>
            <a:endParaRPr lang="en-US" sz="1200" dirty="0"/>
          </a:p>
        </p:txBody>
      </p:sp>
      <p:sp>
        <p:nvSpPr>
          <p:cNvPr id="9" name="Shape 7"/>
          <p:cNvSpPr/>
          <p:nvPr/>
        </p:nvSpPr>
        <p:spPr>
          <a:xfrm>
            <a:off x="548640" y="3429000"/>
            <a:ext cx="5394960" cy="1783080"/>
          </a:xfrm>
          <a:prstGeom prst="roundRect">
            <a:avLst>
              <a:gd name="adj" fmla="val 4103"/>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10" name="Shape 8"/>
          <p:cNvSpPr/>
          <p:nvPr/>
        </p:nvSpPr>
        <p:spPr>
          <a:xfrm>
            <a:off x="548640" y="3429000"/>
            <a:ext cx="73152" cy="1783080"/>
          </a:xfrm>
          <a:prstGeom prst="rect">
            <a:avLst/>
          </a:prstGeom>
          <a:solidFill>
            <a:srgbClr val="38BDF8"/>
          </a:solidFill>
          <a:ln/>
        </p:spPr>
      </p:sp>
      <p:sp>
        <p:nvSpPr>
          <p:cNvPr id="11" name="Text 9"/>
          <p:cNvSpPr/>
          <p:nvPr/>
        </p:nvSpPr>
        <p:spPr>
          <a:xfrm>
            <a:off x="731520" y="3538728"/>
            <a:ext cx="51206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LSTM / RNN</a:t>
            </a:r>
            <a:endParaRPr lang="en-US" sz="1400" dirty="0"/>
          </a:p>
        </p:txBody>
      </p:sp>
      <p:sp>
        <p:nvSpPr>
          <p:cNvPr id="12" name="Text 10"/>
          <p:cNvSpPr/>
          <p:nvPr/>
        </p:nvSpPr>
        <p:spPr>
          <a:xfrm>
            <a:off x="731520" y="3886200"/>
            <a:ext cx="5074920" cy="123444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Reads a SEQUENCE of transactions in order and remembers past behaviour — so it spots a sudden break in the pattern.</a:t>
            </a:r>
            <a:endParaRPr lang="en-US" sz="1200" dirty="0"/>
          </a:p>
        </p:txBody>
      </p:sp>
      <p:sp>
        <p:nvSpPr>
          <p:cNvPr id="13" name="Shape 11"/>
          <p:cNvSpPr/>
          <p:nvPr/>
        </p:nvSpPr>
        <p:spPr>
          <a:xfrm>
            <a:off x="6217920" y="1920240"/>
            <a:ext cx="5394960" cy="1463040"/>
          </a:xfrm>
          <a:prstGeom prst="roundRect">
            <a:avLst>
              <a:gd name="adj" fmla="val 5000"/>
            </a:avLst>
          </a:prstGeom>
          <a:solidFill>
            <a:srgbClr val="12294D"/>
          </a:solidFill>
          <a:ln w="12700">
            <a:solidFill>
              <a:srgbClr val="16A34A"/>
            </a:solidFill>
            <a:prstDash val="solid"/>
          </a:ln>
          <a:effectLst>
            <a:outerShdw sx="100000" sy="100000" kx="0" ky="0" algn="bl" rotWithShape="0" blurRad="76200" dist="25400" dir="5400000">
              <a:srgbClr val="000000">
                <a:alpha val="35000"/>
              </a:srgbClr>
            </a:outerShdw>
          </a:effectLst>
        </p:spPr>
      </p:sp>
      <p:sp>
        <p:nvSpPr>
          <p:cNvPr id="14" name="Shape 12"/>
          <p:cNvSpPr/>
          <p:nvPr/>
        </p:nvSpPr>
        <p:spPr>
          <a:xfrm>
            <a:off x="6217920" y="1920240"/>
            <a:ext cx="73152" cy="1463040"/>
          </a:xfrm>
          <a:prstGeom prst="rect">
            <a:avLst/>
          </a:prstGeom>
          <a:solidFill>
            <a:srgbClr val="16A34A"/>
          </a:solidFill>
          <a:ln/>
        </p:spPr>
      </p:sp>
      <p:sp>
        <p:nvSpPr>
          <p:cNvPr id="15" name="Text 13"/>
          <p:cNvSpPr/>
          <p:nvPr/>
        </p:nvSpPr>
        <p:spPr>
          <a:xfrm>
            <a:off x="6400800" y="2029968"/>
            <a:ext cx="51206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Normal pattern</a:t>
            </a:r>
            <a:endParaRPr lang="en-US" sz="1400" dirty="0"/>
          </a:p>
        </p:txBody>
      </p:sp>
      <p:sp>
        <p:nvSpPr>
          <p:cNvPr id="16" name="Text 14"/>
          <p:cNvSpPr/>
          <p:nvPr/>
        </p:nvSpPr>
        <p:spPr>
          <a:xfrm>
            <a:off x="6400800" y="2377440"/>
            <a:ext cx="507492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100  →  150  →  120  →  90</a:t>
            </a:r>
            <a:endParaRPr lang="en-US" sz="1200" dirty="0"/>
          </a:p>
          <a:p>
            <a:pPr indent="0" marL="0">
              <a:buNone/>
            </a:pPr>
            <a:r>
              <a:rPr lang="en-US" sz="1200" dirty="0">
                <a:solidFill>
                  <a:srgbClr val="E2E8F0"/>
                </a:solidFill>
                <a:latin typeface="Arial" pitchFamily="34" charset="0"/>
                <a:ea typeface="Arial" pitchFamily="34" charset="-122"/>
                <a:cs typeface="Arial" pitchFamily="34" charset="-120"/>
              </a:rPr>
              <a:t>Steady, small amounts.</a:t>
            </a:r>
            <a:endParaRPr lang="en-US" sz="1200" dirty="0"/>
          </a:p>
        </p:txBody>
      </p:sp>
      <p:sp>
        <p:nvSpPr>
          <p:cNvPr id="17" name="Shape 15"/>
          <p:cNvSpPr/>
          <p:nvPr/>
        </p:nvSpPr>
        <p:spPr>
          <a:xfrm>
            <a:off x="6217920" y="3520440"/>
            <a:ext cx="5394960" cy="1691640"/>
          </a:xfrm>
          <a:prstGeom prst="roundRect">
            <a:avLst>
              <a:gd name="adj" fmla="val 4324"/>
            </a:avLst>
          </a:prstGeom>
          <a:solidFill>
            <a:srgbClr val="12294D"/>
          </a:solidFill>
          <a:ln w="12700">
            <a:solidFill>
              <a:srgbClr val="DC2626"/>
            </a:solidFill>
            <a:prstDash val="solid"/>
          </a:ln>
          <a:effectLst>
            <a:outerShdw sx="100000" sy="100000" kx="0" ky="0" algn="bl" rotWithShape="0" blurRad="76200" dist="25400" dir="5400000">
              <a:srgbClr val="000000">
                <a:alpha val="35000"/>
              </a:srgbClr>
            </a:outerShdw>
          </a:effectLst>
        </p:spPr>
      </p:sp>
      <p:sp>
        <p:nvSpPr>
          <p:cNvPr id="18" name="Shape 16"/>
          <p:cNvSpPr/>
          <p:nvPr/>
        </p:nvSpPr>
        <p:spPr>
          <a:xfrm>
            <a:off x="6217920" y="3520440"/>
            <a:ext cx="73152" cy="1691640"/>
          </a:xfrm>
          <a:prstGeom prst="rect">
            <a:avLst/>
          </a:prstGeom>
          <a:solidFill>
            <a:srgbClr val="DC2626"/>
          </a:solidFill>
          <a:ln/>
        </p:spPr>
      </p:sp>
      <p:sp>
        <p:nvSpPr>
          <p:cNvPr id="19" name="Text 17"/>
          <p:cNvSpPr/>
          <p:nvPr/>
        </p:nvSpPr>
        <p:spPr>
          <a:xfrm>
            <a:off x="6400800" y="3630168"/>
            <a:ext cx="51206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Suspicious pattern</a:t>
            </a:r>
            <a:endParaRPr lang="en-US" sz="1400" dirty="0"/>
          </a:p>
        </p:txBody>
      </p:sp>
      <p:sp>
        <p:nvSpPr>
          <p:cNvPr id="20" name="Text 18"/>
          <p:cNvSpPr/>
          <p:nvPr/>
        </p:nvSpPr>
        <p:spPr>
          <a:xfrm>
            <a:off x="6400800" y="3977640"/>
            <a:ext cx="5074920" cy="11430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100  →  120  →  9,000  →  9,500  →  balance 0</a:t>
            </a:r>
            <a:endParaRPr lang="en-US" sz="1200" dirty="0"/>
          </a:p>
          <a:p>
            <a:pPr indent="0" marL="0">
              <a:buNone/>
            </a:pPr>
            <a:r>
              <a:rPr lang="en-US" sz="1200" dirty="0">
                <a:solidFill>
                  <a:srgbClr val="E2E8F0"/>
                </a:solidFill>
                <a:latin typeface="Arial" pitchFamily="34" charset="0"/>
                <a:ea typeface="Arial" pitchFamily="34" charset="-122"/>
                <a:cs typeface="Arial" pitchFamily="34" charset="-120"/>
              </a:rPr>
              <a:t>The LSTM remembers the calm history and flags the spike.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DATASET OVERVIEW</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PaySim mobile-money transactions</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Text 3"/>
          <p:cNvSpPr/>
          <p:nvPr/>
        </p:nvSpPr>
        <p:spPr>
          <a:xfrm>
            <a:off x="640080" y="1828800"/>
            <a:ext cx="5760720" cy="4206240"/>
          </a:xfrm>
          <a:prstGeom prst="rect">
            <a:avLst/>
          </a:prstGeom>
          <a:noFill/>
          <a:ln/>
        </p:spPr>
        <p:txBody>
          <a:bodyPr wrap="square" rtlCol="0" anchor="t"/>
          <a:lstStyle/>
          <a:p>
            <a:pPr marL="228600" indent="-228600">
              <a:spcAft>
                <a:spcPts val="1000"/>
              </a:spcAft>
              <a:buSzPct val="100000"/>
              <a:buChar char="•"/>
            </a:pPr>
            <a:r>
              <a:rPr lang="en-US" sz="1600" dirty="0">
                <a:solidFill>
                  <a:srgbClr val="E2E8F0"/>
                </a:solidFill>
                <a:latin typeface="Arial" pitchFamily="34" charset="0"/>
                <a:ea typeface="Arial" pitchFamily="34" charset="-122"/>
                <a:cs typeface="Arial" pitchFamily="34" charset="-120"/>
              </a:rPr>
              <a:t>step — time (1 step = 1 hour)</a:t>
            </a:r>
            <a:endParaRPr lang="en-US" sz="1600" dirty="0"/>
          </a:p>
          <a:p>
            <a:pPr marL="228600" indent="-228600">
              <a:spcAft>
                <a:spcPts val="1000"/>
              </a:spcAft>
              <a:buSzPct val="100000"/>
              <a:buChar char="•"/>
            </a:pPr>
            <a:r>
              <a:rPr lang="en-US" sz="1600" dirty="0">
                <a:solidFill>
                  <a:srgbClr val="E2E8F0"/>
                </a:solidFill>
                <a:latin typeface="Arial" pitchFamily="34" charset="0"/>
                <a:ea typeface="Arial" pitchFamily="34" charset="-122"/>
                <a:cs typeface="Arial" pitchFamily="34" charset="-120"/>
              </a:rPr>
              <a:t>type — PAYMENT / TRANSFER / CASH_OUT / DEBIT / CASH_IN</a:t>
            </a:r>
            <a:endParaRPr lang="en-US" sz="1600" dirty="0"/>
          </a:p>
          <a:p>
            <a:pPr marL="228600" indent="-228600">
              <a:spcAft>
                <a:spcPts val="1000"/>
              </a:spcAft>
              <a:buSzPct val="100000"/>
              <a:buChar char="•"/>
            </a:pPr>
            <a:r>
              <a:rPr lang="en-US" sz="1600" dirty="0">
                <a:solidFill>
                  <a:srgbClr val="E2E8F0"/>
                </a:solidFill>
                <a:latin typeface="Arial" pitchFamily="34" charset="0"/>
                <a:ea typeface="Arial" pitchFamily="34" charset="-122"/>
                <a:cs typeface="Arial" pitchFamily="34" charset="-120"/>
              </a:rPr>
              <a:t>amount — transaction value</a:t>
            </a:r>
            <a:endParaRPr lang="en-US" sz="1600" dirty="0"/>
          </a:p>
          <a:p>
            <a:pPr marL="228600" indent="-228600">
              <a:spcAft>
                <a:spcPts val="1000"/>
              </a:spcAft>
              <a:buSzPct val="100000"/>
              <a:buChar char="•"/>
            </a:pPr>
            <a:r>
              <a:rPr lang="en-US" sz="1600" dirty="0">
                <a:solidFill>
                  <a:srgbClr val="E2E8F0"/>
                </a:solidFill>
                <a:latin typeface="Arial" pitchFamily="34" charset="0"/>
                <a:ea typeface="Arial" pitchFamily="34" charset="-122"/>
                <a:cs typeface="Arial" pitchFamily="34" charset="-120"/>
              </a:rPr>
              <a:t>nameOrig — sender ID</a:t>
            </a:r>
            <a:endParaRPr lang="en-US" sz="1600" dirty="0"/>
          </a:p>
          <a:p>
            <a:pPr marL="228600" indent="-228600">
              <a:spcAft>
                <a:spcPts val="1000"/>
              </a:spcAft>
              <a:buSzPct val="100000"/>
              <a:buChar char="•"/>
            </a:pPr>
            <a:r>
              <a:rPr lang="en-US" sz="1600" dirty="0">
                <a:solidFill>
                  <a:srgbClr val="E2E8F0"/>
                </a:solidFill>
                <a:latin typeface="Arial" pitchFamily="34" charset="0"/>
                <a:ea typeface="Arial" pitchFamily="34" charset="-122"/>
                <a:cs typeface="Arial" pitchFamily="34" charset="-120"/>
              </a:rPr>
              <a:t>oldbalanceOrg / newbalanceOrig — sender balance before / after</a:t>
            </a:r>
            <a:endParaRPr lang="en-US" sz="1600" dirty="0"/>
          </a:p>
        </p:txBody>
      </p:sp>
      <p:sp>
        <p:nvSpPr>
          <p:cNvPr id="6" name="Text 4"/>
          <p:cNvSpPr/>
          <p:nvPr/>
        </p:nvSpPr>
        <p:spPr>
          <a:xfrm>
            <a:off x="6400800" y="1828800"/>
            <a:ext cx="5212080" cy="4206240"/>
          </a:xfrm>
          <a:prstGeom prst="rect">
            <a:avLst/>
          </a:prstGeom>
          <a:noFill/>
          <a:ln/>
        </p:spPr>
        <p:txBody>
          <a:bodyPr wrap="square" rtlCol="0" anchor="t"/>
          <a:lstStyle/>
          <a:p>
            <a:pPr marL="228600" indent="-228600">
              <a:spcAft>
                <a:spcPts val="1000"/>
              </a:spcAft>
              <a:buSzPct val="100000"/>
              <a:buChar char="•"/>
            </a:pPr>
            <a:r>
              <a:rPr lang="en-US" sz="1600" dirty="0">
                <a:solidFill>
                  <a:srgbClr val="E2E8F0"/>
                </a:solidFill>
                <a:latin typeface="Arial" pitchFamily="34" charset="0"/>
                <a:ea typeface="Arial" pitchFamily="34" charset="-122"/>
                <a:cs typeface="Arial" pitchFamily="34" charset="-120"/>
              </a:rPr>
              <a:t>nameDest — receiver ID</a:t>
            </a:r>
            <a:endParaRPr lang="en-US" sz="1600" dirty="0"/>
          </a:p>
          <a:p>
            <a:pPr marL="228600" indent="-228600">
              <a:spcAft>
                <a:spcPts val="1000"/>
              </a:spcAft>
              <a:buSzPct val="100000"/>
              <a:buChar char="•"/>
            </a:pPr>
            <a:r>
              <a:rPr lang="en-US" sz="1600" dirty="0">
                <a:solidFill>
                  <a:srgbClr val="E2E8F0"/>
                </a:solidFill>
                <a:latin typeface="Arial" pitchFamily="34" charset="0"/>
                <a:ea typeface="Arial" pitchFamily="34" charset="-122"/>
                <a:cs typeface="Arial" pitchFamily="34" charset="-120"/>
              </a:rPr>
              <a:t>oldbalanceDest / newbalanceDest — receiver before / after</a:t>
            </a:r>
            <a:endParaRPr lang="en-US" sz="1600" dirty="0"/>
          </a:p>
          <a:p>
            <a:pPr marL="228600" indent="-228600">
              <a:spcAft>
                <a:spcPts val="1000"/>
              </a:spcAft>
              <a:buSzPct val="100000"/>
              <a:buChar char="•"/>
            </a:pPr>
            <a:r>
              <a:rPr lang="en-US" sz="1600" dirty="0">
                <a:solidFill>
                  <a:srgbClr val="E2E8F0"/>
                </a:solidFill>
                <a:latin typeface="Arial" pitchFamily="34" charset="0"/>
                <a:ea typeface="Arial" pitchFamily="34" charset="-122"/>
                <a:cs typeface="Arial" pitchFamily="34" charset="-120"/>
              </a:rPr>
              <a:t>isFraud — the label (1 = fraud)</a:t>
            </a:r>
            <a:endParaRPr lang="en-US" sz="1600" dirty="0"/>
          </a:p>
        </p:txBody>
      </p:sp>
      <p:sp>
        <p:nvSpPr>
          <p:cNvPr id="7" name="Shape 5"/>
          <p:cNvSpPr/>
          <p:nvPr/>
        </p:nvSpPr>
        <p:spPr>
          <a:xfrm>
            <a:off x="6400800" y="3657600"/>
            <a:ext cx="5212080" cy="1554480"/>
          </a:xfrm>
          <a:prstGeom prst="roundRect">
            <a:avLst>
              <a:gd name="adj" fmla="val 4706"/>
            </a:avLst>
          </a:prstGeom>
          <a:solidFill>
            <a:srgbClr val="12294D"/>
          </a:solidFill>
          <a:ln w="12700">
            <a:solidFill>
              <a:srgbClr val="F59E0B"/>
            </a:solidFill>
            <a:prstDash val="solid"/>
          </a:ln>
          <a:effectLst>
            <a:outerShdw sx="100000" sy="100000" kx="0" ky="0" algn="bl" rotWithShape="0" blurRad="76200" dist="25400" dir="5400000">
              <a:srgbClr val="000000">
                <a:alpha val="35000"/>
              </a:srgbClr>
            </a:outerShdw>
          </a:effectLst>
        </p:spPr>
      </p:sp>
      <p:sp>
        <p:nvSpPr>
          <p:cNvPr id="8" name="Shape 6"/>
          <p:cNvSpPr/>
          <p:nvPr/>
        </p:nvSpPr>
        <p:spPr>
          <a:xfrm>
            <a:off x="6400800" y="3657600"/>
            <a:ext cx="73152" cy="1554480"/>
          </a:xfrm>
          <a:prstGeom prst="rect">
            <a:avLst/>
          </a:prstGeom>
          <a:solidFill>
            <a:srgbClr val="F59E0B"/>
          </a:solidFill>
          <a:ln/>
        </p:spPr>
      </p:sp>
      <p:sp>
        <p:nvSpPr>
          <p:cNvPr id="9" name="Text 7"/>
          <p:cNvSpPr/>
          <p:nvPr/>
        </p:nvSpPr>
        <p:spPr>
          <a:xfrm>
            <a:off x="6583680" y="3767328"/>
            <a:ext cx="49377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Important</a:t>
            </a:r>
            <a:endParaRPr lang="en-US" sz="1400" dirty="0"/>
          </a:p>
        </p:txBody>
      </p:sp>
      <p:sp>
        <p:nvSpPr>
          <p:cNvPr id="10" name="Text 8"/>
          <p:cNvSpPr/>
          <p:nvPr/>
        </p:nvSpPr>
        <p:spPr>
          <a:xfrm>
            <a:off x="6583680" y="4114800"/>
            <a:ext cx="4892040" cy="100584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PaySim is synthetic but realistic. We ship a small sample so everything runs; final metrics use the real PaySim file (data/paysim.csv).</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FEATURE ENGINEERING</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Turning raw columns into fraud signals</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Shape 3"/>
          <p:cNvSpPr/>
          <p:nvPr/>
        </p:nvSpPr>
        <p:spPr>
          <a:xfrm>
            <a:off x="548640" y="1828800"/>
            <a:ext cx="5440680" cy="841248"/>
          </a:xfrm>
          <a:prstGeom prst="roundRect">
            <a:avLst>
              <a:gd name="adj" fmla="val 8696"/>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6" name="Shape 4"/>
          <p:cNvSpPr/>
          <p:nvPr/>
        </p:nvSpPr>
        <p:spPr>
          <a:xfrm>
            <a:off x="548640" y="1828800"/>
            <a:ext cx="73152" cy="841248"/>
          </a:xfrm>
          <a:prstGeom prst="rect">
            <a:avLst/>
          </a:prstGeom>
          <a:solidFill>
            <a:srgbClr val="3B82F6"/>
          </a:solidFill>
          <a:ln/>
        </p:spPr>
      </p:sp>
      <p:sp>
        <p:nvSpPr>
          <p:cNvPr id="7" name="Text 5"/>
          <p:cNvSpPr/>
          <p:nvPr/>
        </p:nvSpPr>
        <p:spPr>
          <a:xfrm>
            <a:off x="731520" y="1938528"/>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origin_balance_change</a:t>
            </a:r>
            <a:endParaRPr lang="en-US" sz="1400" dirty="0"/>
          </a:p>
        </p:txBody>
      </p:sp>
      <p:sp>
        <p:nvSpPr>
          <p:cNvPr id="8" name="Text 6"/>
          <p:cNvSpPr/>
          <p:nvPr/>
        </p:nvSpPr>
        <p:spPr>
          <a:xfrm>
            <a:off x="731520" y="2286000"/>
            <a:ext cx="5120640" cy="292608"/>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How much the sender's balance dropped</a:t>
            </a:r>
            <a:endParaRPr lang="en-US" sz="1200" dirty="0"/>
          </a:p>
        </p:txBody>
      </p:sp>
      <p:sp>
        <p:nvSpPr>
          <p:cNvPr id="9" name="Shape 7"/>
          <p:cNvSpPr/>
          <p:nvPr/>
        </p:nvSpPr>
        <p:spPr>
          <a:xfrm>
            <a:off x="6217920" y="1828800"/>
            <a:ext cx="5440680" cy="841248"/>
          </a:xfrm>
          <a:prstGeom prst="roundRect">
            <a:avLst>
              <a:gd name="adj" fmla="val 8696"/>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10" name="Shape 8"/>
          <p:cNvSpPr/>
          <p:nvPr/>
        </p:nvSpPr>
        <p:spPr>
          <a:xfrm>
            <a:off x="6217920" y="1828800"/>
            <a:ext cx="73152" cy="841248"/>
          </a:xfrm>
          <a:prstGeom prst="rect">
            <a:avLst/>
          </a:prstGeom>
          <a:solidFill>
            <a:srgbClr val="38BDF8"/>
          </a:solidFill>
          <a:ln/>
        </p:spPr>
      </p:sp>
      <p:sp>
        <p:nvSpPr>
          <p:cNvPr id="11" name="Text 9"/>
          <p:cNvSpPr/>
          <p:nvPr/>
        </p:nvSpPr>
        <p:spPr>
          <a:xfrm>
            <a:off x="6400800" y="1938528"/>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destination_balance_change</a:t>
            </a:r>
            <a:endParaRPr lang="en-US" sz="1400" dirty="0"/>
          </a:p>
        </p:txBody>
      </p:sp>
      <p:sp>
        <p:nvSpPr>
          <p:cNvPr id="12" name="Text 10"/>
          <p:cNvSpPr/>
          <p:nvPr/>
        </p:nvSpPr>
        <p:spPr>
          <a:xfrm>
            <a:off x="6400800" y="2286000"/>
            <a:ext cx="5120640" cy="292608"/>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How much the receiver's balance rose</a:t>
            </a:r>
            <a:endParaRPr lang="en-US" sz="1200" dirty="0"/>
          </a:p>
        </p:txBody>
      </p:sp>
      <p:sp>
        <p:nvSpPr>
          <p:cNvPr id="13" name="Shape 11"/>
          <p:cNvSpPr/>
          <p:nvPr/>
        </p:nvSpPr>
        <p:spPr>
          <a:xfrm>
            <a:off x="548640" y="2788920"/>
            <a:ext cx="5440680" cy="841248"/>
          </a:xfrm>
          <a:prstGeom prst="roundRect">
            <a:avLst>
              <a:gd name="adj" fmla="val 8696"/>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14" name="Shape 12"/>
          <p:cNvSpPr/>
          <p:nvPr/>
        </p:nvSpPr>
        <p:spPr>
          <a:xfrm>
            <a:off x="548640" y="2788920"/>
            <a:ext cx="73152" cy="841248"/>
          </a:xfrm>
          <a:prstGeom prst="rect">
            <a:avLst/>
          </a:prstGeom>
          <a:solidFill>
            <a:srgbClr val="3B82F6"/>
          </a:solidFill>
          <a:ln/>
        </p:spPr>
      </p:sp>
      <p:sp>
        <p:nvSpPr>
          <p:cNvPr id="15" name="Text 13"/>
          <p:cNvSpPr/>
          <p:nvPr/>
        </p:nvSpPr>
        <p:spPr>
          <a:xfrm>
            <a:off x="731520" y="2898648"/>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amount_to_balance_ratio</a:t>
            </a:r>
            <a:endParaRPr lang="en-US" sz="1400" dirty="0"/>
          </a:p>
        </p:txBody>
      </p:sp>
      <p:sp>
        <p:nvSpPr>
          <p:cNvPr id="16" name="Text 14"/>
          <p:cNvSpPr/>
          <p:nvPr/>
        </p:nvSpPr>
        <p:spPr>
          <a:xfrm>
            <a:off x="731520" y="3246120"/>
            <a:ext cx="5120640" cy="292608"/>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Payment size vs the old balance</a:t>
            </a:r>
            <a:endParaRPr lang="en-US" sz="1200" dirty="0"/>
          </a:p>
        </p:txBody>
      </p:sp>
      <p:sp>
        <p:nvSpPr>
          <p:cNvPr id="17" name="Shape 15"/>
          <p:cNvSpPr/>
          <p:nvPr/>
        </p:nvSpPr>
        <p:spPr>
          <a:xfrm>
            <a:off x="6217920" y="2788920"/>
            <a:ext cx="5440680" cy="841248"/>
          </a:xfrm>
          <a:prstGeom prst="roundRect">
            <a:avLst>
              <a:gd name="adj" fmla="val 8696"/>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18" name="Shape 16"/>
          <p:cNvSpPr/>
          <p:nvPr/>
        </p:nvSpPr>
        <p:spPr>
          <a:xfrm>
            <a:off x="6217920" y="2788920"/>
            <a:ext cx="73152" cy="841248"/>
          </a:xfrm>
          <a:prstGeom prst="rect">
            <a:avLst/>
          </a:prstGeom>
          <a:solidFill>
            <a:srgbClr val="38BDF8"/>
          </a:solidFill>
          <a:ln/>
        </p:spPr>
      </p:sp>
      <p:sp>
        <p:nvSpPr>
          <p:cNvPr id="19" name="Text 17"/>
          <p:cNvSpPr/>
          <p:nvPr/>
        </p:nvSpPr>
        <p:spPr>
          <a:xfrm>
            <a:off x="6400800" y="2898648"/>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zero_balance_flag</a:t>
            </a:r>
            <a:endParaRPr lang="en-US" sz="1400" dirty="0"/>
          </a:p>
        </p:txBody>
      </p:sp>
      <p:sp>
        <p:nvSpPr>
          <p:cNvPr id="20" name="Text 18"/>
          <p:cNvSpPr/>
          <p:nvPr/>
        </p:nvSpPr>
        <p:spPr>
          <a:xfrm>
            <a:off x="6400800" y="3246120"/>
            <a:ext cx="5120640" cy="292608"/>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Did the sender drain to ~0?</a:t>
            </a:r>
            <a:endParaRPr lang="en-US" sz="1200" dirty="0"/>
          </a:p>
        </p:txBody>
      </p:sp>
      <p:sp>
        <p:nvSpPr>
          <p:cNvPr id="21" name="Shape 19"/>
          <p:cNvSpPr/>
          <p:nvPr/>
        </p:nvSpPr>
        <p:spPr>
          <a:xfrm>
            <a:off x="548640" y="3749040"/>
            <a:ext cx="5440680" cy="841248"/>
          </a:xfrm>
          <a:prstGeom prst="roundRect">
            <a:avLst>
              <a:gd name="adj" fmla="val 8696"/>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22" name="Shape 20"/>
          <p:cNvSpPr/>
          <p:nvPr/>
        </p:nvSpPr>
        <p:spPr>
          <a:xfrm>
            <a:off x="548640" y="3749040"/>
            <a:ext cx="73152" cy="841248"/>
          </a:xfrm>
          <a:prstGeom prst="rect">
            <a:avLst/>
          </a:prstGeom>
          <a:solidFill>
            <a:srgbClr val="3B82F6"/>
          </a:solidFill>
          <a:ln/>
        </p:spPr>
      </p:sp>
      <p:sp>
        <p:nvSpPr>
          <p:cNvPr id="23" name="Text 21"/>
          <p:cNvSpPr/>
          <p:nvPr/>
        </p:nvSpPr>
        <p:spPr>
          <a:xfrm>
            <a:off x="731520" y="3858768"/>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high_amount_flag</a:t>
            </a:r>
            <a:endParaRPr lang="en-US" sz="1400" dirty="0"/>
          </a:p>
        </p:txBody>
      </p:sp>
      <p:sp>
        <p:nvSpPr>
          <p:cNvPr id="24" name="Text 22"/>
          <p:cNvSpPr/>
          <p:nvPr/>
        </p:nvSpPr>
        <p:spPr>
          <a:xfrm>
            <a:off x="731520" y="4206240"/>
            <a:ext cx="5120640" cy="292608"/>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Is the amount unusually large?</a:t>
            </a:r>
            <a:endParaRPr lang="en-US" sz="1200" dirty="0"/>
          </a:p>
        </p:txBody>
      </p:sp>
      <p:sp>
        <p:nvSpPr>
          <p:cNvPr id="25" name="Shape 23"/>
          <p:cNvSpPr/>
          <p:nvPr/>
        </p:nvSpPr>
        <p:spPr>
          <a:xfrm>
            <a:off x="6217920" y="3749040"/>
            <a:ext cx="5440680" cy="841248"/>
          </a:xfrm>
          <a:prstGeom prst="roundRect">
            <a:avLst>
              <a:gd name="adj" fmla="val 8696"/>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26" name="Shape 24"/>
          <p:cNvSpPr/>
          <p:nvPr/>
        </p:nvSpPr>
        <p:spPr>
          <a:xfrm>
            <a:off x="6217920" y="3749040"/>
            <a:ext cx="73152" cy="841248"/>
          </a:xfrm>
          <a:prstGeom prst="rect">
            <a:avLst/>
          </a:prstGeom>
          <a:solidFill>
            <a:srgbClr val="38BDF8"/>
          </a:solidFill>
          <a:ln/>
        </p:spPr>
      </p:sp>
      <p:sp>
        <p:nvSpPr>
          <p:cNvPr id="27" name="Text 25"/>
          <p:cNvSpPr/>
          <p:nvPr/>
        </p:nvSpPr>
        <p:spPr>
          <a:xfrm>
            <a:off x="6400800" y="3858768"/>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transaction_count_by_customer</a:t>
            </a:r>
            <a:endParaRPr lang="en-US" sz="1400" dirty="0"/>
          </a:p>
        </p:txBody>
      </p:sp>
      <p:sp>
        <p:nvSpPr>
          <p:cNvPr id="28" name="Text 26"/>
          <p:cNvSpPr/>
          <p:nvPr/>
        </p:nvSpPr>
        <p:spPr>
          <a:xfrm>
            <a:off x="6400800" y="4206240"/>
            <a:ext cx="5120640" cy="292608"/>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How active is this customer?</a:t>
            </a:r>
            <a:endParaRPr lang="en-US" sz="1200" dirty="0"/>
          </a:p>
        </p:txBody>
      </p:sp>
      <p:sp>
        <p:nvSpPr>
          <p:cNvPr id="29" name="Shape 27"/>
          <p:cNvSpPr/>
          <p:nvPr/>
        </p:nvSpPr>
        <p:spPr>
          <a:xfrm>
            <a:off x="548640" y="4709160"/>
            <a:ext cx="5440680" cy="841248"/>
          </a:xfrm>
          <a:prstGeom prst="roundRect">
            <a:avLst>
              <a:gd name="adj" fmla="val 8696"/>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30" name="Shape 28"/>
          <p:cNvSpPr/>
          <p:nvPr/>
        </p:nvSpPr>
        <p:spPr>
          <a:xfrm>
            <a:off x="548640" y="4709160"/>
            <a:ext cx="73152" cy="841248"/>
          </a:xfrm>
          <a:prstGeom prst="rect">
            <a:avLst/>
          </a:prstGeom>
          <a:solidFill>
            <a:srgbClr val="3B82F6"/>
          </a:solidFill>
          <a:ln/>
        </p:spPr>
      </p:sp>
      <p:sp>
        <p:nvSpPr>
          <p:cNvPr id="31" name="Text 29"/>
          <p:cNvSpPr/>
          <p:nvPr/>
        </p:nvSpPr>
        <p:spPr>
          <a:xfrm>
            <a:off x="731520" y="4818888"/>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encoded transaction type</a:t>
            </a:r>
            <a:endParaRPr lang="en-US" sz="1400" dirty="0"/>
          </a:p>
        </p:txBody>
      </p:sp>
      <p:sp>
        <p:nvSpPr>
          <p:cNvPr id="32" name="Text 30"/>
          <p:cNvSpPr/>
          <p:nvPr/>
        </p:nvSpPr>
        <p:spPr>
          <a:xfrm>
            <a:off x="731520" y="5166360"/>
            <a:ext cx="5120640" cy="292608"/>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Type as a number for the model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SEQUENCE CREATION LOGIC</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From a flat table to time-ordered windows</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Shape 3"/>
          <p:cNvSpPr/>
          <p:nvPr/>
        </p:nvSpPr>
        <p:spPr>
          <a:xfrm>
            <a:off x="457200" y="2194560"/>
            <a:ext cx="1684020" cy="777240"/>
          </a:xfrm>
          <a:prstGeom prst="roundRect">
            <a:avLst>
              <a:gd name="adj" fmla="val 7059"/>
            </a:avLst>
          </a:prstGeom>
          <a:solidFill>
            <a:srgbClr val="12294D"/>
          </a:solidFill>
          <a:ln w="15875">
            <a:solidFill>
              <a:srgbClr val="2563EB"/>
            </a:solidFill>
            <a:prstDash val="solid"/>
          </a:ln>
        </p:spPr>
      </p:sp>
      <p:sp>
        <p:nvSpPr>
          <p:cNvPr id="6" name="Text 4"/>
          <p:cNvSpPr/>
          <p:nvPr/>
        </p:nvSpPr>
        <p:spPr>
          <a:xfrm>
            <a:off x="502920" y="2194560"/>
            <a:ext cx="1592580" cy="77724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T1</a:t>
            </a:r>
            <a:endParaRPr lang="en-US" sz="1150" dirty="0"/>
          </a:p>
        </p:txBody>
      </p:sp>
      <p:sp>
        <p:nvSpPr>
          <p:cNvPr id="7" name="Text 5"/>
          <p:cNvSpPr/>
          <p:nvPr/>
        </p:nvSpPr>
        <p:spPr>
          <a:xfrm>
            <a:off x="2122932" y="2194560"/>
            <a:ext cx="265176" cy="77724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8" name="Shape 6"/>
          <p:cNvSpPr/>
          <p:nvPr/>
        </p:nvSpPr>
        <p:spPr>
          <a:xfrm>
            <a:off x="2369820" y="2194560"/>
            <a:ext cx="1684020" cy="777240"/>
          </a:xfrm>
          <a:prstGeom prst="roundRect">
            <a:avLst>
              <a:gd name="adj" fmla="val 7059"/>
            </a:avLst>
          </a:prstGeom>
          <a:solidFill>
            <a:srgbClr val="12294D"/>
          </a:solidFill>
          <a:ln w="15875">
            <a:solidFill>
              <a:srgbClr val="2563EB"/>
            </a:solidFill>
            <a:prstDash val="solid"/>
          </a:ln>
        </p:spPr>
      </p:sp>
      <p:sp>
        <p:nvSpPr>
          <p:cNvPr id="9" name="Text 7"/>
          <p:cNvSpPr/>
          <p:nvPr/>
        </p:nvSpPr>
        <p:spPr>
          <a:xfrm>
            <a:off x="2415540" y="2194560"/>
            <a:ext cx="1592580" cy="77724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T2</a:t>
            </a:r>
            <a:endParaRPr lang="en-US" sz="1150" dirty="0"/>
          </a:p>
        </p:txBody>
      </p:sp>
      <p:sp>
        <p:nvSpPr>
          <p:cNvPr id="10" name="Text 8"/>
          <p:cNvSpPr/>
          <p:nvPr/>
        </p:nvSpPr>
        <p:spPr>
          <a:xfrm>
            <a:off x="4035552" y="2194560"/>
            <a:ext cx="265176" cy="77724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11" name="Shape 9"/>
          <p:cNvSpPr/>
          <p:nvPr/>
        </p:nvSpPr>
        <p:spPr>
          <a:xfrm>
            <a:off x="4282440" y="2194560"/>
            <a:ext cx="1684020" cy="777240"/>
          </a:xfrm>
          <a:prstGeom prst="roundRect">
            <a:avLst>
              <a:gd name="adj" fmla="val 7059"/>
            </a:avLst>
          </a:prstGeom>
          <a:solidFill>
            <a:srgbClr val="12294D"/>
          </a:solidFill>
          <a:ln w="15875">
            <a:solidFill>
              <a:srgbClr val="2563EB"/>
            </a:solidFill>
            <a:prstDash val="solid"/>
          </a:ln>
        </p:spPr>
      </p:sp>
      <p:sp>
        <p:nvSpPr>
          <p:cNvPr id="12" name="Text 10"/>
          <p:cNvSpPr/>
          <p:nvPr/>
        </p:nvSpPr>
        <p:spPr>
          <a:xfrm>
            <a:off x="4328160" y="2194560"/>
            <a:ext cx="1592580" cy="77724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T3</a:t>
            </a:r>
            <a:endParaRPr lang="en-US" sz="1150" dirty="0"/>
          </a:p>
        </p:txBody>
      </p:sp>
      <p:sp>
        <p:nvSpPr>
          <p:cNvPr id="13" name="Text 11"/>
          <p:cNvSpPr/>
          <p:nvPr/>
        </p:nvSpPr>
        <p:spPr>
          <a:xfrm>
            <a:off x="5948172" y="2194560"/>
            <a:ext cx="265176" cy="77724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6195060" y="2194560"/>
            <a:ext cx="1684020" cy="777240"/>
          </a:xfrm>
          <a:prstGeom prst="roundRect">
            <a:avLst>
              <a:gd name="adj" fmla="val 7059"/>
            </a:avLst>
          </a:prstGeom>
          <a:solidFill>
            <a:srgbClr val="12294D"/>
          </a:solidFill>
          <a:ln w="15875">
            <a:solidFill>
              <a:srgbClr val="2563EB"/>
            </a:solidFill>
            <a:prstDash val="solid"/>
          </a:ln>
        </p:spPr>
      </p:sp>
      <p:sp>
        <p:nvSpPr>
          <p:cNvPr id="15" name="Text 13"/>
          <p:cNvSpPr/>
          <p:nvPr/>
        </p:nvSpPr>
        <p:spPr>
          <a:xfrm>
            <a:off x="6240780" y="2194560"/>
            <a:ext cx="1592580" cy="77724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T4</a:t>
            </a:r>
            <a:endParaRPr lang="en-US" sz="1150" dirty="0"/>
          </a:p>
        </p:txBody>
      </p:sp>
      <p:sp>
        <p:nvSpPr>
          <p:cNvPr id="16" name="Text 14"/>
          <p:cNvSpPr/>
          <p:nvPr/>
        </p:nvSpPr>
        <p:spPr>
          <a:xfrm>
            <a:off x="7860792" y="2194560"/>
            <a:ext cx="265176" cy="77724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17" name="Shape 15"/>
          <p:cNvSpPr/>
          <p:nvPr/>
        </p:nvSpPr>
        <p:spPr>
          <a:xfrm>
            <a:off x="8107680" y="2194560"/>
            <a:ext cx="1684020" cy="777240"/>
          </a:xfrm>
          <a:prstGeom prst="roundRect">
            <a:avLst>
              <a:gd name="adj" fmla="val 7059"/>
            </a:avLst>
          </a:prstGeom>
          <a:solidFill>
            <a:srgbClr val="12294D"/>
          </a:solidFill>
          <a:ln w="15875">
            <a:solidFill>
              <a:srgbClr val="38BDF8"/>
            </a:solidFill>
            <a:prstDash val="solid"/>
          </a:ln>
        </p:spPr>
      </p:sp>
      <p:sp>
        <p:nvSpPr>
          <p:cNvPr id="18" name="Text 16"/>
          <p:cNvSpPr/>
          <p:nvPr/>
        </p:nvSpPr>
        <p:spPr>
          <a:xfrm>
            <a:off x="8153400" y="2194560"/>
            <a:ext cx="1592580" cy="77724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T5</a:t>
            </a:r>
            <a:endParaRPr lang="en-US" sz="1150" dirty="0"/>
          </a:p>
        </p:txBody>
      </p:sp>
      <p:sp>
        <p:nvSpPr>
          <p:cNvPr id="19" name="Text 17"/>
          <p:cNvSpPr/>
          <p:nvPr/>
        </p:nvSpPr>
        <p:spPr>
          <a:xfrm>
            <a:off x="9773412" y="2194560"/>
            <a:ext cx="265176" cy="77724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10020300" y="2194560"/>
            <a:ext cx="1684020" cy="777240"/>
          </a:xfrm>
          <a:prstGeom prst="roundRect">
            <a:avLst>
              <a:gd name="adj" fmla="val 7059"/>
            </a:avLst>
          </a:prstGeom>
          <a:solidFill>
            <a:srgbClr val="12294D"/>
          </a:solidFill>
          <a:ln w="15875">
            <a:solidFill>
              <a:srgbClr val="DC2626"/>
            </a:solidFill>
            <a:prstDash val="solid"/>
          </a:ln>
        </p:spPr>
      </p:sp>
      <p:sp>
        <p:nvSpPr>
          <p:cNvPr id="21" name="Text 19"/>
          <p:cNvSpPr/>
          <p:nvPr/>
        </p:nvSpPr>
        <p:spPr>
          <a:xfrm>
            <a:off x="10066020" y="2194560"/>
            <a:ext cx="1592580" cy="77724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T6</a:t>
            </a:r>
            <a:endParaRPr lang="en-US" sz="1150" dirty="0"/>
          </a:p>
        </p:txBody>
      </p:sp>
      <p:sp>
        <p:nvSpPr>
          <p:cNvPr id="22" name="Shape 20"/>
          <p:cNvSpPr/>
          <p:nvPr/>
        </p:nvSpPr>
        <p:spPr>
          <a:xfrm>
            <a:off x="548640" y="3383280"/>
            <a:ext cx="5394960" cy="1737360"/>
          </a:xfrm>
          <a:prstGeom prst="roundRect">
            <a:avLst>
              <a:gd name="adj" fmla="val 4211"/>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23" name="Shape 21"/>
          <p:cNvSpPr/>
          <p:nvPr/>
        </p:nvSpPr>
        <p:spPr>
          <a:xfrm>
            <a:off x="548640" y="3383280"/>
            <a:ext cx="73152" cy="1737360"/>
          </a:xfrm>
          <a:prstGeom prst="rect">
            <a:avLst/>
          </a:prstGeom>
          <a:solidFill>
            <a:srgbClr val="3B82F6"/>
          </a:solidFill>
          <a:ln/>
        </p:spPr>
      </p:sp>
      <p:sp>
        <p:nvSpPr>
          <p:cNvPr id="24" name="Text 22"/>
          <p:cNvSpPr/>
          <p:nvPr/>
        </p:nvSpPr>
        <p:spPr>
          <a:xfrm>
            <a:off x="731520" y="3493008"/>
            <a:ext cx="51206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Input window  →  T1 … T5</a:t>
            </a:r>
            <a:endParaRPr lang="en-US" sz="1400" dirty="0"/>
          </a:p>
        </p:txBody>
      </p:sp>
      <p:sp>
        <p:nvSpPr>
          <p:cNvPr id="25" name="Text 23"/>
          <p:cNvSpPr/>
          <p:nvPr/>
        </p:nvSpPr>
        <p:spPr>
          <a:xfrm>
            <a:off x="731520" y="3840480"/>
            <a:ext cx="5074920" cy="11887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Sort each customer by time, then slide a window of the last transactions.</a:t>
            </a:r>
            <a:endParaRPr lang="en-US" sz="1200" dirty="0"/>
          </a:p>
        </p:txBody>
      </p:sp>
      <p:sp>
        <p:nvSpPr>
          <p:cNvPr id="26" name="Shape 24"/>
          <p:cNvSpPr/>
          <p:nvPr/>
        </p:nvSpPr>
        <p:spPr>
          <a:xfrm>
            <a:off x="6217920" y="3383280"/>
            <a:ext cx="5394960" cy="1737360"/>
          </a:xfrm>
          <a:prstGeom prst="roundRect">
            <a:avLst>
              <a:gd name="adj" fmla="val 4211"/>
            </a:avLst>
          </a:prstGeom>
          <a:solidFill>
            <a:srgbClr val="12294D"/>
          </a:solidFill>
          <a:ln w="12700">
            <a:solidFill>
              <a:srgbClr val="DC2626"/>
            </a:solidFill>
            <a:prstDash val="solid"/>
          </a:ln>
          <a:effectLst>
            <a:outerShdw sx="100000" sy="100000" kx="0" ky="0" algn="bl" rotWithShape="0" blurRad="76200" dist="25400" dir="5400000">
              <a:srgbClr val="000000">
                <a:alpha val="35000"/>
              </a:srgbClr>
            </a:outerShdw>
          </a:effectLst>
        </p:spPr>
      </p:sp>
      <p:sp>
        <p:nvSpPr>
          <p:cNvPr id="27" name="Shape 25"/>
          <p:cNvSpPr/>
          <p:nvPr/>
        </p:nvSpPr>
        <p:spPr>
          <a:xfrm>
            <a:off x="6217920" y="3383280"/>
            <a:ext cx="73152" cy="1737360"/>
          </a:xfrm>
          <a:prstGeom prst="rect">
            <a:avLst/>
          </a:prstGeom>
          <a:solidFill>
            <a:srgbClr val="DC2626"/>
          </a:solidFill>
          <a:ln/>
        </p:spPr>
      </p:sp>
      <p:sp>
        <p:nvSpPr>
          <p:cNvPr id="28" name="Text 26"/>
          <p:cNvSpPr/>
          <p:nvPr/>
        </p:nvSpPr>
        <p:spPr>
          <a:xfrm>
            <a:off x="6400800" y="3493008"/>
            <a:ext cx="51206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Prediction  →  Is T6 fraud?</a:t>
            </a:r>
            <a:endParaRPr lang="en-US" sz="1400" dirty="0"/>
          </a:p>
        </p:txBody>
      </p:sp>
      <p:sp>
        <p:nvSpPr>
          <p:cNvPr id="29" name="Text 27"/>
          <p:cNvSpPr/>
          <p:nvPr/>
        </p:nvSpPr>
        <p:spPr>
          <a:xfrm>
            <a:off x="6400800" y="3840480"/>
            <a:ext cx="5074920" cy="11887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The model uses the window of past behaviour to score the NEXT transaction.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FULL SYSTEM ARCHITECTURE</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End-to-end fraud detection pipeline</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Shape 3"/>
          <p:cNvSpPr/>
          <p:nvPr/>
        </p:nvSpPr>
        <p:spPr>
          <a:xfrm>
            <a:off x="457200" y="2377440"/>
            <a:ext cx="2066544" cy="914400"/>
          </a:xfrm>
          <a:prstGeom prst="roundRect">
            <a:avLst>
              <a:gd name="adj" fmla="val 6000"/>
            </a:avLst>
          </a:prstGeom>
          <a:solidFill>
            <a:srgbClr val="12294D"/>
          </a:solidFill>
          <a:ln w="15875">
            <a:solidFill>
              <a:srgbClr val="2563EB"/>
            </a:solidFill>
            <a:prstDash val="solid"/>
          </a:ln>
        </p:spPr>
      </p:sp>
      <p:sp>
        <p:nvSpPr>
          <p:cNvPr id="6" name="Text 4"/>
          <p:cNvSpPr/>
          <p:nvPr/>
        </p:nvSpPr>
        <p:spPr>
          <a:xfrm>
            <a:off x="502920" y="2377440"/>
            <a:ext cx="1975104" cy="91440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Transaction</a:t>
            </a:r>
            <a:endParaRPr lang="en-US" sz="1150" dirty="0"/>
          </a:p>
          <a:p>
            <a:pPr algn="ctr" indent="0" marL="0">
              <a:buNone/>
            </a:pPr>
            <a:r>
              <a:rPr lang="en-US" sz="1150" b="1" dirty="0">
                <a:solidFill>
                  <a:srgbClr val="FFFFFF"/>
                </a:solidFill>
                <a:latin typeface="Arial" pitchFamily="34" charset="0"/>
                <a:ea typeface="Arial" pitchFamily="34" charset="-122"/>
                <a:cs typeface="Arial" pitchFamily="34" charset="-120"/>
              </a:rPr>
              <a:t>Data</a:t>
            </a:r>
            <a:endParaRPr lang="en-US" sz="1150" dirty="0"/>
          </a:p>
        </p:txBody>
      </p:sp>
      <p:sp>
        <p:nvSpPr>
          <p:cNvPr id="7" name="Text 5"/>
          <p:cNvSpPr/>
          <p:nvPr/>
        </p:nvSpPr>
        <p:spPr>
          <a:xfrm>
            <a:off x="2505456" y="2377440"/>
            <a:ext cx="265176" cy="91440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8" name="Shape 6"/>
          <p:cNvSpPr/>
          <p:nvPr/>
        </p:nvSpPr>
        <p:spPr>
          <a:xfrm>
            <a:off x="2752344" y="2377440"/>
            <a:ext cx="2066544" cy="914400"/>
          </a:xfrm>
          <a:prstGeom prst="roundRect">
            <a:avLst>
              <a:gd name="adj" fmla="val 6000"/>
            </a:avLst>
          </a:prstGeom>
          <a:solidFill>
            <a:srgbClr val="12294D"/>
          </a:solidFill>
          <a:ln w="15875">
            <a:solidFill>
              <a:srgbClr val="2563EB"/>
            </a:solidFill>
            <a:prstDash val="solid"/>
          </a:ln>
        </p:spPr>
      </p:sp>
      <p:sp>
        <p:nvSpPr>
          <p:cNvPr id="9" name="Text 7"/>
          <p:cNvSpPr/>
          <p:nvPr/>
        </p:nvSpPr>
        <p:spPr>
          <a:xfrm>
            <a:off x="2798064" y="2377440"/>
            <a:ext cx="1975104" cy="91440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Cleaning</a:t>
            </a:r>
            <a:endParaRPr lang="en-US" sz="1150" dirty="0"/>
          </a:p>
        </p:txBody>
      </p:sp>
      <p:sp>
        <p:nvSpPr>
          <p:cNvPr id="10" name="Text 8"/>
          <p:cNvSpPr/>
          <p:nvPr/>
        </p:nvSpPr>
        <p:spPr>
          <a:xfrm>
            <a:off x="4800600" y="2377440"/>
            <a:ext cx="265176" cy="91440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11" name="Shape 9"/>
          <p:cNvSpPr/>
          <p:nvPr/>
        </p:nvSpPr>
        <p:spPr>
          <a:xfrm>
            <a:off x="5047488" y="2377440"/>
            <a:ext cx="2066544" cy="914400"/>
          </a:xfrm>
          <a:prstGeom prst="roundRect">
            <a:avLst>
              <a:gd name="adj" fmla="val 6000"/>
            </a:avLst>
          </a:prstGeom>
          <a:solidFill>
            <a:srgbClr val="12294D"/>
          </a:solidFill>
          <a:ln w="15875">
            <a:solidFill>
              <a:srgbClr val="2563EB"/>
            </a:solidFill>
            <a:prstDash val="solid"/>
          </a:ln>
        </p:spPr>
      </p:sp>
      <p:sp>
        <p:nvSpPr>
          <p:cNvPr id="12" name="Text 10"/>
          <p:cNvSpPr/>
          <p:nvPr/>
        </p:nvSpPr>
        <p:spPr>
          <a:xfrm>
            <a:off x="5093208" y="2377440"/>
            <a:ext cx="1975104" cy="91440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Feature</a:t>
            </a:r>
            <a:endParaRPr lang="en-US" sz="1150" dirty="0"/>
          </a:p>
          <a:p>
            <a:pPr algn="ctr" indent="0" marL="0">
              <a:buNone/>
            </a:pPr>
            <a:r>
              <a:rPr lang="en-US" sz="1150" b="1" dirty="0">
                <a:solidFill>
                  <a:srgbClr val="FFFFFF"/>
                </a:solidFill>
                <a:latin typeface="Arial" pitchFamily="34" charset="0"/>
                <a:ea typeface="Arial" pitchFamily="34" charset="-122"/>
                <a:cs typeface="Arial" pitchFamily="34" charset="-120"/>
              </a:rPr>
              <a:t>Engineering</a:t>
            </a:r>
            <a:endParaRPr lang="en-US" sz="1150" dirty="0"/>
          </a:p>
        </p:txBody>
      </p:sp>
      <p:sp>
        <p:nvSpPr>
          <p:cNvPr id="13" name="Text 11"/>
          <p:cNvSpPr/>
          <p:nvPr/>
        </p:nvSpPr>
        <p:spPr>
          <a:xfrm>
            <a:off x="7095744" y="2377440"/>
            <a:ext cx="265176" cy="91440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7342632" y="2377440"/>
            <a:ext cx="2066544" cy="914400"/>
          </a:xfrm>
          <a:prstGeom prst="roundRect">
            <a:avLst>
              <a:gd name="adj" fmla="val 6000"/>
            </a:avLst>
          </a:prstGeom>
          <a:solidFill>
            <a:srgbClr val="12294D"/>
          </a:solidFill>
          <a:ln w="15875">
            <a:solidFill>
              <a:srgbClr val="38BDF8"/>
            </a:solidFill>
            <a:prstDash val="solid"/>
          </a:ln>
        </p:spPr>
      </p:sp>
      <p:sp>
        <p:nvSpPr>
          <p:cNvPr id="15" name="Text 13"/>
          <p:cNvSpPr/>
          <p:nvPr/>
        </p:nvSpPr>
        <p:spPr>
          <a:xfrm>
            <a:off x="7388352" y="2377440"/>
            <a:ext cx="1975104" cy="91440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Sequence</a:t>
            </a:r>
            <a:endParaRPr lang="en-US" sz="1150" dirty="0"/>
          </a:p>
          <a:p>
            <a:pPr algn="ctr" indent="0" marL="0">
              <a:buNone/>
            </a:pPr>
            <a:r>
              <a:rPr lang="en-US" sz="1150" b="1" dirty="0">
                <a:solidFill>
                  <a:srgbClr val="FFFFFF"/>
                </a:solidFill>
                <a:latin typeface="Arial" pitchFamily="34" charset="0"/>
                <a:ea typeface="Arial" pitchFamily="34" charset="-122"/>
                <a:cs typeface="Arial" pitchFamily="34" charset="-120"/>
              </a:rPr>
              <a:t>Builder</a:t>
            </a:r>
            <a:endParaRPr lang="en-US" sz="1150" dirty="0"/>
          </a:p>
        </p:txBody>
      </p:sp>
      <p:sp>
        <p:nvSpPr>
          <p:cNvPr id="16" name="Text 14"/>
          <p:cNvSpPr/>
          <p:nvPr/>
        </p:nvSpPr>
        <p:spPr>
          <a:xfrm>
            <a:off x="9390888" y="2377440"/>
            <a:ext cx="265176" cy="91440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17" name="Shape 15"/>
          <p:cNvSpPr/>
          <p:nvPr/>
        </p:nvSpPr>
        <p:spPr>
          <a:xfrm>
            <a:off x="9637776" y="2377440"/>
            <a:ext cx="2066544" cy="914400"/>
          </a:xfrm>
          <a:prstGeom prst="roundRect">
            <a:avLst>
              <a:gd name="adj" fmla="val 6000"/>
            </a:avLst>
          </a:prstGeom>
          <a:solidFill>
            <a:srgbClr val="12294D"/>
          </a:solidFill>
          <a:ln w="15875">
            <a:solidFill>
              <a:srgbClr val="38BDF8"/>
            </a:solidFill>
            <a:prstDash val="solid"/>
          </a:ln>
        </p:spPr>
      </p:sp>
      <p:sp>
        <p:nvSpPr>
          <p:cNvPr id="18" name="Text 16"/>
          <p:cNvSpPr/>
          <p:nvPr/>
        </p:nvSpPr>
        <p:spPr>
          <a:xfrm>
            <a:off x="9683496" y="2377440"/>
            <a:ext cx="1975104" cy="91440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LSTM</a:t>
            </a:r>
            <a:endParaRPr lang="en-US" sz="1150" dirty="0"/>
          </a:p>
          <a:p>
            <a:pPr algn="ctr" indent="0" marL="0">
              <a:buNone/>
            </a:pPr>
            <a:r>
              <a:rPr lang="en-US" sz="1150" b="1" dirty="0">
                <a:solidFill>
                  <a:srgbClr val="FFFFFF"/>
                </a:solidFill>
                <a:latin typeface="Arial" pitchFamily="34" charset="0"/>
                <a:ea typeface="Arial" pitchFamily="34" charset="-122"/>
                <a:cs typeface="Arial" pitchFamily="34" charset="-120"/>
              </a:rPr>
              <a:t>Model</a:t>
            </a:r>
            <a:endParaRPr lang="en-US" sz="1150" dirty="0"/>
          </a:p>
        </p:txBody>
      </p:sp>
      <p:sp>
        <p:nvSpPr>
          <p:cNvPr id="19" name="Shape 17"/>
          <p:cNvSpPr/>
          <p:nvPr/>
        </p:nvSpPr>
        <p:spPr>
          <a:xfrm>
            <a:off x="1828800" y="3840480"/>
            <a:ext cx="2682240" cy="914400"/>
          </a:xfrm>
          <a:prstGeom prst="roundRect">
            <a:avLst>
              <a:gd name="adj" fmla="val 6000"/>
            </a:avLst>
          </a:prstGeom>
          <a:solidFill>
            <a:srgbClr val="12294D"/>
          </a:solidFill>
          <a:ln w="15875">
            <a:solidFill>
              <a:srgbClr val="F59E0B"/>
            </a:solidFill>
            <a:prstDash val="solid"/>
          </a:ln>
        </p:spPr>
      </p:sp>
      <p:sp>
        <p:nvSpPr>
          <p:cNvPr id="20" name="Text 18"/>
          <p:cNvSpPr/>
          <p:nvPr/>
        </p:nvSpPr>
        <p:spPr>
          <a:xfrm>
            <a:off x="1874520" y="3840480"/>
            <a:ext cx="2590800" cy="91440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Fraud</a:t>
            </a:r>
            <a:endParaRPr lang="en-US" sz="1150" dirty="0"/>
          </a:p>
          <a:p>
            <a:pPr algn="ctr" indent="0" marL="0">
              <a:buNone/>
            </a:pPr>
            <a:r>
              <a:rPr lang="en-US" sz="1150" b="1" dirty="0">
                <a:solidFill>
                  <a:srgbClr val="FFFFFF"/>
                </a:solidFill>
                <a:latin typeface="Arial" pitchFamily="34" charset="0"/>
                <a:ea typeface="Arial" pitchFamily="34" charset="-122"/>
                <a:cs typeface="Arial" pitchFamily="34" charset="-120"/>
              </a:rPr>
              <a:t>Score</a:t>
            </a:r>
            <a:endParaRPr lang="en-US" sz="1150" dirty="0"/>
          </a:p>
        </p:txBody>
      </p:sp>
      <p:sp>
        <p:nvSpPr>
          <p:cNvPr id="21" name="Text 19"/>
          <p:cNvSpPr/>
          <p:nvPr/>
        </p:nvSpPr>
        <p:spPr>
          <a:xfrm>
            <a:off x="4492752" y="3840480"/>
            <a:ext cx="265176" cy="91440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4739640" y="3840480"/>
            <a:ext cx="2682240" cy="914400"/>
          </a:xfrm>
          <a:prstGeom prst="roundRect">
            <a:avLst>
              <a:gd name="adj" fmla="val 6000"/>
            </a:avLst>
          </a:prstGeom>
          <a:solidFill>
            <a:srgbClr val="12294D"/>
          </a:solidFill>
          <a:ln w="15875">
            <a:solidFill>
              <a:srgbClr val="2563EB"/>
            </a:solidFill>
            <a:prstDash val="solid"/>
          </a:ln>
        </p:spPr>
      </p:sp>
      <p:sp>
        <p:nvSpPr>
          <p:cNvPr id="23" name="Text 21"/>
          <p:cNvSpPr/>
          <p:nvPr/>
        </p:nvSpPr>
        <p:spPr>
          <a:xfrm>
            <a:off x="4785360" y="3840480"/>
            <a:ext cx="2590800" cy="91440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Dashboard</a:t>
            </a:r>
            <a:endParaRPr lang="en-US" sz="1150" dirty="0"/>
          </a:p>
        </p:txBody>
      </p:sp>
      <p:sp>
        <p:nvSpPr>
          <p:cNvPr id="24" name="Text 22"/>
          <p:cNvSpPr/>
          <p:nvPr/>
        </p:nvSpPr>
        <p:spPr>
          <a:xfrm>
            <a:off x="7403592" y="3840480"/>
            <a:ext cx="265176" cy="91440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25" name="Shape 23"/>
          <p:cNvSpPr/>
          <p:nvPr/>
        </p:nvSpPr>
        <p:spPr>
          <a:xfrm>
            <a:off x="7650480" y="3840480"/>
            <a:ext cx="2682240" cy="914400"/>
          </a:xfrm>
          <a:prstGeom prst="roundRect">
            <a:avLst>
              <a:gd name="adj" fmla="val 6000"/>
            </a:avLst>
          </a:prstGeom>
          <a:solidFill>
            <a:srgbClr val="12294D"/>
          </a:solidFill>
          <a:ln w="15875">
            <a:solidFill>
              <a:srgbClr val="16A34A"/>
            </a:solidFill>
            <a:prstDash val="solid"/>
          </a:ln>
        </p:spPr>
      </p:sp>
      <p:sp>
        <p:nvSpPr>
          <p:cNvPr id="26" name="Text 24"/>
          <p:cNvSpPr/>
          <p:nvPr/>
        </p:nvSpPr>
        <p:spPr>
          <a:xfrm>
            <a:off x="7696200" y="3840480"/>
            <a:ext cx="2590800" cy="91440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Business</a:t>
            </a:r>
            <a:endParaRPr lang="en-US" sz="1150" dirty="0"/>
          </a:p>
          <a:p>
            <a:pPr algn="ctr" indent="0" marL="0">
              <a:buNone/>
            </a:pPr>
            <a:r>
              <a:rPr lang="en-US" sz="1150" b="1" dirty="0">
                <a:solidFill>
                  <a:srgbClr val="FFFFFF"/>
                </a:solidFill>
                <a:latin typeface="Arial" pitchFamily="34" charset="0"/>
                <a:ea typeface="Arial" pitchFamily="34" charset="-122"/>
                <a:cs typeface="Arial" pitchFamily="34" charset="-120"/>
              </a:rPr>
              <a:t>Action</a:t>
            </a:r>
            <a:endParaRPr lang="en-US" sz="1150" dirty="0"/>
          </a:p>
        </p:txBody>
      </p:sp>
      <p:sp>
        <p:nvSpPr>
          <p:cNvPr id="27" name="Shape 25"/>
          <p:cNvSpPr/>
          <p:nvPr/>
        </p:nvSpPr>
        <p:spPr>
          <a:xfrm>
            <a:off x="548640" y="5120640"/>
            <a:ext cx="11064240" cy="914400"/>
          </a:xfrm>
          <a:prstGeom prst="roundRect">
            <a:avLst>
              <a:gd name="adj" fmla="val 8000"/>
            </a:avLst>
          </a:prstGeom>
          <a:solidFill>
            <a:srgbClr val="12294D"/>
          </a:solidFill>
          <a:ln w="12700">
            <a:solidFill>
              <a:srgbClr val="2563EB"/>
            </a:solidFill>
            <a:prstDash val="solid"/>
          </a:ln>
          <a:effectLst>
            <a:outerShdw sx="100000" sy="100000" kx="0" ky="0" algn="bl" rotWithShape="0" blurRad="76200" dist="25400" dir="5400000">
              <a:srgbClr val="000000">
                <a:alpha val="35000"/>
              </a:srgbClr>
            </a:outerShdw>
          </a:effectLst>
        </p:spPr>
      </p:sp>
      <p:sp>
        <p:nvSpPr>
          <p:cNvPr id="28" name="Shape 26"/>
          <p:cNvSpPr/>
          <p:nvPr/>
        </p:nvSpPr>
        <p:spPr>
          <a:xfrm>
            <a:off x="548640" y="5120640"/>
            <a:ext cx="73152" cy="914400"/>
          </a:xfrm>
          <a:prstGeom prst="rect">
            <a:avLst/>
          </a:prstGeom>
          <a:solidFill>
            <a:srgbClr val="2563EB"/>
          </a:solidFill>
          <a:ln/>
        </p:spPr>
      </p:sp>
      <p:sp>
        <p:nvSpPr>
          <p:cNvPr id="29" name="Text 27"/>
          <p:cNvSpPr/>
          <p:nvPr/>
        </p:nvSpPr>
        <p:spPr>
          <a:xfrm>
            <a:off x="731520" y="5230368"/>
            <a:ext cx="1078992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One pipeline, modular code</a:t>
            </a:r>
            <a:endParaRPr lang="en-US" sz="1400" dirty="0"/>
          </a:p>
        </p:txBody>
      </p:sp>
      <p:sp>
        <p:nvSpPr>
          <p:cNvPr id="30" name="Text 28"/>
          <p:cNvSpPr/>
          <p:nvPr/>
        </p:nvSpPr>
        <p:spPr>
          <a:xfrm>
            <a:off x="731520" y="5577840"/>
            <a:ext cx="10744200" cy="36576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Each stage is a separate, tested module in src/. The same code powers the notebook AND the live dashboard.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LSTM MODEL ARCHITECTURE</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Compact, regularised, production-friendly</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Shape 3"/>
          <p:cNvSpPr/>
          <p:nvPr/>
        </p:nvSpPr>
        <p:spPr>
          <a:xfrm>
            <a:off x="457200" y="2377440"/>
            <a:ext cx="2066544" cy="1005840"/>
          </a:xfrm>
          <a:prstGeom prst="roundRect">
            <a:avLst>
              <a:gd name="adj" fmla="val 5455"/>
            </a:avLst>
          </a:prstGeom>
          <a:solidFill>
            <a:srgbClr val="12294D"/>
          </a:solidFill>
          <a:ln w="15875">
            <a:solidFill>
              <a:srgbClr val="2563EB"/>
            </a:solidFill>
            <a:prstDash val="solid"/>
          </a:ln>
        </p:spPr>
      </p:sp>
      <p:sp>
        <p:nvSpPr>
          <p:cNvPr id="6" name="Text 4"/>
          <p:cNvSpPr/>
          <p:nvPr/>
        </p:nvSpPr>
        <p:spPr>
          <a:xfrm>
            <a:off x="502920" y="2377440"/>
            <a:ext cx="1975104" cy="100584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Input</a:t>
            </a:r>
            <a:endParaRPr lang="en-US" sz="1150" dirty="0"/>
          </a:p>
          <a:p>
            <a:pPr algn="ctr" indent="0" marL="0">
              <a:buNone/>
            </a:pPr>
            <a:r>
              <a:rPr lang="en-US" sz="1150" b="1" dirty="0">
                <a:solidFill>
                  <a:srgbClr val="FFFFFF"/>
                </a:solidFill>
                <a:latin typeface="Arial" pitchFamily="34" charset="0"/>
                <a:ea typeface="Arial" pitchFamily="34" charset="-122"/>
                <a:cs typeface="Arial" pitchFamily="34" charset="-120"/>
              </a:rPr>
              <a:t>(seq × features)</a:t>
            </a:r>
            <a:endParaRPr lang="en-US" sz="1150" dirty="0"/>
          </a:p>
        </p:txBody>
      </p:sp>
      <p:sp>
        <p:nvSpPr>
          <p:cNvPr id="7" name="Text 5"/>
          <p:cNvSpPr/>
          <p:nvPr/>
        </p:nvSpPr>
        <p:spPr>
          <a:xfrm>
            <a:off x="2505456" y="2377440"/>
            <a:ext cx="265176" cy="100584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8" name="Shape 6"/>
          <p:cNvSpPr/>
          <p:nvPr/>
        </p:nvSpPr>
        <p:spPr>
          <a:xfrm>
            <a:off x="2752344" y="2377440"/>
            <a:ext cx="2066544" cy="1005840"/>
          </a:xfrm>
          <a:prstGeom prst="roundRect">
            <a:avLst>
              <a:gd name="adj" fmla="val 5455"/>
            </a:avLst>
          </a:prstGeom>
          <a:solidFill>
            <a:srgbClr val="12294D"/>
          </a:solidFill>
          <a:ln w="15875">
            <a:solidFill>
              <a:srgbClr val="38BDF8"/>
            </a:solidFill>
            <a:prstDash val="solid"/>
          </a:ln>
        </p:spPr>
      </p:sp>
      <p:sp>
        <p:nvSpPr>
          <p:cNvPr id="9" name="Text 7"/>
          <p:cNvSpPr/>
          <p:nvPr/>
        </p:nvSpPr>
        <p:spPr>
          <a:xfrm>
            <a:off x="2798064" y="2377440"/>
            <a:ext cx="1975104" cy="100584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LSTM</a:t>
            </a:r>
            <a:endParaRPr lang="en-US" sz="1150" dirty="0"/>
          </a:p>
          <a:p>
            <a:pPr algn="ctr" indent="0" marL="0">
              <a:buNone/>
            </a:pPr>
            <a:r>
              <a:rPr lang="en-US" sz="1150" b="1" dirty="0">
                <a:solidFill>
                  <a:srgbClr val="FFFFFF"/>
                </a:solidFill>
                <a:latin typeface="Arial" pitchFamily="34" charset="0"/>
                <a:ea typeface="Arial" pitchFamily="34" charset="-122"/>
                <a:cs typeface="Arial" pitchFamily="34" charset="-120"/>
              </a:rPr>
              <a:t>64 units</a:t>
            </a:r>
            <a:endParaRPr lang="en-US" sz="1150" dirty="0"/>
          </a:p>
        </p:txBody>
      </p:sp>
      <p:sp>
        <p:nvSpPr>
          <p:cNvPr id="10" name="Text 8"/>
          <p:cNvSpPr/>
          <p:nvPr/>
        </p:nvSpPr>
        <p:spPr>
          <a:xfrm>
            <a:off x="4800600" y="2377440"/>
            <a:ext cx="265176" cy="100584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11" name="Shape 9"/>
          <p:cNvSpPr/>
          <p:nvPr/>
        </p:nvSpPr>
        <p:spPr>
          <a:xfrm>
            <a:off x="5047488" y="2377440"/>
            <a:ext cx="2066544" cy="1005840"/>
          </a:xfrm>
          <a:prstGeom prst="roundRect">
            <a:avLst>
              <a:gd name="adj" fmla="val 5455"/>
            </a:avLst>
          </a:prstGeom>
          <a:solidFill>
            <a:srgbClr val="12294D"/>
          </a:solidFill>
          <a:ln w="15875">
            <a:solidFill>
              <a:srgbClr val="2563EB"/>
            </a:solidFill>
            <a:prstDash val="solid"/>
          </a:ln>
        </p:spPr>
      </p:sp>
      <p:sp>
        <p:nvSpPr>
          <p:cNvPr id="12" name="Text 10"/>
          <p:cNvSpPr/>
          <p:nvPr/>
        </p:nvSpPr>
        <p:spPr>
          <a:xfrm>
            <a:off x="5093208" y="2377440"/>
            <a:ext cx="1975104" cy="100584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Dropout</a:t>
            </a:r>
            <a:endParaRPr lang="en-US" sz="1150" dirty="0"/>
          </a:p>
          <a:p>
            <a:pPr algn="ctr" indent="0" marL="0">
              <a:buNone/>
            </a:pPr>
            <a:r>
              <a:rPr lang="en-US" sz="1150" b="1" dirty="0">
                <a:solidFill>
                  <a:srgbClr val="FFFFFF"/>
                </a:solidFill>
                <a:latin typeface="Arial" pitchFamily="34" charset="0"/>
                <a:ea typeface="Arial" pitchFamily="34" charset="-122"/>
                <a:cs typeface="Arial" pitchFamily="34" charset="-120"/>
              </a:rPr>
              <a:t>0.3</a:t>
            </a:r>
            <a:endParaRPr lang="en-US" sz="1150" dirty="0"/>
          </a:p>
        </p:txBody>
      </p:sp>
      <p:sp>
        <p:nvSpPr>
          <p:cNvPr id="13" name="Text 11"/>
          <p:cNvSpPr/>
          <p:nvPr/>
        </p:nvSpPr>
        <p:spPr>
          <a:xfrm>
            <a:off x="7095744" y="2377440"/>
            <a:ext cx="265176" cy="100584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7342632" y="2377440"/>
            <a:ext cx="2066544" cy="1005840"/>
          </a:xfrm>
          <a:prstGeom prst="roundRect">
            <a:avLst>
              <a:gd name="adj" fmla="val 5455"/>
            </a:avLst>
          </a:prstGeom>
          <a:solidFill>
            <a:srgbClr val="12294D"/>
          </a:solidFill>
          <a:ln w="15875">
            <a:solidFill>
              <a:srgbClr val="2563EB"/>
            </a:solidFill>
            <a:prstDash val="solid"/>
          </a:ln>
        </p:spPr>
      </p:sp>
      <p:sp>
        <p:nvSpPr>
          <p:cNvPr id="15" name="Text 13"/>
          <p:cNvSpPr/>
          <p:nvPr/>
        </p:nvSpPr>
        <p:spPr>
          <a:xfrm>
            <a:off x="7388352" y="2377440"/>
            <a:ext cx="1975104" cy="100584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Dense</a:t>
            </a:r>
            <a:endParaRPr lang="en-US" sz="1150" dirty="0"/>
          </a:p>
          <a:p>
            <a:pPr algn="ctr" indent="0" marL="0">
              <a:buNone/>
            </a:pPr>
            <a:r>
              <a:rPr lang="en-US" sz="1150" b="1" dirty="0">
                <a:solidFill>
                  <a:srgbClr val="FFFFFF"/>
                </a:solidFill>
                <a:latin typeface="Arial" pitchFamily="34" charset="0"/>
                <a:ea typeface="Arial" pitchFamily="34" charset="-122"/>
                <a:cs typeface="Arial" pitchFamily="34" charset="-120"/>
              </a:rPr>
              <a:t>32 ReLU</a:t>
            </a:r>
            <a:endParaRPr lang="en-US" sz="1150" dirty="0"/>
          </a:p>
        </p:txBody>
      </p:sp>
      <p:sp>
        <p:nvSpPr>
          <p:cNvPr id="16" name="Text 14"/>
          <p:cNvSpPr/>
          <p:nvPr/>
        </p:nvSpPr>
        <p:spPr>
          <a:xfrm>
            <a:off x="9390888" y="2377440"/>
            <a:ext cx="265176" cy="1005840"/>
          </a:xfrm>
          <a:prstGeom prst="rect">
            <a:avLst/>
          </a:prstGeom>
          <a:noFill/>
          <a:ln/>
        </p:spPr>
        <p:txBody>
          <a:bodyPr wrap="square" rtlCol="0" anchor="ctr"/>
          <a:lstStyle/>
          <a:p>
            <a:pPr algn="ctr" indent="0" marL="0">
              <a:buNone/>
            </a:pPr>
            <a:r>
              <a:rPr lang="en-US" sz="1600" dirty="0">
                <a:solidFill>
                  <a:srgbClr val="38BDF8"/>
                </a:solidFill>
                <a:latin typeface="Arial" pitchFamily="34" charset="0"/>
                <a:ea typeface="Arial" pitchFamily="34" charset="-122"/>
                <a:cs typeface="Arial" pitchFamily="34" charset="-120"/>
              </a:rPr>
              <a:t>➔</a:t>
            </a:r>
            <a:endParaRPr lang="en-US" sz="1600" dirty="0"/>
          </a:p>
        </p:txBody>
      </p:sp>
      <p:sp>
        <p:nvSpPr>
          <p:cNvPr id="17" name="Shape 15"/>
          <p:cNvSpPr/>
          <p:nvPr/>
        </p:nvSpPr>
        <p:spPr>
          <a:xfrm>
            <a:off x="9637776" y="2377440"/>
            <a:ext cx="2066544" cy="1005840"/>
          </a:xfrm>
          <a:prstGeom prst="roundRect">
            <a:avLst>
              <a:gd name="adj" fmla="val 5455"/>
            </a:avLst>
          </a:prstGeom>
          <a:solidFill>
            <a:srgbClr val="12294D"/>
          </a:solidFill>
          <a:ln w="15875">
            <a:solidFill>
              <a:srgbClr val="16A34A"/>
            </a:solidFill>
            <a:prstDash val="solid"/>
          </a:ln>
        </p:spPr>
      </p:sp>
      <p:sp>
        <p:nvSpPr>
          <p:cNvPr id="18" name="Text 16"/>
          <p:cNvSpPr/>
          <p:nvPr/>
        </p:nvSpPr>
        <p:spPr>
          <a:xfrm>
            <a:off x="9683496" y="2377440"/>
            <a:ext cx="1975104" cy="100584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Sigmoid</a:t>
            </a:r>
            <a:endParaRPr lang="en-US" sz="1150" dirty="0"/>
          </a:p>
          <a:p>
            <a:pPr algn="ctr" indent="0" marL="0">
              <a:buNone/>
            </a:pPr>
            <a:r>
              <a:rPr lang="en-US" sz="1150" b="1" dirty="0">
                <a:solidFill>
                  <a:srgbClr val="FFFFFF"/>
                </a:solidFill>
                <a:latin typeface="Arial" pitchFamily="34" charset="0"/>
                <a:ea typeface="Arial" pitchFamily="34" charset="-122"/>
                <a:cs typeface="Arial" pitchFamily="34" charset="-120"/>
              </a:rPr>
              <a:t>fraud prob</a:t>
            </a:r>
            <a:endParaRPr lang="en-US" sz="1150" dirty="0"/>
          </a:p>
        </p:txBody>
      </p:sp>
      <p:sp>
        <p:nvSpPr>
          <p:cNvPr id="19" name="Shape 17"/>
          <p:cNvSpPr/>
          <p:nvPr/>
        </p:nvSpPr>
        <p:spPr>
          <a:xfrm>
            <a:off x="548640" y="3840480"/>
            <a:ext cx="5394960" cy="1463040"/>
          </a:xfrm>
          <a:prstGeom prst="roundRect">
            <a:avLst>
              <a:gd name="adj" fmla="val 5000"/>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20" name="Shape 18"/>
          <p:cNvSpPr/>
          <p:nvPr/>
        </p:nvSpPr>
        <p:spPr>
          <a:xfrm>
            <a:off x="548640" y="3840480"/>
            <a:ext cx="73152" cy="1463040"/>
          </a:xfrm>
          <a:prstGeom prst="rect">
            <a:avLst/>
          </a:prstGeom>
          <a:solidFill>
            <a:srgbClr val="3B82F6"/>
          </a:solidFill>
          <a:ln/>
        </p:spPr>
      </p:sp>
      <p:sp>
        <p:nvSpPr>
          <p:cNvPr id="21" name="Text 19"/>
          <p:cNvSpPr/>
          <p:nvPr/>
        </p:nvSpPr>
        <p:spPr>
          <a:xfrm>
            <a:off x="731520" y="3950208"/>
            <a:ext cx="51206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Why this shape</a:t>
            </a:r>
            <a:endParaRPr lang="en-US" sz="1400" dirty="0"/>
          </a:p>
        </p:txBody>
      </p:sp>
      <p:sp>
        <p:nvSpPr>
          <p:cNvPr id="22" name="Text 20"/>
          <p:cNvSpPr/>
          <p:nvPr/>
        </p:nvSpPr>
        <p:spPr>
          <a:xfrm>
            <a:off x="731520" y="4297680"/>
            <a:ext cx="507492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LSTM captures sequence memory; dropout fights overfitting; the sigmoid gives a probability we can threshold.</a:t>
            </a:r>
            <a:endParaRPr lang="en-US" sz="1200" dirty="0"/>
          </a:p>
        </p:txBody>
      </p:sp>
      <p:sp>
        <p:nvSpPr>
          <p:cNvPr id="23" name="Shape 21"/>
          <p:cNvSpPr/>
          <p:nvPr/>
        </p:nvSpPr>
        <p:spPr>
          <a:xfrm>
            <a:off x="6217920" y="3840480"/>
            <a:ext cx="5394960" cy="1463040"/>
          </a:xfrm>
          <a:prstGeom prst="roundRect">
            <a:avLst>
              <a:gd name="adj" fmla="val 5000"/>
            </a:avLst>
          </a:prstGeom>
          <a:solidFill>
            <a:srgbClr val="12294D"/>
          </a:solidFill>
          <a:ln w="12700">
            <a:solidFill>
              <a:srgbClr val="F59E0B"/>
            </a:solidFill>
            <a:prstDash val="solid"/>
          </a:ln>
          <a:effectLst>
            <a:outerShdw sx="100000" sy="100000" kx="0" ky="0" algn="bl" rotWithShape="0" blurRad="76200" dist="25400" dir="5400000">
              <a:srgbClr val="000000">
                <a:alpha val="35000"/>
              </a:srgbClr>
            </a:outerShdw>
          </a:effectLst>
        </p:spPr>
      </p:sp>
      <p:sp>
        <p:nvSpPr>
          <p:cNvPr id="24" name="Shape 22"/>
          <p:cNvSpPr/>
          <p:nvPr/>
        </p:nvSpPr>
        <p:spPr>
          <a:xfrm>
            <a:off x="6217920" y="3840480"/>
            <a:ext cx="73152" cy="1463040"/>
          </a:xfrm>
          <a:prstGeom prst="rect">
            <a:avLst/>
          </a:prstGeom>
          <a:solidFill>
            <a:srgbClr val="F59E0B"/>
          </a:solidFill>
          <a:ln/>
        </p:spPr>
      </p:sp>
      <p:sp>
        <p:nvSpPr>
          <p:cNvPr id="25" name="Text 23"/>
          <p:cNvSpPr/>
          <p:nvPr/>
        </p:nvSpPr>
        <p:spPr>
          <a:xfrm>
            <a:off x="6400800" y="3950208"/>
            <a:ext cx="51206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Training choices</a:t>
            </a:r>
            <a:endParaRPr lang="en-US" sz="1400" dirty="0"/>
          </a:p>
        </p:txBody>
      </p:sp>
      <p:sp>
        <p:nvSpPr>
          <p:cNvPr id="26" name="Text 24"/>
          <p:cNvSpPr/>
          <p:nvPr/>
        </p:nvSpPr>
        <p:spPr>
          <a:xfrm>
            <a:off x="6400800" y="4297680"/>
            <a:ext cx="507492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Binary cross-entropy loss · Adam optimizer · CLASS WEIGHTS to handle rare fraud (heavy imbalance).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MODEL EVALUATION PLAN</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Recall matters most for fraud</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Shape 3"/>
          <p:cNvSpPr/>
          <p:nvPr/>
        </p:nvSpPr>
        <p:spPr>
          <a:xfrm>
            <a:off x="548640" y="1920240"/>
            <a:ext cx="3566160" cy="1280160"/>
          </a:xfrm>
          <a:prstGeom prst="roundRect">
            <a:avLst>
              <a:gd name="adj" fmla="val 5714"/>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6" name="Shape 4"/>
          <p:cNvSpPr/>
          <p:nvPr/>
        </p:nvSpPr>
        <p:spPr>
          <a:xfrm>
            <a:off x="548640" y="1920240"/>
            <a:ext cx="73152" cy="1280160"/>
          </a:xfrm>
          <a:prstGeom prst="rect">
            <a:avLst/>
          </a:prstGeom>
          <a:solidFill>
            <a:srgbClr val="3B82F6"/>
          </a:solidFill>
          <a:ln/>
        </p:spPr>
      </p:sp>
      <p:sp>
        <p:nvSpPr>
          <p:cNvPr id="7" name="Text 5"/>
          <p:cNvSpPr/>
          <p:nvPr/>
        </p:nvSpPr>
        <p:spPr>
          <a:xfrm>
            <a:off x="731520" y="20299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Accuracy</a:t>
            </a:r>
            <a:endParaRPr lang="en-US" sz="1400" dirty="0"/>
          </a:p>
        </p:txBody>
      </p:sp>
      <p:sp>
        <p:nvSpPr>
          <p:cNvPr id="8" name="Text 6"/>
          <p:cNvSpPr/>
          <p:nvPr/>
        </p:nvSpPr>
        <p:spPr>
          <a:xfrm>
            <a:off x="731520" y="2377440"/>
            <a:ext cx="3246120" cy="7315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Overall correctness (misleading when fraud is rare)</a:t>
            </a:r>
            <a:endParaRPr lang="en-US" sz="1200" dirty="0"/>
          </a:p>
        </p:txBody>
      </p:sp>
      <p:sp>
        <p:nvSpPr>
          <p:cNvPr id="9" name="Shape 7"/>
          <p:cNvSpPr/>
          <p:nvPr/>
        </p:nvSpPr>
        <p:spPr>
          <a:xfrm>
            <a:off x="4343400" y="1920240"/>
            <a:ext cx="3566160" cy="1280160"/>
          </a:xfrm>
          <a:prstGeom prst="roundRect">
            <a:avLst>
              <a:gd name="adj" fmla="val 5714"/>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10" name="Shape 8"/>
          <p:cNvSpPr/>
          <p:nvPr/>
        </p:nvSpPr>
        <p:spPr>
          <a:xfrm>
            <a:off x="4343400" y="1920240"/>
            <a:ext cx="73152" cy="1280160"/>
          </a:xfrm>
          <a:prstGeom prst="rect">
            <a:avLst/>
          </a:prstGeom>
          <a:solidFill>
            <a:srgbClr val="3B82F6"/>
          </a:solidFill>
          <a:ln/>
        </p:spPr>
      </p:sp>
      <p:sp>
        <p:nvSpPr>
          <p:cNvPr id="11" name="Text 9"/>
          <p:cNvSpPr/>
          <p:nvPr/>
        </p:nvSpPr>
        <p:spPr>
          <a:xfrm>
            <a:off x="4526280" y="20299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Precision</a:t>
            </a:r>
            <a:endParaRPr lang="en-US" sz="1400" dirty="0"/>
          </a:p>
        </p:txBody>
      </p:sp>
      <p:sp>
        <p:nvSpPr>
          <p:cNvPr id="12" name="Text 10"/>
          <p:cNvSpPr/>
          <p:nvPr/>
        </p:nvSpPr>
        <p:spPr>
          <a:xfrm>
            <a:off x="4526280" y="2377440"/>
            <a:ext cx="3246120" cy="7315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Of flagged frauds, how many were real</a:t>
            </a:r>
            <a:endParaRPr lang="en-US" sz="1200" dirty="0"/>
          </a:p>
        </p:txBody>
      </p:sp>
      <p:sp>
        <p:nvSpPr>
          <p:cNvPr id="13" name="Shape 11"/>
          <p:cNvSpPr/>
          <p:nvPr/>
        </p:nvSpPr>
        <p:spPr>
          <a:xfrm>
            <a:off x="8138160" y="1920240"/>
            <a:ext cx="3566160" cy="1280160"/>
          </a:xfrm>
          <a:prstGeom prst="roundRect">
            <a:avLst>
              <a:gd name="adj" fmla="val 5714"/>
            </a:avLst>
          </a:prstGeom>
          <a:solidFill>
            <a:srgbClr val="12294D"/>
          </a:solidFill>
          <a:ln w="12700">
            <a:solidFill>
              <a:srgbClr val="DC2626"/>
            </a:solidFill>
            <a:prstDash val="solid"/>
          </a:ln>
          <a:effectLst>
            <a:outerShdw sx="100000" sy="100000" kx="0" ky="0" algn="bl" rotWithShape="0" blurRad="76200" dist="25400" dir="5400000">
              <a:srgbClr val="000000">
                <a:alpha val="35000"/>
              </a:srgbClr>
            </a:outerShdw>
          </a:effectLst>
        </p:spPr>
      </p:sp>
      <p:sp>
        <p:nvSpPr>
          <p:cNvPr id="14" name="Shape 12"/>
          <p:cNvSpPr/>
          <p:nvPr/>
        </p:nvSpPr>
        <p:spPr>
          <a:xfrm>
            <a:off x="8138160" y="1920240"/>
            <a:ext cx="73152" cy="1280160"/>
          </a:xfrm>
          <a:prstGeom prst="rect">
            <a:avLst/>
          </a:prstGeom>
          <a:solidFill>
            <a:srgbClr val="DC2626"/>
          </a:solidFill>
          <a:ln/>
        </p:spPr>
      </p:sp>
      <p:sp>
        <p:nvSpPr>
          <p:cNvPr id="15" name="Text 13"/>
          <p:cNvSpPr/>
          <p:nvPr/>
        </p:nvSpPr>
        <p:spPr>
          <a:xfrm>
            <a:off x="8321040" y="20299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Recall</a:t>
            </a:r>
            <a:endParaRPr lang="en-US" sz="1400" dirty="0"/>
          </a:p>
        </p:txBody>
      </p:sp>
      <p:sp>
        <p:nvSpPr>
          <p:cNvPr id="16" name="Text 14"/>
          <p:cNvSpPr/>
          <p:nvPr/>
        </p:nvSpPr>
        <p:spPr>
          <a:xfrm>
            <a:off x="8321040" y="2377440"/>
            <a:ext cx="3246120" cy="7315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Of real frauds, how many we caught — KEY metric</a:t>
            </a:r>
            <a:endParaRPr lang="en-US" sz="1200" dirty="0"/>
          </a:p>
        </p:txBody>
      </p:sp>
      <p:sp>
        <p:nvSpPr>
          <p:cNvPr id="17" name="Shape 15"/>
          <p:cNvSpPr/>
          <p:nvPr/>
        </p:nvSpPr>
        <p:spPr>
          <a:xfrm>
            <a:off x="548640" y="3337560"/>
            <a:ext cx="3566160" cy="1280160"/>
          </a:xfrm>
          <a:prstGeom prst="roundRect">
            <a:avLst>
              <a:gd name="adj" fmla="val 5714"/>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18" name="Shape 16"/>
          <p:cNvSpPr/>
          <p:nvPr/>
        </p:nvSpPr>
        <p:spPr>
          <a:xfrm>
            <a:off x="548640" y="3337560"/>
            <a:ext cx="73152" cy="1280160"/>
          </a:xfrm>
          <a:prstGeom prst="rect">
            <a:avLst/>
          </a:prstGeom>
          <a:solidFill>
            <a:srgbClr val="3B82F6"/>
          </a:solidFill>
          <a:ln/>
        </p:spPr>
      </p:sp>
      <p:sp>
        <p:nvSpPr>
          <p:cNvPr id="19" name="Text 17"/>
          <p:cNvSpPr/>
          <p:nvPr/>
        </p:nvSpPr>
        <p:spPr>
          <a:xfrm>
            <a:off x="731520" y="344728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F1-score</a:t>
            </a:r>
            <a:endParaRPr lang="en-US" sz="1400" dirty="0"/>
          </a:p>
        </p:txBody>
      </p:sp>
      <p:sp>
        <p:nvSpPr>
          <p:cNvPr id="20" name="Text 18"/>
          <p:cNvSpPr/>
          <p:nvPr/>
        </p:nvSpPr>
        <p:spPr>
          <a:xfrm>
            <a:off x="731520" y="3794760"/>
            <a:ext cx="3246120" cy="7315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Balance of precision and recall</a:t>
            </a:r>
            <a:endParaRPr lang="en-US" sz="1200" dirty="0"/>
          </a:p>
        </p:txBody>
      </p:sp>
      <p:sp>
        <p:nvSpPr>
          <p:cNvPr id="21" name="Shape 19"/>
          <p:cNvSpPr/>
          <p:nvPr/>
        </p:nvSpPr>
        <p:spPr>
          <a:xfrm>
            <a:off x="4343400" y="3337560"/>
            <a:ext cx="3566160" cy="1280160"/>
          </a:xfrm>
          <a:prstGeom prst="roundRect">
            <a:avLst>
              <a:gd name="adj" fmla="val 5714"/>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22" name="Shape 20"/>
          <p:cNvSpPr/>
          <p:nvPr/>
        </p:nvSpPr>
        <p:spPr>
          <a:xfrm>
            <a:off x="4343400" y="3337560"/>
            <a:ext cx="73152" cy="1280160"/>
          </a:xfrm>
          <a:prstGeom prst="rect">
            <a:avLst/>
          </a:prstGeom>
          <a:solidFill>
            <a:srgbClr val="3B82F6"/>
          </a:solidFill>
          <a:ln/>
        </p:spPr>
      </p:sp>
      <p:sp>
        <p:nvSpPr>
          <p:cNvPr id="23" name="Text 21"/>
          <p:cNvSpPr/>
          <p:nvPr/>
        </p:nvSpPr>
        <p:spPr>
          <a:xfrm>
            <a:off x="4526280" y="344728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ROC-AUC</a:t>
            </a:r>
            <a:endParaRPr lang="en-US" sz="1400" dirty="0"/>
          </a:p>
        </p:txBody>
      </p:sp>
      <p:sp>
        <p:nvSpPr>
          <p:cNvPr id="24" name="Text 22"/>
          <p:cNvSpPr/>
          <p:nvPr/>
        </p:nvSpPr>
        <p:spPr>
          <a:xfrm>
            <a:off x="4526280" y="3794760"/>
            <a:ext cx="3246120" cy="7315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Ranking quality across thresholds</a:t>
            </a:r>
            <a:endParaRPr lang="en-US" sz="1200" dirty="0"/>
          </a:p>
        </p:txBody>
      </p:sp>
      <p:sp>
        <p:nvSpPr>
          <p:cNvPr id="25" name="Shape 23"/>
          <p:cNvSpPr/>
          <p:nvPr/>
        </p:nvSpPr>
        <p:spPr>
          <a:xfrm>
            <a:off x="8138160" y="3337560"/>
            <a:ext cx="3566160" cy="1280160"/>
          </a:xfrm>
          <a:prstGeom prst="roundRect">
            <a:avLst>
              <a:gd name="adj" fmla="val 5714"/>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26" name="Shape 24"/>
          <p:cNvSpPr/>
          <p:nvPr/>
        </p:nvSpPr>
        <p:spPr>
          <a:xfrm>
            <a:off x="8138160" y="3337560"/>
            <a:ext cx="73152" cy="1280160"/>
          </a:xfrm>
          <a:prstGeom prst="rect">
            <a:avLst/>
          </a:prstGeom>
          <a:solidFill>
            <a:srgbClr val="3B82F6"/>
          </a:solidFill>
          <a:ln/>
        </p:spPr>
      </p:sp>
      <p:sp>
        <p:nvSpPr>
          <p:cNvPr id="27" name="Text 25"/>
          <p:cNvSpPr/>
          <p:nvPr/>
        </p:nvSpPr>
        <p:spPr>
          <a:xfrm>
            <a:off x="8321040" y="344728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PR-AUC</a:t>
            </a:r>
            <a:endParaRPr lang="en-US" sz="1400" dirty="0"/>
          </a:p>
        </p:txBody>
      </p:sp>
      <p:sp>
        <p:nvSpPr>
          <p:cNvPr id="28" name="Text 26"/>
          <p:cNvSpPr/>
          <p:nvPr/>
        </p:nvSpPr>
        <p:spPr>
          <a:xfrm>
            <a:off x="8321040" y="3794760"/>
            <a:ext cx="3246120" cy="7315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Best metric for the rare fraud class</a:t>
            </a:r>
            <a:endParaRPr lang="en-US" sz="1200" dirty="0"/>
          </a:p>
        </p:txBody>
      </p:sp>
      <p:sp>
        <p:nvSpPr>
          <p:cNvPr id="29" name="Text 27"/>
          <p:cNvSpPr/>
          <p:nvPr/>
        </p:nvSpPr>
        <p:spPr>
          <a:xfrm>
            <a:off x="548640" y="5029200"/>
            <a:ext cx="11064240" cy="457200"/>
          </a:xfrm>
          <a:prstGeom prst="rect">
            <a:avLst/>
          </a:prstGeom>
          <a:noFill/>
          <a:ln/>
        </p:spPr>
        <p:txBody>
          <a:bodyPr wrap="square" rtlCol="0" anchor="ctr"/>
          <a:lstStyle/>
          <a:p>
            <a:pPr indent="0" marL="0">
              <a:buNone/>
            </a:pPr>
            <a:r>
              <a:rPr lang="en-US" sz="1300" i="1" dirty="0">
                <a:solidFill>
                  <a:srgbClr val="F59E0B"/>
                </a:solidFill>
                <a:latin typeface="Arial" pitchFamily="34" charset="0"/>
                <a:ea typeface="Arial" pitchFamily="34" charset="-122"/>
                <a:cs typeface="Arial" pitchFamily="34" charset="-120"/>
              </a:rPr>
              <a:t>Plus a confusion matrix — and we report 'Update after running on real dataset' until trained on real PaySim.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FRAUDSHIELD AI DASHBOARD</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Ten analyst-ready pages, one product</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Shape 3"/>
          <p:cNvSpPr/>
          <p:nvPr/>
        </p:nvSpPr>
        <p:spPr>
          <a:xfrm>
            <a:off x="548640" y="1828800"/>
            <a:ext cx="5440680" cy="676656"/>
          </a:xfrm>
          <a:prstGeom prst="roundRect">
            <a:avLst>
              <a:gd name="adj" fmla="val 10811"/>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6" name="Shape 4"/>
          <p:cNvSpPr/>
          <p:nvPr/>
        </p:nvSpPr>
        <p:spPr>
          <a:xfrm>
            <a:off x="548640" y="1828800"/>
            <a:ext cx="73152" cy="676656"/>
          </a:xfrm>
          <a:prstGeom prst="rect">
            <a:avLst/>
          </a:prstGeom>
          <a:solidFill>
            <a:srgbClr val="3B82F6"/>
          </a:solidFill>
          <a:ln/>
        </p:spPr>
      </p:sp>
      <p:sp>
        <p:nvSpPr>
          <p:cNvPr id="7" name="Text 5"/>
          <p:cNvSpPr/>
          <p:nvPr/>
        </p:nvSpPr>
        <p:spPr>
          <a:xfrm>
            <a:off x="731520" y="1938528"/>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1.  Executive Overview</a:t>
            </a:r>
            <a:endParaRPr lang="en-US" sz="1400" dirty="0"/>
          </a:p>
        </p:txBody>
      </p:sp>
      <p:sp>
        <p:nvSpPr>
          <p:cNvPr id="8" name="Shape 6"/>
          <p:cNvSpPr/>
          <p:nvPr/>
        </p:nvSpPr>
        <p:spPr>
          <a:xfrm>
            <a:off x="6217920" y="1828800"/>
            <a:ext cx="5440680" cy="676656"/>
          </a:xfrm>
          <a:prstGeom prst="roundRect">
            <a:avLst>
              <a:gd name="adj" fmla="val 10811"/>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9" name="Shape 7"/>
          <p:cNvSpPr/>
          <p:nvPr/>
        </p:nvSpPr>
        <p:spPr>
          <a:xfrm>
            <a:off x="6217920" y="1828800"/>
            <a:ext cx="73152" cy="676656"/>
          </a:xfrm>
          <a:prstGeom prst="rect">
            <a:avLst/>
          </a:prstGeom>
          <a:solidFill>
            <a:srgbClr val="38BDF8"/>
          </a:solidFill>
          <a:ln/>
        </p:spPr>
      </p:sp>
      <p:sp>
        <p:nvSpPr>
          <p:cNvPr id="10" name="Text 8"/>
          <p:cNvSpPr/>
          <p:nvPr/>
        </p:nvSpPr>
        <p:spPr>
          <a:xfrm>
            <a:off x="6400800" y="1938528"/>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2.  Dataset Explorer</a:t>
            </a:r>
            <a:endParaRPr lang="en-US" sz="1400" dirty="0"/>
          </a:p>
        </p:txBody>
      </p:sp>
      <p:sp>
        <p:nvSpPr>
          <p:cNvPr id="11" name="Shape 9"/>
          <p:cNvSpPr/>
          <p:nvPr/>
        </p:nvSpPr>
        <p:spPr>
          <a:xfrm>
            <a:off x="548640" y="2615184"/>
            <a:ext cx="5440680" cy="676656"/>
          </a:xfrm>
          <a:prstGeom prst="roundRect">
            <a:avLst>
              <a:gd name="adj" fmla="val 10811"/>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12" name="Shape 10"/>
          <p:cNvSpPr/>
          <p:nvPr/>
        </p:nvSpPr>
        <p:spPr>
          <a:xfrm>
            <a:off x="548640" y="2615184"/>
            <a:ext cx="73152" cy="676656"/>
          </a:xfrm>
          <a:prstGeom prst="rect">
            <a:avLst/>
          </a:prstGeom>
          <a:solidFill>
            <a:srgbClr val="3B82F6"/>
          </a:solidFill>
          <a:ln/>
        </p:spPr>
      </p:sp>
      <p:sp>
        <p:nvSpPr>
          <p:cNvPr id="13" name="Text 11"/>
          <p:cNvSpPr/>
          <p:nvPr/>
        </p:nvSpPr>
        <p:spPr>
          <a:xfrm>
            <a:off x="731520" y="2724912"/>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3.  Fraud Risk Scoring</a:t>
            </a:r>
            <a:endParaRPr lang="en-US" sz="1400" dirty="0"/>
          </a:p>
        </p:txBody>
      </p:sp>
      <p:sp>
        <p:nvSpPr>
          <p:cNvPr id="14" name="Shape 12"/>
          <p:cNvSpPr/>
          <p:nvPr/>
        </p:nvSpPr>
        <p:spPr>
          <a:xfrm>
            <a:off x="6217920" y="2615184"/>
            <a:ext cx="5440680" cy="676656"/>
          </a:xfrm>
          <a:prstGeom prst="roundRect">
            <a:avLst>
              <a:gd name="adj" fmla="val 10811"/>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15" name="Shape 13"/>
          <p:cNvSpPr/>
          <p:nvPr/>
        </p:nvSpPr>
        <p:spPr>
          <a:xfrm>
            <a:off x="6217920" y="2615184"/>
            <a:ext cx="73152" cy="676656"/>
          </a:xfrm>
          <a:prstGeom prst="rect">
            <a:avLst/>
          </a:prstGeom>
          <a:solidFill>
            <a:srgbClr val="38BDF8"/>
          </a:solidFill>
          <a:ln/>
        </p:spPr>
      </p:sp>
      <p:sp>
        <p:nvSpPr>
          <p:cNvPr id="16" name="Text 14"/>
          <p:cNvSpPr/>
          <p:nvPr/>
        </p:nvSpPr>
        <p:spPr>
          <a:xfrm>
            <a:off x="6400800" y="2724912"/>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4.  Customer Sequence Analyzer</a:t>
            </a:r>
            <a:endParaRPr lang="en-US" sz="1400" dirty="0"/>
          </a:p>
        </p:txBody>
      </p:sp>
      <p:sp>
        <p:nvSpPr>
          <p:cNvPr id="17" name="Shape 15"/>
          <p:cNvSpPr/>
          <p:nvPr/>
        </p:nvSpPr>
        <p:spPr>
          <a:xfrm>
            <a:off x="548640" y="3401568"/>
            <a:ext cx="5440680" cy="676656"/>
          </a:xfrm>
          <a:prstGeom prst="roundRect">
            <a:avLst>
              <a:gd name="adj" fmla="val 10811"/>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18" name="Shape 16"/>
          <p:cNvSpPr/>
          <p:nvPr/>
        </p:nvSpPr>
        <p:spPr>
          <a:xfrm>
            <a:off x="548640" y="3401568"/>
            <a:ext cx="73152" cy="676656"/>
          </a:xfrm>
          <a:prstGeom prst="rect">
            <a:avLst/>
          </a:prstGeom>
          <a:solidFill>
            <a:srgbClr val="3B82F6"/>
          </a:solidFill>
          <a:ln/>
        </p:spPr>
      </p:sp>
      <p:sp>
        <p:nvSpPr>
          <p:cNvPr id="19" name="Text 17"/>
          <p:cNvSpPr/>
          <p:nvPr/>
        </p:nvSpPr>
        <p:spPr>
          <a:xfrm>
            <a:off x="731520" y="3511296"/>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5.  Fraud Pattern Insights</a:t>
            </a:r>
            <a:endParaRPr lang="en-US" sz="1400" dirty="0"/>
          </a:p>
        </p:txBody>
      </p:sp>
      <p:sp>
        <p:nvSpPr>
          <p:cNvPr id="20" name="Shape 18"/>
          <p:cNvSpPr/>
          <p:nvPr/>
        </p:nvSpPr>
        <p:spPr>
          <a:xfrm>
            <a:off x="6217920" y="3401568"/>
            <a:ext cx="5440680" cy="676656"/>
          </a:xfrm>
          <a:prstGeom prst="roundRect">
            <a:avLst>
              <a:gd name="adj" fmla="val 10811"/>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21" name="Shape 19"/>
          <p:cNvSpPr/>
          <p:nvPr/>
        </p:nvSpPr>
        <p:spPr>
          <a:xfrm>
            <a:off x="6217920" y="3401568"/>
            <a:ext cx="73152" cy="676656"/>
          </a:xfrm>
          <a:prstGeom prst="rect">
            <a:avLst/>
          </a:prstGeom>
          <a:solidFill>
            <a:srgbClr val="38BDF8"/>
          </a:solidFill>
          <a:ln/>
        </p:spPr>
      </p:sp>
      <p:sp>
        <p:nvSpPr>
          <p:cNvPr id="22" name="Text 20"/>
          <p:cNvSpPr/>
          <p:nvPr/>
        </p:nvSpPr>
        <p:spPr>
          <a:xfrm>
            <a:off x="6400800" y="3511296"/>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6.  Model Performance</a:t>
            </a:r>
            <a:endParaRPr lang="en-US" sz="1400" dirty="0"/>
          </a:p>
        </p:txBody>
      </p:sp>
      <p:sp>
        <p:nvSpPr>
          <p:cNvPr id="23" name="Shape 21"/>
          <p:cNvSpPr/>
          <p:nvPr/>
        </p:nvSpPr>
        <p:spPr>
          <a:xfrm>
            <a:off x="548640" y="4187952"/>
            <a:ext cx="5440680" cy="676656"/>
          </a:xfrm>
          <a:prstGeom prst="roundRect">
            <a:avLst>
              <a:gd name="adj" fmla="val 10811"/>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24" name="Shape 22"/>
          <p:cNvSpPr/>
          <p:nvPr/>
        </p:nvSpPr>
        <p:spPr>
          <a:xfrm>
            <a:off x="548640" y="4187952"/>
            <a:ext cx="73152" cy="676656"/>
          </a:xfrm>
          <a:prstGeom prst="rect">
            <a:avLst/>
          </a:prstGeom>
          <a:solidFill>
            <a:srgbClr val="3B82F6"/>
          </a:solidFill>
          <a:ln/>
        </p:spPr>
      </p:sp>
      <p:sp>
        <p:nvSpPr>
          <p:cNvPr id="25" name="Text 23"/>
          <p:cNvSpPr/>
          <p:nvPr/>
        </p:nvSpPr>
        <p:spPr>
          <a:xfrm>
            <a:off x="731520" y="4297680"/>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7.  Explainability Panel</a:t>
            </a:r>
            <a:endParaRPr lang="en-US" sz="1400" dirty="0"/>
          </a:p>
        </p:txBody>
      </p:sp>
      <p:sp>
        <p:nvSpPr>
          <p:cNvPr id="26" name="Shape 24"/>
          <p:cNvSpPr/>
          <p:nvPr/>
        </p:nvSpPr>
        <p:spPr>
          <a:xfrm>
            <a:off x="6217920" y="4187952"/>
            <a:ext cx="5440680" cy="676656"/>
          </a:xfrm>
          <a:prstGeom prst="roundRect">
            <a:avLst>
              <a:gd name="adj" fmla="val 10811"/>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27" name="Shape 25"/>
          <p:cNvSpPr/>
          <p:nvPr/>
        </p:nvSpPr>
        <p:spPr>
          <a:xfrm>
            <a:off x="6217920" y="4187952"/>
            <a:ext cx="73152" cy="676656"/>
          </a:xfrm>
          <a:prstGeom prst="rect">
            <a:avLst/>
          </a:prstGeom>
          <a:solidFill>
            <a:srgbClr val="38BDF8"/>
          </a:solidFill>
          <a:ln/>
        </p:spPr>
      </p:sp>
      <p:sp>
        <p:nvSpPr>
          <p:cNvPr id="28" name="Text 26"/>
          <p:cNvSpPr/>
          <p:nvPr/>
        </p:nvSpPr>
        <p:spPr>
          <a:xfrm>
            <a:off x="6400800" y="4297680"/>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8.  Alert Center</a:t>
            </a:r>
            <a:endParaRPr lang="en-US" sz="1400" dirty="0"/>
          </a:p>
        </p:txBody>
      </p:sp>
      <p:sp>
        <p:nvSpPr>
          <p:cNvPr id="29" name="Shape 27"/>
          <p:cNvSpPr/>
          <p:nvPr/>
        </p:nvSpPr>
        <p:spPr>
          <a:xfrm>
            <a:off x="548640" y="4974336"/>
            <a:ext cx="5440680" cy="676656"/>
          </a:xfrm>
          <a:prstGeom prst="roundRect">
            <a:avLst>
              <a:gd name="adj" fmla="val 10811"/>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30" name="Shape 28"/>
          <p:cNvSpPr/>
          <p:nvPr/>
        </p:nvSpPr>
        <p:spPr>
          <a:xfrm>
            <a:off x="548640" y="4974336"/>
            <a:ext cx="73152" cy="676656"/>
          </a:xfrm>
          <a:prstGeom prst="rect">
            <a:avLst/>
          </a:prstGeom>
          <a:solidFill>
            <a:srgbClr val="3B82F6"/>
          </a:solidFill>
          <a:ln/>
        </p:spPr>
      </p:sp>
      <p:sp>
        <p:nvSpPr>
          <p:cNvPr id="31" name="Text 29"/>
          <p:cNvSpPr/>
          <p:nvPr/>
        </p:nvSpPr>
        <p:spPr>
          <a:xfrm>
            <a:off x="731520" y="5084064"/>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9.  Business Impact Simulator</a:t>
            </a:r>
            <a:endParaRPr lang="en-US" sz="1400" dirty="0"/>
          </a:p>
        </p:txBody>
      </p:sp>
      <p:sp>
        <p:nvSpPr>
          <p:cNvPr id="32" name="Shape 30"/>
          <p:cNvSpPr/>
          <p:nvPr/>
        </p:nvSpPr>
        <p:spPr>
          <a:xfrm>
            <a:off x="6217920" y="4974336"/>
            <a:ext cx="5440680" cy="676656"/>
          </a:xfrm>
          <a:prstGeom prst="roundRect">
            <a:avLst>
              <a:gd name="adj" fmla="val 10811"/>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33" name="Shape 31"/>
          <p:cNvSpPr/>
          <p:nvPr/>
        </p:nvSpPr>
        <p:spPr>
          <a:xfrm>
            <a:off x="6217920" y="4974336"/>
            <a:ext cx="73152" cy="676656"/>
          </a:xfrm>
          <a:prstGeom prst="rect">
            <a:avLst/>
          </a:prstGeom>
          <a:solidFill>
            <a:srgbClr val="38BDF8"/>
          </a:solidFill>
          <a:ln/>
        </p:spPr>
      </p:sp>
      <p:sp>
        <p:nvSpPr>
          <p:cNvPr id="34" name="Text 32"/>
          <p:cNvSpPr/>
          <p:nvPr/>
        </p:nvSpPr>
        <p:spPr>
          <a:xfrm>
            <a:off x="6400800" y="5084064"/>
            <a:ext cx="51663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10.  Recommendations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BUSINESS IMPACT</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From a model score to measurable value</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Shape 3"/>
          <p:cNvSpPr/>
          <p:nvPr/>
        </p:nvSpPr>
        <p:spPr>
          <a:xfrm>
            <a:off x="548640" y="1920240"/>
            <a:ext cx="3566160" cy="1463040"/>
          </a:xfrm>
          <a:prstGeom prst="roundRect">
            <a:avLst>
              <a:gd name="adj" fmla="val 5000"/>
            </a:avLst>
          </a:prstGeom>
          <a:solidFill>
            <a:srgbClr val="12294D"/>
          </a:solidFill>
          <a:ln w="12700">
            <a:solidFill>
              <a:srgbClr val="16A34A"/>
            </a:solidFill>
            <a:prstDash val="solid"/>
          </a:ln>
          <a:effectLst>
            <a:outerShdw sx="100000" sy="100000" kx="0" ky="0" algn="bl" rotWithShape="0" blurRad="76200" dist="25400" dir="5400000">
              <a:srgbClr val="000000">
                <a:alpha val="35000"/>
              </a:srgbClr>
            </a:outerShdw>
          </a:effectLst>
        </p:spPr>
      </p:sp>
      <p:sp>
        <p:nvSpPr>
          <p:cNvPr id="6" name="Shape 4"/>
          <p:cNvSpPr/>
          <p:nvPr/>
        </p:nvSpPr>
        <p:spPr>
          <a:xfrm>
            <a:off x="548640" y="1920240"/>
            <a:ext cx="73152" cy="1463040"/>
          </a:xfrm>
          <a:prstGeom prst="rect">
            <a:avLst/>
          </a:prstGeom>
          <a:solidFill>
            <a:srgbClr val="16A34A"/>
          </a:solidFill>
          <a:ln/>
        </p:spPr>
      </p:sp>
      <p:sp>
        <p:nvSpPr>
          <p:cNvPr id="7" name="Text 5"/>
          <p:cNvSpPr/>
          <p:nvPr/>
        </p:nvSpPr>
        <p:spPr>
          <a:xfrm>
            <a:off x="731520" y="20299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Reduce fraud loss</a:t>
            </a:r>
            <a:endParaRPr lang="en-US" sz="1400" dirty="0"/>
          </a:p>
        </p:txBody>
      </p:sp>
      <p:sp>
        <p:nvSpPr>
          <p:cNvPr id="8" name="Text 6"/>
          <p:cNvSpPr/>
          <p:nvPr/>
        </p:nvSpPr>
        <p:spPr>
          <a:xfrm>
            <a:off x="731520" y="2377440"/>
            <a:ext cx="324612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Stop money leaving before approval.</a:t>
            </a:r>
            <a:endParaRPr lang="en-US" sz="1200" dirty="0"/>
          </a:p>
        </p:txBody>
      </p:sp>
      <p:sp>
        <p:nvSpPr>
          <p:cNvPr id="9" name="Shape 7"/>
          <p:cNvSpPr/>
          <p:nvPr/>
        </p:nvSpPr>
        <p:spPr>
          <a:xfrm>
            <a:off x="4343400" y="1920240"/>
            <a:ext cx="3566160" cy="1463040"/>
          </a:xfrm>
          <a:prstGeom prst="roundRect">
            <a:avLst>
              <a:gd name="adj" fmla="val 5000"/>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10" name="Shape 8"/>
          <p:cNvSpPr/>
          <p:nvPr/>
        </p:nvSpPr>
        <p:spPr>
          <a:xfrm>
            <a:off x="4343400" y="1920240"/>
            <a:ext cx="73152" cy="1463040"/>
          </a:xfrm>
          <a:prstGeom prst="rect">
            <a:avLst/>
          </a:prstGeom>
          <a:solidFill>
            <a:srgbClr val="38BDF8"/>
          </a:solidFill>
          <a:ln/>
        </p:spPr>
      </p:sp>
      <p:sp>
        <p:nvSpPr>
          <p:cNvPr id="11" name="Text 9"/>
          <p:cNvSpPr/>
          <p:nvPr/>
        </p:nvSpPr>
        <p:spPr>
          <a:xfrm>
            <a:off x="4526280" y="20299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Detect early</a:t>
            </a:r>
            <a:endParaRPr lang="en-US" sz="1400" dirty="0"/>
          </a:p>
        </p:txBody>
      </p:sp>
      <p:sp>
        <p:nvSpPr>
          <p:cNvPr id="12" name="Text 10"/>
          <p:cNvSpPr/>
          <p:nvPr/>
        </p:nvSpPr>
        <p:spPr>
          <a:xfrm>
            <a:off x="4526280" y="2377440"/>
            <a:ext cx="324612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Catch suspicious behaviour as it builds.</a:t>
            </a:r>
            <a:endParaRPr lang="en-US" sz="1200" dirty="0"/>
          </a:p>
        </p:txBody>
      </p:sp>
      <p:sp>
        <p:nvSpPr>
          <p:cNvPr id="13" name="Shape 11"/>
          <p:cNvSpPr/>
          <p:nvPr/>
        </p:nvSpPr>
        <p:spPr>
          <a:xfrm>
            <a:off x="8138160" y="1920240"/>
            <a:ext cx="3566160" cy="1463040"/>
          </a:xfrm>
          <a:prstGeom prst="roundRect">
            <a:avLst>
              <a:gd name="adj" fmla="val 5000"/>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14" name="Shape 12"/>
          <p:cNvSpPr/>
          <p:nvPr/>
        </p:nvSpPr>
        <p:spPr>
          <a:xfrm>
            <a:off x="8138160" y="1920240"/>
            <a:ext cx="73152" cy="1463040"/>
          </a:xfrm>
          <a:prstGeom prst="rect">
            <a:avLst/>
          </a:prstGeom>
          <a:solidFill>
            <a:srgbClr val="3B82F6"/>
          </a:solidFill>
          <a:ln/>
        </p:spPr>
      </p:sp>
      <p:sp>
        <p:nvSpPr>
          <p:cNvPr id="15" name="Text 13"/>
          <p:cNvSpPr/>
          <p:nvPr/>
        </p:nvSpPr>
        <p:spPr>
          <a:xfrm>
            <a:off x="8321040" y="20299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Less manual work</a:t>
            </a:r>
            <a:endParaRPr lang="en-US" sz="1400" dirty="0"/>
          </a:p>
        </p:txBody>
      </p:sp>
      <p:sp>
        <p:nvSpPr>
          <p:cNvPr id="16" name="Text 14"/>
          <p:cNvSpPr/>
          <p:nvPr/>
        </p:nvSpPr>
        <p:spPr>
          <a:xfrm>
            <a:off x="8321040" y="2377440"/>
            <a:ext cx="324612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Auto-approve low risk; focus analysts on high risk.</a:t>
            </a:r>
            <a:endParaRPr lang="en-US" sz="1200" dirty="0"/>
          </a:p>
        </p:txBody>
      </p:sp>
      <p:sp>
        <p:nvSpPr>
          <p:cNvPr id="17" name="Shape 15"/>
          <p:cNvSpPr/>
          <p:nvPr/>
        </p:nvSpPr>
        <p:spPr>
          <a:xfrm>
            <a:off x="548640" y="3520440"/>
            <a:ext cx="3566160" cy="1463040"/>
          </a:xfrm>
          <a:prstGeom prst="roundRect">
            <a:avLst>
              <a:gd name="adj" fmla="val 5000"/>
            </a:avLst>
          </a:prstGeom>
          <a:solidFill>
            <a:srgbClr val="12294D"/>
          </a:solidFill>
          <a:ln w="12700">
            <a:solidFill>
              <a:srgbClr val="F59E0B"/>
            </a:solidFill>
            <a:prstDash val="solid"/>
          </a:ln>
          <a:effectLst>
            <a:outerShdw sx="100000" sy="100000" kx="0" ky="0" algn="bl" rotWithShape="0" blurRad="76200" dist="25400" dir="5400000">
              <a:srgbClr val="000000">
                <a:alpha val="35000"/>
              </a:srgbClr>
            </a:outerShdw>
          </a:effectLst>
        </p:spPr>
      </p:sp>
      <p:sp>
        <p:nvSpPr>
          <p:cNvPr id="18" name="Shape 16"/>
          <p:cNvSpPr/>
          <p:nvPr/>
        </p:nvSpPr>
        <p:spPr>
          <a:xfrm>
            <a:off x="548640" y="3520440"/>
            <a:ext cx="73152" cy="1463040"/>
          </a:xfrm>
          <a:prstGeom prst="rect">
            <a:avLst/>
          </a:prstGeom>
          <a:solidFill>
            <a:srgbClr val="F59E0B"/>
          </a:solidFill>
          <a:ln/>
        </p:spPr>
      </p:sp>
      <p:sp>
        <p:nvSpPr>
          <p:cNvPr id="19" name="Text 17"/>
          <p:cNvSpPr/>
          <p:nvPr/>
        </p:nvSpPr>
        <p:spPr>
          <a:xfrm>
            <a:off x="731520" y="36301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Improve trust</a:t>
            </a:r>
            <a:endParaRPr lang="en-US" sz="1400" dirty="0"/>
          </a:p>
        </p:txBody>
      </p:sp>
      <p:sp>
        <p:nvSpPr>
          <p:cNvPr id="20" name="Text 18"/>
          <p:cNvSpPr/>
          <p:nvPr/>
        </p:nvSpPr>
        <p:spPr>
          <a:xfrm>
            <a:off x="731520" y="3977640"/>
            <a:ext cx="324612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Fewer false alarms for genuine customers.</a:t>
            </a:r>
            <a:endParaRPr lang="en-US" sz="1200" dirty="0"/>
          </a:p>
        </p:txBody>
      </p:sp>
      <p:sp>
        <p:nvSpPr>
          <p:cNvPr id="21" name="Shape 19"/>
          <p:cNvSpPr/>
          <p:nvPr/>
        </p:nvSpPr>
        <p:spPr>
          <a:xfrm>
            <a:off x="4343400" y="3520440"/>
            <a:ext cx="3566160" cy="1463040"/>
          </a:xfrm>
          <a:prstGeom prst="roundRect">
            <a:avLst>
              <a:gd name="adj" fmla="val 5000"/>
            </a:avLst>
          </a:prstGeom>
          <a:solidFill>
            <a:srgbClr val="12294D"/>
          </a:solidFill>
          <a:ln w="12700">
            <a:solidFill>
              <a:srgbClr val="2563EB"/>
            </a:solidFill>
            <a:prstDash val="solid"/>
          </a:ln>
          <a:effectLst>
            <a:outerShdw sx="100000" sy="100000" kx="0" ky="0" algn="bl" rotWithShape="0" blurRad="76200" dist="25400" dir="5400000">
              <a:srgbClr val="000000">
                <a:alpha val="35000"/>
              </a:srgbClr>
            </a:outerShdw>
          </a:effectLst>
        </p:spPr>
      </p:sp>
      <p:sp>
        <p:nvSpPr>
          <p:cNvPr id="22" name="Shape 20"/>
          <p:cNvSpPr/>
          <p:nvPr/>
        </p:nvSpPr>
        <p:spPr>
          <a:xfrm>
            <a:off x="4343400" y="3520440"/>
            <a:ext cx="73152" cy="1463040"/>
          </a:xfrm>
          <a:prstGeom prst="rect">
            <a:avLst/>
          </a:prstGeom>
          <a:solidFill>
            <a:srgbClr val="2563EB"/>
          </a:solidFill>
          <a:ln/>
        </p:spPr>
      </p:sp>
      <p:sp>
        <p:nvSpPr>
          <p:cNvPr id="23" name="Text 21"/>
          <p:cNvSpPr/>
          <p:nvPr/>
        </p:nvSpPr>
        <p:spPr>
          <a:xfrm>
            <a:off x="4526280" y="363016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Prioritise risk</a:t>
            </a:r>
            <a:endParaRPr lang="en-US" sz="1400" dirty="0"/>
          </a:p>
        </p:txBody>
      </p:sp>
      <p:sp>
        <p:nvSpPr>
          <p:cNvPr id="24" name="Text 22"/>
          <p:cNvSpPr/>
          <p:nvPr/>
        </p:nvSpPr>
        <p:spPr>
          <a:xfrm>
            <a:off x="4526280" y="3977640"/>
            <a:ext cx="324612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Rank transactions so the worst are handled first.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LIMITATIONS &amp; ETHICS</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Honest about what this is — and is not</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Text 3"/>
          <p:cNvSpPr/>
          <p:nvPr/>
        </p:nvSpPr>
        <p:spPr>
          <a:xfrm>
            <a:off x="640080" y="1920240"/>
            <a:ext cx="5669280" cy="4206240"/>
          </a:xfrm>
          <a:prstGeom prst="rect">
            <a:avLst/>
          </a:prstGeom>
          <a:noFill/>
          <a:ln/>
        </p:spPr>
        <p:txBody>
          <a:bodyPr wrap="square" rtlCol="0" anchor="t"/>
          <a:lstStyle/>
          <a:p>
            <a:pPr marL="228600" indent="-228600">
              <a:spcAft>
                <a:spcPts val="1000"/>
              </a:spcAft>
              <a:buSzPct val="100000"/>
              <a:buChar char="•"/>
            </a:pPr>
            <a:r>
              <a:rPr lang="en-US" sz="1800" dirty="0">
                <a:solidFill>
                  <a:srgbClr val="E2E8F0"/>
                </a:solidFill>
                <a:latin typeface="Arial" pitchFamily="34" charset="0"/>
                <a:ea typeface="Arial" pitchFamily="34" charset="-122"/>
                <a:cs typeface="Arial" pitchFamily="34" charset="-120"/>
              </a:rPr>
              <a:t>PaySim is synthetic — not real customer data</a:t>
            </a:r>
            <a:endParaRPr lang="en-US" sz="1800" dirty="0"/>
          </a:p>
          <a:p>
            <a:pPr marL="228600" indent="-228600">
              <a:spcAft>
                <a:spcPts val="1000"/>
              </a:spcAft>
              <a:buSzPct val="100000"/>
              <a:buChar char="•"/>
            </a:pPr>
            <a:r>
              <a:rPr lang="en-US" sz="1800" dirty="0">
                <a:solidFill>
                  <a:srgbClr val="E2E8F0"/>
                </a:solidFill>
                <a:latin typeface="Arial" pitchFamily="34" charset="0"/>
                <a:ea typeface="Arial" pitchFamily="34" charset="-122"/>
                <a:cs typeface="Arial" pitchFamily="34" charset="-120"/>
              </a:rPr>
              <a:t>Real bank data is private and hard to obtain</a:t>
            </a:r>
            <a:endParaRPr lang="en-US" sz="1800" dirty="0"/>
          </a:p>
          <a:p>
            <a:pPr marL="228600" indent="-228600">
              <a:spcAft>
                <a:spcPts val="1000"/>
              </a:spcAft>
              <a:buSzPct val="100000"/>
              <a:buChar char="•"/>
            </a:pPr>
            <a:r>
              <a:rPr lang="en-US" sz="1800" dirty="0">
                <a:solidFill>
                  <a:srgbClr val="E2E8F0"/>
                </a:solidFill>
                <a:latin typeface="Arial" pitchFamily="34" charset="0"/>
                <a:ea typeface="Arial" pitchFamily="34" charset="-122"/>
                <a:cs typeface="Arial" pitchFamily="34" charset="-120"/>
              </a:rPr>
              <a:t>Fraud patterns change over time (model drift)</a:t>
            </a:r>
            <a:endParaRPr lang="en-US" sz="1800" dirty="0"/>
          </a:p>
          <a:p>
            <a:pPr marL="228600" indent="-228600">
              <a:spcAft>
                <a:spcPts val="1000"/>
              </a:spcAft>
              <a:buSzPct val="100000"/>
              <a:buChar char="•"/>
            </a:pPr>
            <a:r>
              <a:rPr lang="en-US" sz="1800" dirty="0">
                <a:solidFill>
                  <a:srgbClr val="E2E8F0"/>
                </a:solidFill>
                <a:latin typeface="Arial" pitchFamily="34" charset="0"/>
                <a:ea typeface="Arial" pitchFamily="34" charset="-122"/>
                <a:cs typeface="Arial" pitchFamily="34" charset="-120"/>
              </a:rPr>
              <a:t>False positives inconvenience genuine customers</a:t>
            </a:r>
            <a:endParaRPr lang="en-US" sz="1800" dirty="0"/>
          </a:p>
        </p:txBody>
      </p:sp>
      <p:sp>
        <p:nvSpPr>
          <p:cNvPr id="6" name="Shape 4"/>
          <p:cNvSpPr/>
          <p:nvPr/>
        </p:nvSpPr>
        <p:spPr>
          <a:xfrm>
            <a:off x="6400800" y="1920240"/>
            <a:ext cx="5212080" cy="1463040"/>
          </a:xfrm>
          <a:prstGeom prst="roundRect">
            <a:avLst>
              <a:gd name="adj" fmla="val 5000"/>
            </a:avLst>
          </a:prstGeom>
          <a:solidFill>
            <a:srgbClr val="12294D"/>
          </a:solidFill>
          <a:ln w="12700">
            <a:solidFill>
              <a:srgbClr val="16A34A"/>
            </a:solidFill>
            <a:prstDash val="solid"/>
          </a:ln>
          <a:effectLst>
            <a:outerShdw sx="100000" sy="100000" kx="0" ky="0" algn="bl" rotWithShape="0" blurRad="76200" dist="25400" dir="5400000">
              <a:srgbClr val="000000">
                <a:alpha val="35000"/>
              </a:srgbClr>
            </a:outerShdw>
          </a:effectLst>
        </p:spPr>
      </p:sp>
      <p:sp>
        <p:nvSpPr>
          <p:cNvPr id="7" name="Shape 5"/>
          <p:cNvSpPr/>
          <p:nvPr/>
        </p:nvSpPr>
        <p:spPr>
          <a:xfrm>
            <a:off x="6400800" y="1920240"/>
            <a:ext cx="73152" cy="1463040"/>
          </a:xfrm>
          <a:prstGeom prst="rect">
            <a:avLst/>
          </a:prstGeom>
          <a:solidFill>
            <a:srgbClr val="16A34A"/>
          </a:solidFill>
          <a:ln/>
        </p:spPr>
      </p:sp>
      <p:sp>
        <p:nvSpPr>
          <p:cNvPr id="8" name="Text 6"/>
          <p:cNvSpPr/>
          <p:nvPr/>
        </p:nvSpPr>
        <p:spPr>
          <a:xfrm>
            <a:off x="6583680" y="2029968"/>
            <a:ext cx="49377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Human-in-the-loop</a:t>
            </a:r>
            <a:endParaRPr lang="en-US" sz="1400" dirty="0"/>
          </a:p>
        </p:txBody>
      </p:sp>
      <p:sp>
        <p:nvSpPr>
          <p:cNvPr id="9" name="Text 7"/>
          <p:cNvSpPr/>
          <p:nvPr/>
        </p:nvSpPr>
        <p:spPr>
          <a:xfrm>
            <a:off x="6583680" y="2377440"/>
            <a:ext cx="4892040" cy="9144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The model recommends; a human decides on high-impact cases.</a:t>
            </a:r>
            <a:endParaRPr lang="en-US" sz="1200" dirty="0"/>
          </a:p>
        </p:txBody>
      </p:sp>
      <p:sp>
        <p:nvSpPr>
          <p:cNvPr id="10" name="Shape 8"/>
          <p:cNvSpPr/>
          <p:nvPr/>
        </p:nvSpPr>
        <p:spPr>
          <a:xfrm>
            <a:off x="6400800" y="3520440"/>
            <a:ext cx="5212080" cy="1691640"/>
          </a:xfrm>
          <a:prstGeom prst="roundRect">
            <a:avLst>
              <a:gd name="adj" fmla="val 4324"/>
            </a:avLst>
          </a:prstGeom>
          <a:solidFill>
            <a:srgbClr val="12294D"/>
          </a:solidFill>
          <a:ln w="12700">
            <a:solidFill>
              <a:srgbClr val="F59E0B"/>
            </a:solidFill>
            <a:prstDash val="solid"/>
          </a:ln>
          <a:effectLst>
            <a:outerShdw sx="100000" sy="100000" kx="0" ky="0" algn="bl" rotWithShape="0" blurRad="76200" dist="25400" dir="5400000">
              <a:srgbClr val="000000">
                <a:alpha val="35000"/>
              </a:srgbClr>
            </a:outerShdw>
          </a:effectLst>
        </p:spPr>
      </p:sp>
      <p:sp>
        <p:nvSpPr>
          <p:cNvPr id="11" name="Shape 9"/>
          <p:cNvSpPr/>
          <p:nvPr/>
        </p:nvSpPr>
        <p:spPr>
          <a:xfrm>
            <a:off x="6400800" y="3520440"/>
            <a:ext cx="73152" cy="1691640"/>
          </a:xfrm>
          <a:prstGeom prst="rect">
            <a:avLst/>
          </a:prstGeom>
          <a:solidFill>
            <a:srgbClr val="F59E0B"/>
          </a:solidFill>
          <a:ln/>
        </p:spPr>
      </p:sp>
      <p:sp>
        <p:nvSpPr>
          <p:cNvPr id="12" name="Text 10"/>
          <p:cNvSpPr/>
          <p:nvPr/>
        </p:nvSpPr>
        <p:spPr>
          <a:xfrm>
            <a:off x="6583680" y="3630168"/>
            <a:ext cx="49377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Data privacy &amp; fairness</a:t>
            </a:r>
            <a:endParaRPr lang="en-US" sz="1400" dirty="0"/>
          </a:p>
        </p:txBody>
      </p:sp>
      <p:sp>
        <p:nvSpPr>
          <p:cNvPr id="13" name="Text 11"/>
          <p:cNvSpPr/>
          <p:nvPr/>
        </p:nvSpPr>
        <p:spPr>
          <a:xfrm>
            <a:off x="6583680" y="3977640"/>
            <a:ext cx="4892040" cy="114300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Transaction data is sensitive. Protect it, control access, and monitor that the model does not unfairly target any group.</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84048"/>
            <a:ext cx="10515600" cy="274320"/>
          </a:xfrm>
          <a:prstGeom prst="rect">
            <a:avLst/>
          </a:prstGeom>
          <a:noFill/>
          <a:ln/>
        </p:spPr>
        <p:txBody>
          <a:bodyPr wrap="square"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FUTURE SCOPE &amp; CONCLUSION</a:t>
            </a:r>
            <a:endParaRPr lang="en-US" sz="1200" dirty="0"/>
          </a:p>
        </p:txBody>
      </p:sp>
      <p:sp>
        <p:nvSpPr>
          <p:cNvPr id="3" name="Text 1"/>
          <p:cNvSpPr/>
          <p:nvPr/>
        </p:nvSpPr>
        <p:spPr>
          <a:xfrm>
            <a:off x="457200" y="658368"/>
            <a:ext cx="11247120" cy="8229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Where FraudShield AI goes next</a:t>
            </a:r>
            <a:endParaRPr lang="en-US" sz="3000" dirty="0"/>
          </a:p>
        </p:txBody>
      </p:sp>
      <p:sp>
        <p:nvSpPr>
          <p:cNvPr id="4" name="Shape 2"/>
          <p:cNvSpPr/>
          <p:nvPr/>
        </p:nvSpPr>
        <p:spPr>
          <a:xfrm>
            <a:off x="502920" y="1463040"/>
            <a:ext cx="1005840" cy="45720"/>
          </a:xfrm>
          <a:prstGeom prst="rect">
            <a:avLst/>
          </a:prstGeom>
          <a:solidFill>
            <a:srgbClr val="2563EB"/>
          </a:solidFill>
          <a:ln/>
        </p:spPr>
      </p:sp>
      <p:sp>
        <p:nvSpPr>
          <p:cNvPr id="5" name="Shape 3"/>
          <p:cNvSpPr/>
          <p:nvPr/>
        </p:nvSpPr>
        <p:spPr>
          <a:xfrm>
            <a:off x="548640" y="1828800"/>
            <a:ext cx="3566160" cy="1280160"/>
          </a:xfrm>
          <a:prstGeom prst="roundRect">
            <a:avLst>
              <a:gd name="adj" fmla="val 5714"/>
            </a:avLst>
          </a:prstGeom>
          <a:solidFill>
            <a:srgbClr val="12294D"/>
          </a:solidFill>
          <a:ln w="12700">
            <a:solidFill>
              <a:srgbClr val="38BDF8"/>
            </a:solidFill>
            <a:prstDash val="solid"/>
          </a:ln>
          <a:effectLst>
            <a:outerShdw sx="100000" sy="100000" kx="0" ky="0" algn="bl" rotWithShape="0" blurRad="76200" dist="25400" dir="5400000">
              <a:srgbClr val="000000">
                <a:alpha val="35000"/>
              </a:srgbClr>
            </a:outerShdw>
          </a:effectLst>
        </p:spPr>
      </p:sp>
      <p:sp>
        <p:nvSpPr>
          <p:cNvPr id="6" name="Shape 4"/>
          <p:cNvSpPr/>
          <p:nvPr/>
        </p:nvSpPr>
        <p:spPr>
          <a:xfrm>
            <a:off x="548640" y="1828800"/>
            <a:ext cx="73152" cy="1280160"/>
          </a:xfrm>
          <a:prstGeom prst="rect">
            <a:avLst/>
          </a:prstGeom>
          <a:solidFill>
            <a:srgbClr val="38BDF8"/>
          </a:solidFill>
          <a:ln/>
        </p:spPr>
      </p:sp>
      <p:sp>
        <p:nvSpPr>
          <p:cNvPr id="7" name="Text 5"/>
          <p:cNvSpPr/>
          <p:nvPr/>
        </p:nvSpPr>
        <p:spPr>
          <a:xfrm>
            <a:off x="731520" y="193852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Real-time fraud API</a:t>
            </a:r>
            <a:endParaRPr lang="en-US" sz="1400" dirty="0"/>
          </a:p>
        </p:txBody>
      </p:sp>
      <p:sp>
        <p:nvSpPr>
          <p:cNvPr id="8" name="Text 6"/>
          <p:cNvSpPr/>
          <p:nvPr/>
        </p:nvSpPr>
        <p:spPr>
          <a:xfrm>
            <a:off x="731520" y="2286000"/>
            <a:ext cx="3246120" cy="7315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Score every payment in milliseconds.</a:t>
            </a:r>
            <a:endParaRPr lang="en-US" sz="1200" dirty="0"/>
          </a:p>
        </p:txBody>
      </p:sp>
      <p:sp>
        <p:nvSpPr>
          <p:cNvPr id="9" name="Shape 7"/>
          <p:cNvSpPr/>
          <p:nvPr/>
        </p:nvSpPr>
        <p:spPr>
          <a:xfrm>
            <a:off x="4343400" y="1828800"/>
            <a:ext cx="3566160" cy="1280160"/>
          </a:xfrm>
          <a:prstGeom prst="roundRect">
            <a:avLst>
              <a:gd name="adj" fmla="val 5714"/>
            </a:avLst>
          </a:prstGeom>
          <a:solidFill>
            <a:srgbClr val="12294D"/>
          </a:solidFill>
          <a:ln w="12700">
            <a:solidFill>
              <a:srgbClr val="3B82F6"/>
            </a:solidFill>
            <a:prstDash val="solid"/>
          </a:ln>
          <a:effectLst>
            <a:outerShdw sx="100000" sy="100000" kx="0" ky="0" algn="bl" rotWithShape="0" blurRad="76200" dist="25400" dir="5400000">
              <a:srgbClr val="000000">
                <a:alpha val="35000"/>
              </a:srgbClr>
            </a:outerShdw>
          </a:effectLst>
        </p:spPr>
      </p:sp>
      <p:sp>
        <p:nvSpPr>
          <p:cNvPr id="10" name="Shape 8"/>
          <p:cNvSpPr/>
          <p:nvPr/>
        </p:nvSpPr>
        <p:spPr>
          <a:xfrm>
            <a:off x="4343400" y="1828800"/>
            <a:ext cx="73152" cy="1280160"/>
          </a:xfrm>
          <a:prstGeom prst="rect">
            <a:avLst/>
          </a:prstGeom>
          <a:solidFill>
            <a:srgbClr val="3B82F6"/>
          </a:solidFill>
          <a:ln/>
        </p:spPr>
      </p:sp>
      <p:sp>
        <p:nvSpPr>
          <p:cNvPr id="11" name="Text 9"/>
          <p:cNvSpPr/>
          <p:nvPr/>
        </p:nvSpPr>
        <p:spPr>
          <a:xfrm>
            <a:off x="4526280" y="193852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OTP / SMS step-up</a:t>
            </a:r>
            <a:endParaRPr lang="en-US" sz="1400" dirty="0"/>
          </a:p>
        </p:txBody>
      </p:sp>
      <p:sp>
        <p:nvSpPr>
          <p:cNvPr id="12" name="Text 10"/>
          <p:cNvSpPr/>
          <p:nvPr/>
        </p:nvSpPr>
        <p:spPr>
          <a:xfrm>
            <a:off x="4526280" y="2286000"/>
            <a:ext cx="3246120" cy="7315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Verify medium-risk payments instantly.</a:t>
            </a:r>
            <a:endParaRPr lang="en-US" sz="1200" dirty="0"/>
          </a:p>
        </p:txBody>
      </p:sp>
      <p:sp>
        <p:nvSpPr>
          <p:cNvPr id="13" name="Shape 11"/>
          <p:cNvSpPr/>
          <p:nvPr/>
        </p:nvSpPr>
        <p:spPr>
          <a:xfrm>
            <a:off x="8138160" y="1828800"/>
            <a:ext cx="3566160" cy="1280160"/>
          </a:xfrm>
          <a:prstGeom prst="roundRect">
            <a:avLst>
              <a:gd name="adj" fmla="val 5714"/>
            </a:avLst>
          </a:prstGeom>
          <a:solidFill>
            <a:srgbClr val="12294D"/>
          </a:solidFill>
          <a:ln w="12700">
            <a:solidFill>
              <a:srgbClr val="16A34A"/>
            </a:solidFill>
            <a:prstDash val="solid"/>
          </a:ln>
          <a:effectLst>
            <a:outerShdw sx="100000" sy="100000" kx="0" ky="0" algn="bl" rotWithShape="0" blurRad="76200" dist="25400" dir="5400000">
              <a:srgbClr val="000000">
                <a:alpha val="35000"/>
              </a:srgbClr>
            </a:outerShdw>
          </a:effectLst>
        </p:spPr>
      </p:sp>
      <p:sp>
        <p:nvSpPr>
          <p:cNvPr id="14" name="Shape 12"/>
          <p:cNvSpPr/>
          <p:nvPr/>
        </p:nvSpPr>
        <p:spPr>
          <a:xfrm>
            <a:off x="8138160" y="1828800"/>
            <a:ext cx="73152" cy="1280160"/>
          </a:xfrm>
          <a:prstGeom prst="rect">
            <a:avLst/>
          </a:prstGeom>
          <a:solidFill>
            <a:srgbClr val="16A34A"/>
          </a:solidFill>
          <a:ln/>
        </p:spPr>
      </p:sp>
      <p:sp>
        <p:nvSpPr>
          <p:cNvPr id="15" name="Text 13"/>
          <p:cNvSpPr/>
          <p:nvPr/>
        </p:nvSpPr>
        <p:spPr>
          <a:xfrm>
            <a:off x="8321040" y="193852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Analyst feedback loop</a:t>
            </a:r>
            <a:endParaRPr lang="en-US" sz="1400" dirty="0"/>
          </a:p>
        </p:txBody>
      </p:sp>
      <p:sp>
        <p:nvSpPr>
          <p:cNvPr id="16" name="Text 14"/>
          <p:cNvSpPr/>
          <p:nvPr/>
        </p:nvSpPr>
        <p:spPr>
          <a:xfrm>
            <a:off x="8321040" y="2286000"/>
            <a:ext cx="3246120" cy="7315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Confirmed outcomes retrain the model.</a:t>
            </a:r>
            <a:endParaRPr lang="en-US" sz="1200" dirty="0"/>
          </a:p>
        </p:txBody>
      </p:sp>
      <p:sp>
        <p:nvSpPr>
          <p:cNvPr id="17" name="Shape 15"/>
          <p:cNvSpPr/>
          <p:nvPr/>
        </p:nvSpPr>
        <p:spPr>
          <a:xfrm>
            <a:off x="548640" y="3246120"/>
            <a:ext cx="3566160" cy="1280160"/>
          </a:xfrm>
          <a:prstGeom prst="roundRect">
            <a:avLst>
              <a:gd name="adj" fmla="val 5714"/>
            </a:avLst>
          </a:prstGeom>
          <a:solidFill>
            <a:srgbClr val="12294D"/>
          </a:solidFill>
          <a:ln w="12700">
            <a:solidFill>
              <a:srgbClr val="F59E0B"/>
            </a:solidFill>
            <a:prstDash val="solid"/>
          </a:ln>
          <a:effectLst>
            <a:outerShdw sx="100000" sy="100000" kx="0" ky="0" algn="bl" rotWithShape="0" blurRad="76200" dist="25400" dir="5400000">
              <a:srgbClr val="000000">
                <a:alpha val="35000"/>
              </a:srgbClr>
            </a:outerShdw>
          </a:effectLst>
        </p:spPr>
      </p:sp>
      <p:sp>
        <p:nvSpPr>
          <p:cNvPr id="18" name="Shape 16"/>
          <p:cNvSpPr/>
          <p:nvPr/>
        </p:nvSpPr>
        <p:spPr>
          <a:xfrm>
            <a:off x="548640" y="3246120"/>
            <a:ext cx="73152" cy="1280160"/>
          </a:xfrm>
          <a:prstGeom prst="rect">
            <a:avLst/>
          </a:prstGeom>
          <a:solidFill>
            <a:srgbClr val="F59E0B"/>
          </a:solidFill>
          <a:ln/>
        </p:spPr>
      </p:sp>
      <p:sp>
        <p:nvSpPr>
          <p:cNvPr id="19" name="Text 17"/>
          <p:cNvSpPr/>
          <p:nvPr/>
        </p:nvSpPr>
        <p:spPr>
          <a:xfrm>
            <a:off x="731520" y="335584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Explainable AI (SHAP)</a:t>
            </a:r>
            <a:endParaRPr lang="en-US" sz="1400" dirty="0"/>
          </a:p>
        </p:txBody>
      </p:sp>
      <p:sp>
        <p:nvSpPr>
          <p:cNvPr id="20" name="Text 18"/>
          <p:cNvSpPr/>
          <p:nvPr/>
        </p:nvSpPr>
        <p:spPr>
          <a:xfrm>
            <a:off x="731520" y="3703320"/>
            <a:ext cx="3246120" cy="7315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Richer per-feature reasons.</a:t>
            </a:r>
            <a:endParaRPr lang="en-US" sz="1200" dirty="0"/>
          </a:p>
        </p:txBody>
      </p:sp>
      <p:sp>
        <p:nvSpPr>
          <p:cNvPr id="21" name="Shape 19"/>
          <p:cNvSpPr/>
          <p:nvPr/>
        </p:nvSpPr>
        <p:spPr>
          <a:xfrm>
            <a:off x="4343400" y="3246120"/>
            <a:ext cx="3566160" cy="1280160"/>
          </a:xfrm>
          <a:prstGeom prst="roundRect">
            <a:avLst>
              <a:gd name="adj" fmla="val 5714"/>
            </a:avLst>
          </a:prstGeom>
          <a:solidFill>
            <a:srgbClr val="12294D"/>
          </a:solidFill>
          <a:ln w="12700">
            <a:solidFill>
              <a:srgbClr val="2563EB"/>
            </a:solidFill>
            <a:prstDash val="solid"/>
          </a:ln>
          <a:effectLst>
            <a:outerShdw sx="100000" sy="100000" kx="0" ky="0" algn="bl" rotWithShape="0" blurRad="76200" dist="25400" dir="5400000">
              <a:srgbClr val="000000">
                <a:alpha val="35000"/>
              </a:srgbClr>
            </a:outerShdw>
          </a:effectLst>
        </p:spPr>
      </p:sp>
      <p:sp>
        <p:nvSpPr>
          <p:cNvPr id="22" name="Shape 20"/>
          <p:cNvSpPr/>
          <p:nvPr/>
        </p:nvSpPr>
        <p:spPr>
          <a:xfrm>
            <a:off x="4343400" y="3246120"/>
            <a:ext cx="73152" cy="1280160"/>
          </a:xfrm>
          <a:prstGeom prst="rect">
            <a:avLst/>
          </a:prstGeom>
          <a:solidFill>
            <a:srgbClr val="2563EB"/>
          </a:solidFill>
          <a:ln/>
        </p:spPr>
      </p:sp>
      <p:sp>
        <p:nvSpPr>
          <p:cNvPr id="23" name="Text 21"/>
          <p:cNvSpPr/>
          <p:nvPr/>
        </p:nvSpPr>
        <p:spPr>
          <a:xfrm>
            <a:off x="4526280" y="3355848"/>
            <a:ext cx="329184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Cloud deployment</a:t>
            </a:r>
            <a:endParaRPr lang="en-US" sz="1400" dirty="0"/>
          </a:p>
        </p:txBody>
      </p:sp>
      <p:sp>
        <p:nvSpPr>
          <p:cNvPr id="24" name="Text 22"/>
          <p:cNvSpPr/>
          <p:nvPr/>
        </p:nvSpPr>
        <p:spPr>
          <a:xfrm>
            <a:off x="4526280" y="3703320"/>
            <a:ext cx="3246120" cy="73152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Scalable, with auto-retraining.</a:t>
            </a:r>
            <a:endParaRPr lang="en-US" sz="1200" dirty="0"/>
          </a:p>
        </p:txBody>
      </p:sp>
      <p:sp>
        <p:nvSpPr>
          <p:cNvPr id="25" name="Shape 23"/>
          <p:cNvSpPr/>
          <p:nvPr/>
        </p:nvSpPr>
        <p:spPr>
          <a:xfrm>
            <a:off x="548640" y="4754880"/>
            <a:ext cx="11064240" cy="1097280"/>
          </a:xfrm>
          <a:prstGeom prst="roundRect">
            <a:avLst>
              <a:gd name="adj" fmla="val 6667"/>
            </a:avLst>
          </a:prstGeom>
          <a:solidFill>
            <a:srgbClr val="12294D"/>
          </a:solidFill>
          <a:ln w="12700">
            <a:solidFill>
              <a:srgbClr val="16A34A"/>
            </a:solidFill>
            <a:prstDash val="solid"/>
          </a:ln>
          <a:effectLst>
            <a:outerShdw sx="100000" sy="100000" kx="0" ky="0" algn="bl" rotWithShape="0" blurRad="76200" dist="25400" dir="5400000">
              <a:srgbClr val="000000">
                <a:alpha val="35000"/>
              </a:srgbClr>
            </a:outerShdw>
          </a:effectLst>
        </p:spPr>
      </p:sp>
      <p:sp>
        <p:nvSpPr>
          <p:cNvPr id="26" name="Shape 24"/>
          <p:cNvSpPr/>
          <p:nvPr/>
        </p:nvSpPr>
        <p:spPr>
          <a:xfrm>
            <a:off x="548640" y="4754880"/>
            <a:ext cx="73152" cy="1097280"/>
          </a:xfrm>
          <a:prstGeom prst="rect">
            <a:avLst/>
          </a:prstGeom>
          <a:solidFill>
            <a:srgbClr val="16A34A"/>
          </a:solidFill>
          <a:ln/>
        </p:spPr>
      </p:sp>
      <p:sp>
        <p:nvSpPr>
          <p:cNvPr id="27" name="Text 25"/>
          <p:cNvSpPr/>
          <p:nvPr/>
        </p:nvSpPr>
        <p:spPr>
          <a:xfrm>
            <a:off x="731520" y="4864608"/>
            <a:ext cx="1078992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Conclusion</a:t>
            </a:r>
            <a:endParaRPr lang="en-US" sz="1400" dirty="0"/>
          </a:p>
        </p:txBody>
      </p:sp>
      <p:sp>
        <p:nvSpPr>
          <p:cNvPr id="28" name="Text 26"/>
          <p:cNvSpPr/>
          <p:nvPr/>
        </p:nvSpPr>
        <p:spPr>
          <a:xfrm>
            <a:off x="731520" y="5212080"/>
            <a:ext cx="10744200" cy="548640"/>
          </a:xfrm>
          <a:prstGeom prst="rect">
            <a:avLst/>
          </a:prstGeom>
          <a:noFill/>
          <a:ln/>
        </p:spPr>
        <p:txBody>
          <a:bodyPr wrap="square" rtlCol="0" anchor="t"/>
          <a:lstStyle/>
          <a:p>
            <a:pPr indent="0" marL="0">
              <a:buNone/>
            </a:pPr>
            <a:r>
              <a:rPr lang="en-US" sz="1200" dirty="0">
                <a:solidFill>
                  <a:srgbClr val="E2E8F0"/>
                </a:solidFill>
                <a:latin typeface="Arial" pitchFamily="34" charset="0"/>
                <a:ea typeface="Arial" pitchFamily="34" charset="-122"/>
                <a:cs typeface="Arial" pitchFamily="34" charset="-120"/>
              </a:rPr>
              <a:t>FraudShield AI turns a customer's transaction sequence into a fraud score and a clear business action — combining an LSTM with a premium analyst dashboard. Thank you. Questions?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MAIB Sept 25 - Term 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FraudShield AI: Payment Fraud Sequence Detection using LSTM/RNN</dc:title>
  <dc:subject>PptxGenJS Presentation</dc:subject>
  <dc:creator>Krishna Mathur, Yash Petkar, Atharva Soundankar</dc:creator>
  <cp:lastModifiedBy>Krishna Mathur, Yash Petkar, Atharva Soundankar</cp:lastModifiedBy>
  <cp:revision>1</cp:revision>
  <dcterms:created xsi:type="dcterms:W3CDTF">2026-06-24T10:34:58Z</dcterms:created>
  <dcterms:modified xsi:type="dcterms:W3CDTF">2026-06-24T10:34:58Z</dcterms:modified>
</cp:coreProperties>
</file>