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872"/>
    <p:restoredTop sz="94610"/>
  </p:normalViewPr>
  <p:slideViewPr>
    <p:cSldViewPr snapToGrid="0" snapToObjects="1">
      <p:cViewPr varScale="1">
        <p:scale>
          <a:sx n="156" d="100"/>
          <a:sy n="156" d="100"/>
        </p:scale>
        <p:origin x="184"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PR-AUC</c:v>
                </c:pt>
              </c:strCache>
            </c:strRef>
          </c:tx>
          <c:spPr>
            <a:solidFill>
              <a:srgbClr val="10B981"/>
            </a:solidFill>
            <a:effectLst/>
          </c:spPr>
          <c:invertIfNegative val="0"/>
          <c:dPt>
            <c:idx val="0"/>
            <c:invertIfNegative val="0"/>
            <c:bubble3D val="0"/>
            <c:extLst>
              <c:ext xmlns:c16="http://schemas.microsoft.com/office/drawing/2014/chart" uri="{C3380CC4-5D6E-409C-BE32-E72D297353CC}">
                <c16:uniqueId val="{00000001-7B78-4E47-AC3E-EC6DED5B44D1}"/>
              </c:ext>
            </c:extLst>
          </c:dPt>
          <c:dPt>
            <c:idx val="1"/>
            <c:invertIfNegative val="0"/>
            <c:bubble3D val="0"/>
            <c:spPr>
              <a:solidFill>
                <a:srgbClr val="0EA5A4"/>
              </a:solidFill>
              <a:effectLst/>
            </c:spPr>
            <c:extLst>
              <c:ext xmlns:c16="http://schemas.microsoft.com/office/drawing/2014/chart" uri="{C3380CC4-5D6E-409C-BE32-E72D297353CC}">
                <c16:uniqueId val="{00000003-7B78-4E47-AC3E-EC6DED5B44D1}"/>
              </c:ext>
            </c:extLst>
          </c:dPt>
          <c:dPt>
            <c:idx val="2"/>
            <c:invertIfNegative val="0"/>
            <c:bubble3D val="0"/>
            <c:spPr>
              <a:solidFill>
                <a:srgbClr val="22D3EE"/>
              </a:solidFill>
              <a:effectLst/>
            </c:spPr>
            <c:extLst>
              <c:ext xmlns:c16="http://schemas.microsoft.com/office/drawing/2014/chart" uri="{C3380CC4-5D6E-409C-BE32-E72D297353CC}">
                <c16:uniqueId val="{00000005-7B78-4E47-AC3E-EC6DED5B44D1}"/>
              </c:ext>
            </c:extLst>
          </c:dPt>
          <c:dPt>
            <c:idx val="3"/>
            <c:invertIfNegative val="0"/>
            <c:bubble3D val="0"/>
            <c:spPr>
              <a:solidFill>
                <a:srgbClr val="38BDF8"/>
              </a:solidFill>
              <a:effectLst/>
            </c:spPr>
            <c:extLst>
              <c:ext xmlns:c16="http://schemas.microsoft.com/office/drawing/2014/chart" uri="{C3380CC4-5D6E-409C-BE32-E72D297353CC}">
                <c16:uniqueId val="{00000007-7B78-4E47-AC3E-EC6DED5B44D1}"/>
              </c:ext>
            </c:extLst>
          </c:dPt>
          <c:dPt>
            <c:idx val="4"/>
            <c:invertIfNegative val="0"/>
            <c:bubble3D val="0"/>
            <c:spPr>
              <a:solidFill>
                <a:srgbClr val="64748B"/>
              </a:solidFill>
              <a:effectLst/>
            </c:spPr>
            <c:extLst>
              <c:ext xmlns:c16="http://schemas.microsoft.com/office/drawing/2014/chart" uri="{C3380CC4-5D6E-409C-BE32-E72D297353CC}">
                <c16:uniqueId val="{00000009-7B78-4E47-AC3E-EC6DED5B44D1}"/>
              </c:ext>
            </c:extLst>
          </c:dPt>
          <c:dLbls>
            <c:numFmt formatCode="0.000" sourceLinked="0"/>
            <c:spPr>
              <a:noFill/>
              <a:ln>
                <a:noFill/>
              </a:ln>
              <a:effectLst/>
            </c:spPr>
            <c:txPr>
              <a:bodyPr/>
              <a:lstStyle/>
              <a:p>
                <a:pPr>
                  <a:defRPr sz="1100" b="1"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GRU</c:v>
                </c:pt>
                <c:pt idx="1">
                  <c:v>LSTM</c:v>
                </c:pt>
                <c:pt idx="2">
                  <c:v>Autoencoder</c:v>
                </c:pt>
                <c:pt idx="3">
                  <c:v>1D-CNN</c:v>
                </c:pt>
                <c:pt idx="4">
                  <c:v>Dense</c:v>
                </c:pt>
              </c:strCache>
            </c:strRef>
          </c:cat>
          <c:val>
            <c:numRef>
              <c:f>Sheet1!$B$2:$B$6</c:f>
              <c:numCache>
                <c:formatCode>General</c:formatCode>
                <c:ptCount val="5"/>
                <c:pt idx="0">
                  <c:v>0.97399999999999998</c:v>
                </c:pt>
                <c:pt idx="1">
                  <c:v>0.97399999999999998</c:v>
                </c:pt>
                <c:pt idx="2">
                  <c:v>0.96899999999999997</c:v>
                </c:pt>
                <c:pt idx="3">
                  <c:v>0.96199999999999997</c:v>
                </c:pt>
                <c:pt idx="4">
                  <c:v>0.9</c:v>
                </c:pt>
              </c:numCache>
            </c:numRef>
          </c:val>
          <c:extLst>
            <c:ext xmlns:c16="http://schemas.microsoft.com/office/drawing/2014/chart" uri="{C3380CC4-5D6E-409C-BE32-E72D297353CC}">
              <c16:uniqueId val="{0000000A-7B78-4E47-AC3E-EC6DED5B44D1}"/>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1" i="0" u="none" strike="noStrike">
                <a:solidFill>
                  <a:srgbClr val="C7D2E4"/>
                </a:solidFill>
                <a:latin typeface="Arial"/>
              </a:defRPr>
            </a:pPr>
            <a:endParaRPr lang="en-US"/>
          </a:p>
        </c:txPr>
        <c:crossAx val="2094734552"/>
        <c:crosses val="autoZero"/>
        <c:auto val="1"/>
        <c:lblAlgn val="ctr"/>
        <c:lblOffset val="100"/>
        <c:noMultiLvlLbl val="1"/>
      </c:catAx>
      <c:valAx>
        <c:axId val="2094734552"/>
        <c:scaling>
          <c:orientation val="minMax"/>
          <c:max val="1"/>
          <c:min val="0.85"/>
        </c:scaling>
        <c:delete val="0"/>
        <c:axPos val="l"/>
        <c:majorGridlines>
          <c:spPr>
            <a:ln w="6350" cap="flat">
              <a:solidFill>
                <a:srgbClr val="2A355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98B5"/>
                </a:solidFill>
                <a:latin typeface="Arial"/>
              </a:defRPr>
            </a:pPr>
            <a:endParaRPr lang="en-US"/>
          </a:p>
        </c:txPr>
        <c:crossAx val="2094734554"/>
        <c:crosses val="autoZero"/>
        <c:crossBetween val="between"/>
        <c:majorUnit val="0.05"/>
      </c:valAx>
      <c:spPr>
        <a:solidFill>
          <a:srgbClr val="151D33"/>
        </a:solidFill>
        <a:ln>
          <a:noFill/>
        </a:ln>
        <a:effectLst/>
      </c:spPr>
    </c:plotArea>
    <c:plotVisOnly val="1"/>
    <c:dispBlanksAs val="span"/>
    <c:showDLblsOverMax val="1"/>
  </c:chart>
  <c:spPr>
    <a:solidFill>
      <a:srgbClr val="151D33"/>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8317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Krishna Mathur — Good morning everyone, and thank you for your time. We're presenting FraudShield AI, a deep-learning system that looks at HOW a customer is paying, not just one transaction in isolation. The core idea is simple: payment fraud usually hides inside a sequence of behaviour. One transaction can look harmless on its own, but suspicious right after the recent history. Our model reads that behaviour, returns a fraud score between zero and one, and recommends an action. Please hold one principle in mind for the whole talk — the model recommends; humans and approved business rules decide on high-impact cases. This is a decision-support system, not a black box that blocks people automatically. I'll introduce the team as we go — Yash, Atharva, Krish, and myself each take the slides closest to our 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Krishna Mathur — Our approach rests on three pillars. First, behavioural signal: we read the customer's recent transaction history in the order it happened. Second, risk routing: we turn the model's probability into a clear business action band, so a number becomes a decision. Third, governed action: every decision is logged, explainable, and open to human review. The outcome we care about is business value, and it's on the bottom of this slide — less fraud loss, fewer false alarms wasting analyst time, more customer trust, and full traceability for compliance. That last point matters in finance more than raw accuracy. A model nobody can audit is a model nobody can deploy.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Krishna Mathur — Look at this pattern. A calm history of small payments — a hundred, a hundred and twenty — then a sudden nine-thousand transfer, another large one, and the balance drains to zero. Any single transaction here might pass a basic check. It's the sequence that screams fraud. The business faces three pressures, on the right. Fraud is fast — it happens in seconds. It's rare — under one percent of all transactions, so it's easy to miss. And manual review is expensive and slow, which overloads the team. So the need is clear: automatic, sequence-aware detection that catches the behavioural break early, and sends only the genuinely risky cases to a human. That's exactly what FraudShield is built to do.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Yash Petkar — Traditional fraud rules look like the box on the left: if the amount is over ten thousand, block it. The problem is fraudsters know the rules. They simply split one large transfer into two smaller ones and slip right under the threshold. A static rule has no memory of what came before, so it can't see the pattern. The right side is our approach. It reads the whole recent sequence, remembers the behaviour using LSTM memory, and routes the decision by risk level — approve, review, or block. And crucially, it's auditable. To be fair, rules still have a place — but as a governed policy layer sitting on top of the intelligence, not as the only defence. The model gives context; the policy gives control.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Atharva Soundankar — This is the heart of the system. An LSTM is a neural network with memory — it reads transactions in the order they happened. We feed it a window of up to ten recent transactions for the same customer, oldest to newest. Because it carries memory across that window, it can flag a sudden spike that only looks dangerous given the calm history before it. A normal model sees one transaction and shrugs; the LSTM sees the whole story and reacts. Three quick points below. Order itself is a signal. Memory beats single snapshots. And we stay honest with short histories — most accounts have few transactions, so we use masking and padding instead of dropping that data. The output is a single fraud score between zero and one.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Yash Petkar — I want to be honest about our data, because credibility depends on it. We use PaySim, a public synthetic mobile-money dataset. Synthetic data proves our workflow runs end to end — it does NOT prove production performance, and we won't claim it does. To earn trust, we did three things. We trained on nearly half a million rows. We split the data by time, so we train on the past and test on the future — never a random shuffle, because fraud models leak badly with random splits. And we calibrated the probabilities so the 0.30 and 0.70 bands actually mean something. On thirty thousand unseen sequences, our PR-AUC is 0.974 — strong but realistic, not a fake 1.0. The next gate is real institutional data with drift monitoring over time.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Krish Kumar — Here's how the system fits together. Across the top is the core pipeline we've actually built. Raw transactions flow into feature engineering, where we derive signals like balance deltas, the amount-to-balance ratio, and the two strongest PaySim signals — the balance-error flags that catch double-entry inconsistencies. The sequence builder groups rows by customer in time order. PyTorch models score them, FastAPI serves the result, and that becomes an action. Below are the enterprise components a bank would add around this core — an API gateway for security, a feature store to eliminate train-serve skew, a model registry for versioning, an event bus, an immutable audit log, and observability. We've built the core and deliberately left clean seams for each of these, which I'll show on the roadmap.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Atharva Soundankar — We didn't build one model, we built a portfolio and let the data choose. The chart tells the story. The order-blind Dense baseline reaches 0.90 PR-AUC. The sequence models — GRU and LSTM — reach 0.974. That gap is the value of sequence memory, proven, not assumed. GRU is our primary model, with recall of 0.994 — it catches almost every fraud case in the test set — at precision 0.981. The autoencoder is interesting: high recall but low precision, so it's a backup signal, not the decider. On metrics: we report PR-AUC and recall, not plain accuracy, because at under one percent fraud a model that approves everything would look ninety-nine percent accurate while catching nothing. For fraud, recall is what protects the customer, so that's what we optimise.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Krishna Mathur — A score on its own isn't useful to the business — it has to become an action. We map the probability to three bands. Low risk, under 0.30, we approve and let the customer straight through — that's most of the traffic. Medium risk, between 0.31 and 0.70, we step up: a quick review or a one-time password, so we verify without blocking a good customer. High risk, above 0.71, we block and alert the fraud team. The most important sentence is at the bottom: these thresholds are not fixed technical numbers, they are business policy levers. A bank tunes them based on how much fraud loss hurts, how expensive reviews are, and how many false alarms its customers will tolerate. The model recommends; the policy and the people decide where the lines sit.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Yash Petkar — The system serves two audiences. For people, there's a dashboard, on the left. An executive overview for leadership, live fraud risk scoring, a customer sequence analyzer that shows the behaviour over time, pattern insights, model performance, an explainability page that shows WHY a score happened, an alert center, and a business impact simulator where you drag your own assumptions and watch the savings recompute. For systems, there's a clean API on the right — endpoints to score a single transaction or a batch, to explain a decision, to audit it, to retrain, and to expose metrics — all versioned under v1. We built the dashboard twice, in React and in Streamlit, on one FastAPI backend, so it fits both a boardroom demo and a real integration. Note: these are AI-rendered representations of our actual screens.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Krishna Mathur — Let's talk about value, because that's what makes this real to a board. It comes from four levers, across the top. Fraud loss we avoid by catching fraud earlier. Review cost we cut by sending only the right cases to humans. Customer trust we protect by not blocking good people with blunt rules. And learning that compounds, because every analyst verdict feeds the next model. The honest equation is on the bottom — net value equals fraud avoided, minus review cost, minus the friction we cause genuine customers, plus the trust we keep. I want to stress that minus sign on friction: a false positive has a real cost. A good fraud system optimises the whole equation, not just the catch rate. That's the difference between a model that looks good and one that's worth deploying.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Krish Kumar — In finance, a model is only usable if you can govern it. So we wrap the AI in six controls. A human stays in the loop for high-impact cases. Every decision is explainable in plain English, with reason codes like 'account drained to zero' or 'first transfer to this recipient'. Every score is written to an immutable audit trail — that's an AML and compliance requirement, not a nice-to-have. We monitor for drift, because fraud patterns change as attackers adapt. We protect privacy with authentication, role-based access, and PII handling. And we review for fairness across customer segments, documented in a model card. The principle is one line, and it's on screen: AI recommends, governance decides, the business stays accountable. That sentence is what lets a bank actually put this into production.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Krish Kumar — We're honest about where this sits. The NOW column is already done and verified, not a wish list — temporal evaluation, calibration, authentication, request IDs, an audit trail that runs on SQLite by default or Postgres with one environment variable, Prometheus metrics, a versioned API, an explainability endpoint, Docker, continuous integration, and sixteen passing tests. The NEXT column is pilot hardening: real institutional data, load testing to actually prove our latency target, a managed feature store, and a case-management workflow with safe canary rollout. The SCALE column is the enterprise platform — streaming with Kafka, cloud deployment with Terraform, a managed registry, and automatic retraining when drift is detected. The point is simple: we've built a credible MVP and mapped an honest path, and we're not pretending we built a bank overnight.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Atharva Soundankar — A fraud system is never finished — it's a loop, and this is it. We score a transaction. We route the risky ones to analysts. We capture the analyst's verdict. That verdict becomes a fresh training label in the label store. We retrain a challenger model on it, and we monitor for drift before doing it all again. The key idea is the purple arrow: each analyst decision makes the next model smarter, so the system learns from the people using it. We hold ourselves to clear service levels along the bottom — scoring under a hundred milliseconds at the ninety-ninth percentile, ninety-nine point nine percent availability on the scoring path, every single decision logged, and new models rolled out gradually through canary testing so a bad update can be caught and rolled back safely.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Krishna Mathur — To close. FraudShield AI is a decision-support platform that reads payment behaviour, scores fraud risk, and recommends a governed action. We've been deliberately honest throughout — it's a credible MVP on synthetic data, not a finished bank product, and that honesty is itself a feature for this audience. Our next three moves are clear and on the slide. First, validate on full real data with temporal monitoring. Second, define the threshold policy together with the fraud and compliance teams, because those lines are a business decision. Third, run a secure pilot behind the payment gateway in a controlled rollout. Throughout, the principle holds: the model recommends; humans and policy decide. Thank you very much for your time and attention — we'd be glad to take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0.png"/><Relationship Id="rId7"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20.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4.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2011680" y="-2194560"/>
            <a:ext cx="5943600" cy="5943600"/>
          </a:xfrm>
          <a:prstGeom prst="ellipse">
            <a:avLst/>
          </a:prstGeom>
          <a:solidFill>
            <a:srgbClr val="12224A">
              <a:alpha val="45000"/>
            </a:srgbClr>
          </a:solidFill>
          <a:ln/>
        </p:spPr>
        <p:txBody>
          <a:bodyPr/>
          <a:lstStyle/>
          <a:p>
            <a:endParaRPr lang="en-US"/>
          </a:p>
        </p:txBody>
      </p:sp>
      <p:sp>
        <p:nvSpPr>
          <p:cNvPr id="3" name="Shape 1"/>
          <p:cNvSpPr/>
          <p:nvPr/>
        </p:nvSpPr>
        <p:spPr>
          <a:xfrm>
            <a:off x="8686800" y="3291840"/>
            <a:ext cx="5943600" cy="5943600"/>
          </a:xfrm>
          <a:prstGeom prst="ellipse">
            <a:avLst/>
          </a:prstGeom>
          <a:solidFill>
            <a:srgbClr val="1A1538">
              <a:alpha val="40000"/>
            </a:srgbClr>
          </a:solidFill>
          <a:ln/>
        </p:spPr>
        <p:txBody>
          <a:bodyPr/>
          <a:lstStyle/>
          <a:p>
            <a:endParaRPr lang="en-US"/>
          </a:p>
        </p:txBody>
      </p:sp>
      <p:sp>
        <p:nvSpPr>
          <p:cNvPr id="4" name="Shape 2"/>
          <p:cNvSpPr/>
          <p:nvPr/>
        </p:nvSpPr>
        <p:spPr>
          <a:xfrm>
            <a:off x="777240" y="868680"/>
            <a:ext cx="868680" cy="868680"/>
          </a:xfrm>
          <a:prstGeom prst="ellipse">
            <a:avLst/>
          </a:prstGeom>
          <a:solidFill>
            <a:srgbClr val="1B2540"/>
          </a:solidFill>
          <a:ln w="15875">
            <a:solidFill>
              <a:srgbClr val="22D3EE"/>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85723" y="1077163"/>
            <a:ext cx="451714" cy="451714"/>
          </a:xfrm>
          <a:prstGeom prst="rect">
            <a:avLst/>
          </a:prstGeom>
        </p:spPr>
      </p:pic>
      <p:sp>
        <p:nvSpPr>
          <p:cNvPr id="6" name="Text 3"/>
          <p:cNvSpPr/>
          <p:nvPr/>
        </p:nvSpPr>
        <p:spPr>
          <a:xfrm>
            <a:off x="731520" y="1965960"/>
            <a:ext cx="10698480" cy="1097280"/>
          </a:xfrm>
          <a:prstGeom prst="rect">
            <a:avLst/>
          </a:prstGeom>
          <a:noFill/>
          <a:ln/>
        </p:spPr>
        <p:txBody>
          <a:bodyPr wrap="square" lIns="0" tIns="0" rIns="0" bIns="0" rtlCol="0" anchor="ctr"/>
          <a:lstStyle/>
          <a:p>
            <a:pPr marL="0" indent="0" algn="l">
              <a:buNone/>
            </a:pPr>
            <a:r>
              <a:rPr lang="en-US" sz="6000" b="1" dirty="0">
                <a:solidFill>
                  <a:srgbClr val="FFFFFF"/>
                </a:solidFill>
                <a:latin typeface="Calibri" pitchFamily="34" charset="0"/>
                <a:ea typeface="Calibri" pitchFamily="34" charset="-122"/>
                <a:cs typeface="Calibri" pitchFamily="34" charset="-120"/>
              </a:rPr>
              <a:t>FraudShield AI</a:t>
            </a:r>
            <a:endParaRPr lang="en-US" sz="6000" dirty="0"/>
          </a:p>
        </p:txBody>
      </p:sp>
      <p:sp>
        <p:nvSpPr>
          <p:cNvPr id="7" name="Text 4"/>
          <p:cNvSpPr/>
          <p:nvPr/>
        </p:nvSpPr>
        <p:spPr>
          <a:xfrm>
            <a:off x="758952" y="3063240"/>
            <a:ext cx="10515600" cy="548640"/>
          </a:xfrm>
          <a:prstGeom prst="rect">
            <a:avLst/>
          </a:prstGeom>
          <a:noFill/>
          <a:ln/>
        </p:spPr>
        <p:txBody>
          <a:bodyPr wrap="square" lIns="0" tIns="0" rIns="0" bIns="0" rtlCol="0" anchor="ctr"/>
          <a:lstStyle/>
          <a:p>
            <a:pPr marL="0" indent="0" algn="l">
              <a:buNone/>
            </a:pPr>
            <a:r>
              <a:rPr lang="en-US" sz="2200" dirty="0">
                <a:solidFill>
                  <a:srgbClr val="22D3EE"/>
                </a:solidFill>
                <a:latin typeface="Calibri" pitchFamily="34" charset="0"/>
                <a:ea typeface="Calibri" pitchFamily="34" charset="-122"/>
                <a:cs typeface="Calibri" pitchFamily="34" charset="-120"/>
              </a:rPr>
              <a:t>Payment Fraud Sequence Detection using LSTM / RNN</a:t>
            </a:r>
            <a:endParaRPr lang="en-US" sz="2200" dirty="0"/>
          </a:p>
        </p:txBody>
      </p:sp>
      <p:sp>
        <p:nvSpPr>
          <p:cNvPr id="8" name="Text 5"/>
          <p:cNvSpPr/>
          <p:nvPr/>
        </p:nvSpPr>
        <p:spPr>
          <a:xfrm>
            <a:off x="758952" y="3703320"/>
            <a:ext cx="7955280" cy="868680"/>
          </a:xfrm>
          <a:prstGeom prst="rect">
            <a:avLst/>
          </a:prstGeom>
          <a:noFill/>
          <a:ln/>
        </p:spPr>
        <p:txBody>
          <a:bodyPr wrap="square" lIns="0" tIns="0" rIns="0" bIns="0" rtlCol="0" anchor="ctr"/>
          <a:lstStyle/>
          <a:p>
            <a:pPr marL="0" indent="0" algn="l">
              <a:lnSpc>
                <a:spcPct val="110000"/>
              </a:lnSpc>
              <a:buNone/>
            </a:pPr>
            <a:r>
              <a:rPr lang="en-US" sz="1500" dirty="0">
                <a:solidFill>
                  <a:srgbClr val="C7D2E4"/>
                </a:solidFill>
                <a:latin typeface="Calibri" pitchFamily="34" charset="0"/>
                <a:ea typeface="Calibri" pitchFamily="34" charset="-122"/>
                <a:cs typeface="Calibri" pitchFamily="34" charset="-120"/>
              </a:rPr>
              <a:t>A sequence-aware fraud-risk decision-support platform. It reads a customer's recent payment behaviour, predicts fraud probability, and maps it to a clear action — Approve, Review/OTP, or Block/Alert.</a:t>
            </a:r>
            <a:endParaRPr lang="en-US" sz="1500" dirty="0"/>
          </a:p>
        </p:txBody>
      </p:sp>
      <p:sp>
        <p:nvSpPr>
          <p:cNvPr id="9" name="Shape 6"/>
          <p:cNvSpPr/>
          <p:nvPr/>
        </p:nvSpPr>
        <p:spPr>
          <a:xfrm>
            <a:off x="758952" y="4645152"/>
            <a:ext cx="6675120" cy="502920"/>
          </a:xfrm>
          <a:prstGeom prst="roundRect">
            <a:avLst>
              <a:gd name="adj" fmla="val 18182"/>
            </a:avLst>
          </a:prstGeom>
          <a:solidFill>
            <a:srgbClr val="1B2540"/>
          </a:solidFill>
          <a:ln w="12700">
            <a:solidFill>
              <a:srgbClr val="2A3550"/>
            </a:solidFill>
            <a:prstDash val="solid"/>
          </a:ln>
        </p:spPr>
        <p:txBody>
          <a:bodyPr/>
          <a:lstStyle/>
          <a:p>
            <a:endParaRPr lang="en-US"/>
          </a:p>
        </p:txBody>
      </p:sp>
      <p:sp>
        <p:nvSpPr>
          <p:cNvPr id="10" name="Text 7"/>
          <p:cNvSpPr/>
          <p:nvPr/>
        </p:nvSpPr>
        <p:spPr>
          <a:xfrm>
            <a:off x="758952" y="4645152"/>
            <a:ext cx="66751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The model recommends.  </a:t>
            </a:r>
            <a:r>
              <a:rPr lang="en-US" sz="1300" b="1" dirty="0">
                <a:solidFill>
                  <a:srgbClr val="22D3EE"/>
                </a:solidFill>
                <a:latin typeface="Calibri" pitchFamily="34" charset="0"/>
                <a:ea typeface="Calibri" pitchFamily="34" charset="-122"/>
                <a:cs typeface="Calibri" pitchFamily="34" charset="-120"/>
              </a:rPr>
              <a:t>Humans and governed business rules decide.</a:t>
            </a:r>
            <a:endParaRPr lang="en-US" sz="1300" dirty="0"/>
          </a:p>
        </p:txBody>
      </p:sp>
      <p:sp>
        <p:nvSpPr>
          <p:cNvPr id="11" name="Shape 8"/>
          <p:cNvSpPr/>
          <p:nvPr/>
        </p:nvSpPr>
        <p:spPr>
          <a:xfrm>
            <a:off x="758952" y="5303520"/>
            <a:ext cx="1463040" cy="411480"/>
          </a:xfrm>
          <a:prstGeom prst="roundRect">
            <a:avLst>
              <a:gd name="adj" fmla="val 48889"/>
            </a:avLst>
          </a:prstGeom>
          <a:solidFill>
            <a:srgbClr val="151D33"/>
          </a:solidFill>
          <a:ln w="12700">
            <a:solidFill>
              <a:srgbClr val="22D3EE"/>
            </a:solidFill>
            <a:prstDash val="solid"/>
          </a:ln>
        </p:spPr>
        <p:txBody>
          <a:bodyPr/>
          <a:lstStyle/>
          <a:p>
            <a:endParaRPr lang="en-US"/>
          </a:p>
        </p:txBody>
      </p:sp>
      <p:sp>
        <p:nvSpPr>
          <p:cNvPr id="12" name="Text 9"/>
          <p:cNvSpPr/>
          <p:nvPr/>
        </p:nvSpPr>
        <p:spPr>
          <a:xfrm>
            <a:off x="758952" y="5303520"/>
            <a:ext cx="1463040" cy="411480"/>
          </a:xfrm>
          <a:prstGeom prst="rect">
            <a:avLst/>
          </a:prstGeom>
          <a:noFill/>
          <a:ln/>
        </p:spPr>
        <p:txBody>
          <a:bodyPr wrap="square" lIns="0" tIns="0" rIns="0" bIns="0" rtlCol="0" anchor="ctr"/>
          <a:lstStyle/>
          <a:p>
            <a:pPr marL="0" indent="0" algn="ctr">
              <a:buNone/>
            </a:pPr>
            <a:r>
              <a:rPr lang="en-US" sz="1100" b="1" dirty="0">
                <a:solidFill>
                  <a:srgbClr val="C7D2E4"/>
                </a:solidFill>
                <a:latin typeface="Calibri" pitchFamily="34" charset="0"/>
                <a:ea typeface="Calibri" pitchFamily="34" charset="-122"/>
                <a:cs typeface="Calibri" pitchFamily="34" charset="-120"/>
              </a:rPr>
              <a:t>LSTM / RNN</a:t>
            </a:r>
            <a:endParaRPr lang="en-US" sz="1100" dirty="0"/>
          </a:p>
        </p:txBody>
      </p:sp>
      <p:sp>
        <p:nvSpPr>
          <p:cNvPr id="13" name="Shape 10"/>
          <p:cNvSpPr/>
          <p:nvPr/>
        </p:nvSpPr>
        <p:spPr>
          <a:xfrm>
            <a:off x="2423160" y="5303520"/>
            <a:ext cx="1883664" cy="411480"/>
          </a:xfrm>
          <a:prstGeom prst="roundRect">
            <a:avLst>
              <a:gd name="adj" fmla="val 48889"/>
            </a:avLst>
          </a:prstGeom>
          <a:solidFill>
            <a:srgbClr val="151D33"/>
          </a:solidFill>
          <a:ln w="12700">
            <a:solidFill>
              <a:srgbClr val="22D3EE"/>
            </a:solidFill>
            <a:prstDash val="solid"/>
          </a:ln>
        </p:spPr>
        <p:txBody>
          <a:bodyPr/>
          <a:lstStyle/>
          <a:p>
            <a:endParaRPr lang="en-US"/>
          </a:p>
        </p:txBody>
      </p:sp>
      <p:sp>
        <p:nvSpPr>
          <p:cNvPr id="14" name="Text 11"/>
          <p:cNvSpPr/>
          <p:nvPr/>
        </p:nvSpPr>
        <p:spPr>
          <a:xfrm>
            <a:off x="2423160" y="5303520"/>
            <a:ext cx="1883664" cy="411480"/>
          </a:xfrm>
          <a:prstGeom prst="rect">
            <a:avLst/>
          </a:prstGeom>
          <a:noFill/>
          <a:ln/>
        </p:spPr>
        <p:txBody>
          <a:bodyPr wrap="square" lIns="0" tIns="0" rIns="0" bIns="0" rtlCol="0" anchor="ctr"/>
          <a:lstStyle/>
          <a:p>
            <a:pPr marL="0" indent="0" algn="ctr">
              <a:buNone/>
            </a:pPr>
            <a:r>
              <a:rPr lang="en-US" sz="1100" b="1" dirty="0">
                <a:solidFill>
                  <a:srgbClr val="C7D2E4"/>
                </a:solidFill>
                <a:latin typeface="Calibri" pitchFamily="34" charset="0"/>
                <a:ea typeface="Calibri" pitchFamily="34" charset="-122"/>
                <a:cs typeface="Calibri" pitchFamily="34" charset="-120"/>
              </a:rPr>
              <a:t>0–1 Risk Score</a:t>
            </a:r>
            <a:endParaRPr lang="en-US" sz="1100" dirty="0"/>
          </a:p>
        </p:txBody>
      </p:sp>
      <p:sp>
        <p:nvSpPr>
          <p:cNvPr id="15" name="Shape 12"/>
          <p:cNvSpPr/>
          <p:nvPr/>
        </p:nvSpPr>
        <p:spPr>
          <a:xfrm>
            <a:off x="4507992" y="5303520"/>
            <a:ext cx="1988820" cy="411480"/>
          </a:xfrm>
          <a:prstGeom prst="roundRect">
            <a:avLst>
              <a:gd name="adj" fmla="val 48889"/>
            </a:avLst>
          </a:prstGeom>
          <a:solidFill>
            <a:srgbClr val="151D33"/>
          </a:solidFill>
          <a:ln w="12700">
            <a:solidFill>
              <a:srgbClr val="22D3EE"/>
            </a:solidFill>
            <a:prstDash val="solid"/>
          </a:ln>
        </p:spPr>
        <p:txBody>
          <a:bodyPr/>
          <a:lstStyle/>
          <a:p>
            <a:endParaRPr lang="en-US"/>
          </a:p>
        </p:txBody>
      </p:sp>
      <p:sp>
        <p:nvSpPr>
          <p:cNvPr id="16" name="Text 13"/>
          <p:cNvSpPr/>
          <p:nvPr/>
        </p:nvSpPr>
        <p:spPr>
          <a:xfrm>
            <a:off x="4507992" y="5303520"/>
            <a:ext cx="1988820" cy="411480"/>
          </a:xfrm>
          <a:prstGeom prst="rect">
            <a:avLst/>
          </a:prstGeom>
          <a:noFill/>
          <a:ln/>
        </p:spPr>
        <p:txBody>
          <a:bodyPr wrap="square" lIns="0" tIns="0" rIns="0" bIns="0" rtlCol="0" anchor="ctr"/>
          <a:lstStyle/>
          <a:p>
            <a:pPr marL="0" indent="0" algn="ctr">
              <a:buNone/>
            </a:pPr>
            <a:r>
              <a:rPr lang="en-US" sz="1100" b="1" dirty="0">
                <a:solidFill>
                  <a:srgbClr val="C7D2E4"/>
                </a:solidFill>
                <a:latin typeface="Calibri" pitchFamily="34" charset="0"/>
                <a:ea typeface="Calibri" pitchFamily="34" charset="-122"/>
                <a:cs typeface="Calibri" pitchFamily="34" charset="-120"/>
              </a:rPr>
              <a:t>API + Dashboard</a:t>
            </a:r>
            <a:endParaRPr lang="en-US" sz="1100" dirty="0"/>
          </a:p>
        </p:txBody>
      </p:sp>
      <p:sp>
        <p:nvSpPr>
          <p:cNvPr id="17" name="Shape 14"/>
          <p:cNvSpPr/>
          <p:nvPr/>
        </p:nvSpPr>
        <p:spPr>
          <a:xfrm>
            <a:off x="6697980" y="5303520"/>
            <a:ext cx="1147572" cy="411480"/>
          </a:xfrm>
          <a:prstGeom prst="roundRect">
            <a:avLst>
              <a:gd name="adj" fmla="val 48889"/>
            </a:avLst>
          </a:prstGeom>
          <a:solidFill>
            <a:srgbClr val="151D33"/>
          </a:solidFill>
          <a:ln w="12700">
            <a:solidFill>
              <a:srgbClr val="22D3EE"/>
            </a:solidFill>
            <a:prstDash val="solid"/>
          </a:ln>
        </p:spPr>
        <p:txBody>
          <a:bodyPr/>
          <a:lstStyle/>
          <a:p>
            <a:endParaRPr lang="en-US"/>
          </a:p>
        </p:txBody>
      </p:sp>
      <p:sp>
        <p:nvSpPr>
          <p:cNvPr id="18" name="Text 15"/>
          <p:cNvSpPr/>
          <p:nvPr/>
        </p:nvSpPr>
        <p:spPr>
          <a:xfrm>
            <a:off x="6697980" y="5303520"/>
            <a:ext cx="1147572" cy="411480"/>
          </a:xfrm>
          <a:prstGeom prst="rect">
            <a:avLst/>
          </a:prstGeom>
          <a:noFill/>
          <a:ln/>
        </p:spPr>
        <p:txBody>
          <a:bodyPr wrap="square" lIns="0" tIns="0" rIns="0" bIns="0" rtlCol="0" anchor="ctr"/>
          <a:lstStyle/>
          <a:p>
            <a:pPr marL="0" indent="0" algn="ctr">
              <a:buNone/>
            </a:pPr>
            <a:r>
              <a:rPr lang="en-US" sz="1100" b="1" dirty="0">
                <a:solidFill>
                  <a:srgbClr val="C7D2E4"/>
                </a:solidFill>
                <a:latin typeface="Calibri" pitchFamily="34" charset="0"/>
                <a:ea typeface="Calibri" pitchFamily="34" charset="-122"/>
                <a:cs typeface="Calibri" pitchFamily="34" charset="-120"/>
              </a:rPr>
              <a:t>PyTorch</a:t>
            </a:r>
            <a:endParaRPr lang="en-US" sz="1100" dirty="0"/>
          </a:p>
        </p:txBody>
      </p:sp>
      <p:sp>
        <p:nvSpPr>
          <p:cNvPr id="19" name="Shape 16"/>
          <p:cNvSpPr/>
          <p:nvPr/>
        </p:nvSpPr>
        <p:spPr>
          <a:xfrm>
            <a:off x="9098280" y="3657600"/>
            <a:ext cx="2514600" cy="2331720"/>
          </a:xfrm>
          <a:prstGeom prst="roundRect">
            <a:avLst>
              <a:gd name="adj" fmla="val 3529"/>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20" name="Text 17"/>
          <p:cNvSpPr/>
          <p:nvPr/>
        </p:nvSpPr>
        <p:spPr>
          <a:xfrm>
            <a:off x="9235440" y="3822192"/>
            <a:ext cx="2240280" cy="274320"/>
          </a:xfrm>
          <a:prstGeom prst="rect">
            <a:avLst/>
          </a:prstGeom>
          <a:noFill/>
          <a:ln/>
        </p:spPr>
        <p:txBody>
          <a:bodyPr wrap="square" lIns="0" tIns="0" rIns="0" bIns="0" rtlCol="0" anchor="ctr"/>
          <a:lstStyle/>
          <a:p>
            <a:pPr marL="0" indent="0">
              <a:buNone/>
            </a:pPr>
            <a:r>
              <a:rPr lang="en-US" sz="1100" b="1" kern="0" spc="200" dirty="0">
                <a:solidFill>
                  <a:srgbClr val="22D3EE"/>
                </a:solidFill>
                <a:latin typeface="Calibri" pitchFamily="34" charset="0"/>
                <a:ea typeface="Calibri" pitchFamily="34" charset="-122"/>
                <a:cs typeface="Calibri" pitchFamily="34" charset="-120"/>
              </a:rPr>
              <a:t>PROJECT TEAM</a:t>
            </a:r>
            <a:endParaRPr lang="en-US" sz="1100" dirty="0"/>
          </a:p>
        </p:txBody>
      </p:sp>
      <p:sp>
        <p:nvSpPr>
          <p:cNvPr id="21" name="Text 18"/>
          <p:cNvSpPr/>
          <p:nvPr/>
        </p:nvSpPr>
        <p:spPr>
          <a:xfrm>
            <a:off x="9235440" y="4160520"/>
            <a:ext cx="2286000" cy="1371600"/>
          </a:xfrm>
          <a:prstGeom prst="rect">
            <a:avLst/>
          </a:prstGeom>
          <a:noFill/>
          <a:ln/>
        </p:spPr>
        <p:txBody>
          <a:bodyPr wrap="square" lIns="0" tIns="0" rIns="0" bIns="0" rtlCol="0" anchor="ctr"/>
          <a:lstStyle/>
          <a:p>
            <a:pPr marL="0" indent="0">
              <a:spcAft>
                <a:spcPts val="800"/>
              </a:spcAft>
              <a:buNone/>
            </a:pPr>
            <a:r>
              <a:rPr lang="en-US" sz="1400" b="1" dirty="0">
                <a:solidFill>
                  <a:srgbClr val="FFFFFF"/>
                </a:solidFill>
                <a:latin typeface="Calibri" pitchFamily="34" charset="0"/>
                <a:ea typeface="Calibri" pitchFamily="34" charset="-122"/>
                <a:cs typeface="Calibri" pitchFamily="34" charset="-120"/>
              </a:rPr>
              <a:t>Krishna Mathur</a:t>
            </a:r>
            <a:endParaRPr lang="en-US" sz="1400" dirty="0"/>
          </a:p>
          <a:p>
            <a:pPr marL="0" indent="0">
              <a:spcAft>
                <a:spcPts val="800"/>
              </a:spcAft>
              <a:buNone/>
            </a:pPr>
            <a:r>
              <a:rPr lang="en-US" sz="1400" b="1" dirty="0">
                <a:solidFill>
                  <a:srgbClr val="FFFFFF"/>
                </a:solidFill>
                <a:latin typeface="Calibri" pitchFamily="34" charset="0"/>
                <a:ea typeface="Calibri" pitchFamily="34" charset="-122"/>
                <a:cs typeface="Calibri" pitchFamily="34" charset="-120"/>
              </a:rPr>
              <a:t>Yash Petkar</a:t>
            </a:r>
            <a:endParaRPr lang="en-US" sz="1400" dirty="0"/>
          </a:p>
          <a:p>
            <a:pPr marL="0" indent="0">
              <a:spcAft>
                <a:spcPts val="800"/>
              </a:spcAft>
              <a:buNone/>
            </a:pPr>
            <a:r>
              <a:rPr lang="en-US" sz="1400" b="1" dirty="0">
                <a:solidFill>
                  <a:srgbClr val="FFFFFF"/>
                </a:solidFill>
                <a:latin typeface="Calibri" pitchFamily="34" charset="0"/>
                <a:ea typeface="Calibri" pitchFamily="34" charset="-122"/>
                <a:cs typeface="Calibri" pitchFamily="34" charset="-120"/>
              </a:rPr>
              <a:t>Atharva Soundankar</a:t>
            </a:r>
            <a:endParaRPr lang="en-US" sz="1400" dirty="0"/>
          </a:p>
          <a:p>
            <a:pPr marL="0" indent="0">
              <a:spcAft>
                <a:spcPts val="800"/>
              </a:spcAft>
              <a:buNone/>
            </a:pPr>
            <a:r>
              <a:rPr lang="en-US" sz="1400" b="1" dirty="0">
                <a:solidFill>
                  <a:srgbClr val="FFFFFF"/>
                </a:solidFill>
                <a:latin typeface="Calibri" pitchFamily="34" charset="0"/>
                <a:ea typeface="Calibri" pitchFamily="34" charset="-122"/>
                <a:cs typeface="Calibri" pitchFamily="34" charset="-120"/>
              </a:rPr>
              <a:t>Krish Kumar</a:t>
            </a:r>
            <a:endParaRPr lang="en-US" sz="1400" dirty="0"/>
          </a:p>
        </p:txBody>
      </p:sp>
      <p:sp>
        <p:nvSpPr>
          <p:cNvPr id="22" name="Text 19"/>
          <p:cNvSpPr/>
          <p:nvPr/>
        </p:nvSpPr>
        <p:spPr>
          <a:xfrm>
            <a:off x="9235440" y="5486400"/>
            <a:ext cx="2286000" cy="457200"/>
          </a:xfrm>
          <a:prstGeom prst="rect">
            <a:avLst/>
          </a:prstGeom>
          <a:noFill/>
          <a:ln/>
        </p:spPr>
        <p:txBody>
          <a:bodyPr wrap="square" lIns="0" tIns="0" rIns="0" bIns="0" rtlCol="0" anchor="ctr"/>
          <a:lstStyle/>
          <a:p>
            <a:pPr marL="0" indent="0">
              <a:buNone/>
            </a:pPr>
            <a:r>
              <a:rPr lang="en-US" sz="1000" dirty="0">
                <a:solidFill>
                  <a:srgbClr val="8A98B5"/>
                </a:solidFill>
                <a:latin typeface="Calibri" pitchFamily="34" charset="0"/>
                <a:ea typeface="Calibri" pitchFamily="34" charset="-122"/>
                <a:cs typeface="Calibri" pitchFamily="34" charset="-120"/>
              </a:rPr>
              <a:t>MAIB · Sept 2025 · Term 3</a:t>
            </a:r>
            <a:endParaRPr lang="en-US" sz="1000" dirty="0"/>
          </a:p>
          <a:p>
            <a:pPr marL="0" indent="0">
              <a:buNone/>
            </a:pPr>
            <a:r>
              <a:rPr lang="en-US" sz="1000" dirty="0">
                <a:solidFill>
                  <a:srgbClr val="8A98B5"/>
                </a:solidFill>
                <a:latin typeface="Calibri" pitchFamily="34" charset="0"/>
                <a:ea typeface="Calibri" pitchFamily="34" charset="-122"/>
                <a:cs typeface="Calibri" pitchFamily="34" charset="-120"/>
              </a:rPr>
              <a:t>Deep Learning Project</a:t>
            </a:r>
            <a:endParaRPr lang="en-US" sz="1000" dirty="0"/>
          </a:p>
        </p:txBody>
      </p:sp>
      <p:sp>
        <p:nvSpPr>
          <p:cNvPr id="24" name="Text 20"/>
          <p:cNvSpPr/>
          <p:nvPr/>
        </p:nvSpPr>
        <p:spPr>
          <a:xfrm>
            <a:off x="548640" y="6473952"/>
            <a:ext cx="8229600" cy="274320"/>
          </a:xfrm>
          <a:prstGeom prst="rect">
            <a:avLst/>
          </a:prstGeom>
          <a:noFill/>
          <a:ln/>
        </p:spPr>
        <p:txBody>
          <a:bodyPr wrap="square" lIns="0" tIns="0" rIns="0" bIns="0" rtlCol="0" anchor="ctr"/>
          <a:lstStyle/>
          <a:p>
            <a:pPr marL="0" indent="0" algn="l">
              <a:buNone/>
            </a:pPr>
            <a:r>
              <a:rPr lang="en-US" sz="900" dirty="0">
                <a:solidFill>
                  <a:srgbClr val="8A98B5"/>
                </a:solidFill>
                <a:latin typeface="Calibri" pitchFamily="34" charset="0"/>
                <a:ea typeface="Calibri" pitchFamily="34" charset="-122"/>
                <a:cs typeface="Calibri" pitchFamily="34" charset="-120"/>
              </a:rPr>
              <a:t>FraudShield AI  ·  Payment Fraud Sequence Detection (LSTM/RNN)</a:t>
            </a:r>
            <a:endParaRPr lang="en-US" sz="900" dirty="0"/>
          </a:p>
        </p:txBody>
      </p:sp>
      <p:sp>
        <p:nvSpPr>
          <p:cNvPr id="25" name="Text 21"/>
          <p:cNvSpPr/>
          <p:nvPr/>
        </p:nvSpPr>
        <p:spPr>
          <a:xfrm>
            <a:off x="10728655" y="6473952"/>
            <a:ext cx="914400" cy="274320"/>
          </a:xfrm>
          <a:prstGeom prst="rect">
            <a:avLst/>
          </a:prstGeom>
          <a:noFill/>
          <a:ln/>
        </p:spPr>
        <p:txBody>
          <a:bodyPr wrap="square" lIns="0" tIns="0" rIns="0" bIns="0" rtlCol="0" anchor="ctr"/>
          <a:lstStyle/>
          <a:p>
            <a:pPr marL="0" indent="0" algn="r">
              <a:buNone/>
            </a:pPr>
            <a:r>
              <a:rPr lang="en-US" sz="900" dirty="0">
                <a:solidFill>
                  <a:srgbClr val="8A98B5"/>
                </a:solidFill>
                <a:latin typeface="Calibri" pitchFamily="34" charset="0"/>
                <a:ea typeface="Calibri" pitchFamily="34" charset="-122"/>
                <a:cs typeface="Calibri" pitchFamily="34" charset="-120"/>
              </a:rPr>
              <a:t>1 / 15</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marL="0" indent="0" algn="l">
              <a:buNone/>
            </a:pPr>
            <a:r>
              <a:rPr lang="en-US" sz="1200" b="1" kern="0" spc="300" dirty="0">
                <a:solidFill>
                  <a:srgbClr val="22D3EE"/>
                </a:solidFill>
                <a:latin typeface="Calibri" pitchFamily="34" charset="0"/>
                <a:ea typeface="Calibri" pitchFamily="34" charset="-122"/>
                <a:cs typeface="Calibri" pitchFamily="34" charset="-120"/>
              </a:rPr>
              <a:t>BOARDROOM THESIS</a:t>
            </a:r>
            <a:endParaRPr lang="en-US" sz="1200" dirty="0"/>
          </a:p>
        </p:txBody>
      </p:sp>
      <p:sp>
        <p:nvSpPr>
          <p:cNvPr id="3" name="Text 1"/>
          <p:cNvSpPr/>
          <p:nvPr/>
        </p:nvSpPr>
        <p:spPr>
          <a:xfrm>
            <a:off x="548640" y="658368"/>
            <a:ext cx="8869680" cy="868680"/>
          </a:xfrm>
          <a:prstGeom prst="rect">
            <a:avLst/>
          </a:prstGeom>
          <a:noFill/>
          <a:ln/>
        </p:spPr>
        <p:txBody>
          <a:bodyPr wrap="square" lIns="0" tIns="0" rIns="0" bIns="0" rtlCol="0" anchor="t"/>
          <a:lstStyle/>
          <a:p>
            <a:pPr marL="0" indent="0" algn="l">
              <a:buNone/>
            </a:pPr>
            <a:r>
              <a:rPr lang="en-US" sz="3000" b="1" dirty="0">
                <a:solidFill>
                  <a:srgbClr val="FFFFFF"/>
                </a:solidFill>
                <a:latin typeface="Calibri" pitchFamily="34" charset="0"/>
                <a:ea typeface="Calibri" pitchFamily="34" charset="-122"/>
                <a:cs typeface="Calibri" pitchFamily="34" charset="-120"/>
              </a:rPr>
              <a:t>Detect early, route intelligently, govern responsibly</a:t>
            </a:r>
            <a:endParaRPr lang="en-US" sz="3000" dirty="0"/>
          </a:p>
        </p:txBody>
      </p:sp>
      <p:sp>
        <p:nvSpPr>
          <p:cNvPr id="5" name="Text 3"/>
          <p:cNvSpPr/>
          <p:nvPr/>
        </p:nvSpPr>
        <p:spPr>
          <a:xfrm>
            <a:off x="8945575" y="457200"/>
            <a:ext cx="2697480" cy="457200"/>
          </a:xfrm>
          <a:prstGeom prst="rect">
            <a:avLst/>
          </a:prstGeom>
          <a:noFill/>
          <a:ln/>
        </p:spPr>
        <p:txBody>
          <a:bodyPr wrap="square" lIns="0" tIns="0" rIns="0" bIns="0" rtlCol="0" anchor="ctr"/>
          <a:lstStyle/>
          <a:p>
            <a:pPr marL="0" indent="0" algn="ctr">
              <a:buNone/>
            </a:pPr>
            <a:endParaRPr lang="en-US" sz="900" dirty="0"/>
          </a:p>
        </p:txBody>
      </p:sp>
      <p:sp>
        <p:nvSpPr>
          <p:cNvPr id="6" name="Shape 4"/>
          <p:cNvSpPr/>
          <p:nvPr/>
        </p:nvSpPr>
        <p:spPr>
          <a:xfrm>
            <a:off x="548640" y="1783080"/>
            <a:ext cx="3520440" cy="2697480"/>
          </a:xfrm>
          <a:prstGeom prst="roundRect">
            <a:avLst>
              <a:gd name="adj" fmla="val 3051"/>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7" name="Shape 5"/>
          <p:cNvSpPr/>
          <p:nvPr/>
        </p:nvSpPr>
        <p:spPr>
          <a:xfrm>
            <a:off x="822960" y="2057400"/>
            <a:ext cx="658368" cy="658368"/>
          </a:xfrm>
          <a:prstGeom prst="ellipse">
            <a:avLst/>
          </a:prstGeom>
          <a:solidFill>
            <a:srgbClr val="1B2540"/>
          </a:solidFill>
          <a:ln w="15875">
            <a:solidFill>
              <a:srgbClr val="22D3EE"/>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980968" y="2215408"/>
            <a:ext cx="342351" cy="342351"/>
          </a:xfrm>
          <a:prstGeom prst="rect">
            <a:avLst/>
          </a:prstGeom>
        </p:spPr>
      </p:pic>
      <p:sp>
        <p:nvSpPr>
          <p:cNvPr id="9" name="Text 6"/>
          <p:cNvSpPr/>
          <p:nvPr/>
        </p:nvSpPr>
        <p:spPr>
          <a:xfrm>
            <a:off x="3108960" y="2011680"/>
            <a:ext cx="777240" cy="548640"/>
          </a:xfrm>
          <a:prstGeom prst="rect">
            <a:avLst/>
          </a:prstGeom>
          <a:noFill/>
          <a:ln/>
        </p:spPr>
        <p:txBody>
          <a:bodyPr wrap="square" lIns="0" tIns="0" rIns="0" bIns="0" rtlCol="0" anchor="ctr"/>
          <a:lstStyle/>
          <a:p>
            <a:pPr marL="0" indent="0" algn="r">
              <a:buNone/>
            </a:pPr>
            <a:r>
              <a:rPr lang="en-US" sz="3000" b="1" dirty="0">
                <a:solidFill>
                  <a:srgbClr val="2A3550"/>
                </a:solidFill>
                <a:latin typeface="Calibri" pitchFamily="34" charset="0"/>
                <a:ea typeface="Calibri" pitchFamily="34" charset="-122"/>
                <a:cs typeface="Calibri" pitchFamily="34" charset="-120"/>
              </a:rPr>
              <a:t>01</a:t>
            </a:r>
            <a:endParaRPr lang="en-US" sz="3000" dirty="0"/>
          </a:p>
        </p:txBody>
      </p:sp>
      <p:sp>
        <p:nvSpPr>
          <p:cNvPr id="10" name="Text 7"/>
          <p:cNvSpPr/>
          <p:nvPr/>
        </p:nvSpPr>
        <p:spPr>
          <a:xfrm>
            <a:off x="822960" y="2880360"/>
            <a:ext cx="2971800" cy="45720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Behavioural Signal</a:t>
            </a:r>
            <a:endParaRPr lang="en-US" sz="1800" dirty="0"/>
          </a:p>
        </p:txBody>
      </p:sp>
      <p:sp>
        <p:nvSpPr>
          <p:cNvPr id="11" name="Text 8"/>
          <p:cNvSpPr/>
          <p:nvPr/>
        </p:nvSpPr>
        <p:spPr>
          <a:xfrm>
            <a:off x="822960" y="3383280"/>
            <a:ext cx="2971800" cy="914400"/>
          </a:xfrm>
          <a:prstGeom prst="rect">
            <a:avLst/>
          </a:prstGeom>
          <a:noFill/>
          <a:ln/>
        </p:spPr>
        <p:txBody>
          <a:bodyPr wrap="square" lIns="0" tIns="0" rIns="0" bIns="0" rtlCol="0" anchor="ctr"/>
          <a:lstStyle/>
          <a:p>
            <a:pPr marL="0" indent="0">
              <a:lnSpc>
                <a:spcPct val="112000"/>
              </a:lnSpc>
              <a:buNone/>
            </a:pPr>
            <a:r>
              <a:rPr lang="en-US" sz="1300" dirty="0">
                <a:solidFill>
                  <a:srgbClr val="C7D2E4"/>
                </a:solidFill>
                <a:latin typeface="Calibri" pitchFamily="34" charset="0"/>
                <a:ea typeface="Calibri" pitchFamily="34" charset="-122"/>
                <a:cs typeface="Calibri" pitchFamily="34" charset="-120"/>
              </a:rPr>
              <a:t>Read the customer's recent transaction sequence in order — not a single isolated payment.</a:t>
            </a:r>
            <a:endParaRPr lang="en-US" sz="1300" dirty="0"/>
          </a:p>
        </p:txBody>
      </p:sp>
      <p:sp>
        <p:nvSpPr>
          <p:cNvPr id="12" name="Shape 9"/>
          <p:cNvSpPr/>
          <p:nvPr/>
        </p:nvSpPr>
        <p:spPr>
          <a:xfrm>
            <a:off x="4361688" y="1783080"/>
            <a:ext cx="3520440" cy="2697480"/>
          </a:xfrm>
          <a:prstGeom prst="roundRect">
            <a:avLst>
              <a:gd name="adj" fmla="val 3051"/>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13" name="Shape 10"/>
          <p:cNvSpPr/>
          <p:nvPr/>
        </p:nvSpPr>
        <p:spPr>
          <a:xfrm>
            <a:off x="4636008" y="2057400"/>
            <a:ext cx="658368" cy="658368"/>
          </a:xfrm>
          <a:prstGeom prst="ellipse">
            <a:avLst/>
          </a:prstGeom>
          <a:solidFill>
            <a:srgbClr val="1B2540"/>
          </a:solidFill>
          <a:ln w="15875">
            <a:solidFill>
              <a:srgbClr val="A78BFA"/>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4794016" y="2215408"/>
            <a:ext cx="342351" cy="342351"/>
          </a:xfrm>
          <a:prstGeom prst="rect">
            <a:avLst/>
          </a:prstGeom>
        </p:spPr>
      </p:pic>
      <p:sp>
        <p:nvSpPr>
          <p:cNvPr id="15" name="Text 11"/>
          <p:cNvSpPr/>
          <p:nvPr/>
        </p:nvSpPr>
        <p:spPr>
          <a:xfrm>
            <a:off x="6922008" y="2011680"/>
            <a:ext cx="777240" cy="548640"/>
          </a:xfrm>
          <a:prstGeom prst="rect">
            <a:avLst/>
          </a:prstGeom>
          <a:noFill/>
          <a:ln/>
        </p:spPr>
        <p:txBody>
          <a:bodyPr wrap="square" lIns="0" tIns="0" rIns="0" bIns="0" rtlCol="0" anchor="ctr"/>
          <a:lstStyle/>
          <a:p>
            <a:pPr marL="0" indent="0" algn="r">
              <a:buNone/>
            </a:pPr>
            <a:r>
              <a:rPr lang="en-US" sz="3000" b="1" dirty="0">
                <a:solidFill>
                  <a:srgbClr val="2A3550"/>
                </a:solidFill>
                <a:latin typeface="Calibri" pitchFamily="34" charset="0"/>
                <a:ea typeface="Calibri" pitchFamily="34" charset="-122"/>
                <a:cs typeface="Calibri" pitchFamily="34" charset="-120"/>
              </a:rPr>
              <a:t>02</a:t>
            </a:r>
            <a:endParaRPr lang="en-US" sz="3000" dirty="0"/>
          </a:p>
        </p:txBody>
      </p:sp>
      <p:sp>
        <p:nvSpPr>
          <p:cNvPr id="16" name="Text 12"/>
          <p:cNvSpPr/>
          <p:nvPr/>
        </p:nvSpPr>
        <p:spPr>
          <a:xfrm>
            <a:off x="4636008" y="2880360"/>
            <a:ext cx="2971800" cy="45720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Risk Routing</a:t>
            </a:r>
            <a:endParaRPr lang="en-US" sz="1800" dirty="0"/>
          </a:p>
        </p:txBody>
      </p:sp>
      <p:sp>
        <p:nvSpPr>
          <p:cNvPr id="17" name="Text 13"/>
          <p:cNvSpPr/>
          <p:nvPr/>
        </p:nvSpPr>
        <p:spPr>
          <a:xfrm>
            <a:off x="4636008" y="3383280"/>
            <a:ext cx="2971800" cy="914400"/>
          </a:xfrm>
          <a:prstGeom prst="rect">
            <a:avLst/>
          </a:prstGeom>
          <a:noFill/>
          <a:ln/>
        </p:spPr>
        <p:txBody>
          <a:bodyPr wrap="square" lIns="0" tIns="0" rIns="0" bIns="0" rtlCol="0" anchor="ctr"/>
          <a:lstStyle/>
          <a:p>
            <a:pPr marL="0" indent="0">
              <a:lnSpc>
                <a:spcPct val="112000"/>
              </a:lnSpc>
              <a:buNone/>
            </a:pPr>
            <a:r>
              <a:rPr lang="en-US" sz="1300" dirty="0">
                <a:solidFill>
                  <a:srgbClr val="C7D2E4"/>
                </a:solidFill>
                <a:latin typeface="Calibri" pitchFamily="34" charset="0"/>
                <a:ea typeface="Calibri" pitchFamily="34" charset="-122"/>
                <a:cs typeface="Calibri" pitchFamily="34" charset="-120"/>
              </a:rPr>
              <a:t>Translate the model's 0–1 probability into a concrete business action band.</a:t>
            </a:r>
            <a:endParaRPr lang="en-US" sz="1300" dirty="0"/>
          </a:p>
        </p:txBody>
      </p:sp>
      <p:sp>
        <p:nvSpPr>
          <p:cNvPr id="18" name="Shape 14"/>
          <p:cNvSpPr/>
          <p:nvPr/>
        </p:nvSpPr>
        <p:spPr>
          <a:xfrm>
            <a:off x="8174736" y="1783080"/>
            <a:ext cx="3520440" cy="2697480"/>
          </a:xfrm>
          <a:prstGeom prst="roundRect">
            <a:avLst>
              <a:gd name="adj" fmla="val 3051"/>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19" name="Shape 15"/>
          <p:cNvSpPr/>
          <p:nvPr/>
        </p:nvSpPr>
        <p:spPr>
          <a:xfrm>
            <a:off x="8449056" y="2057400"/>
            <a:ext cx="658368" cy="658368"/>
          </a:xfrm>
          <a:prstGeom prst="ellipse">
            <a:avLst/>
          </a:prstGeom>
          <a:solidFill>
            <a:srgbClr val="1B2540"/>
          </a:solidFill>
          <a:ln w="15875">
            <a:solidFill>
              <a:srgbClr val="10B981"/>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8607064" y="2215408"/>
            <a:ext cx="342351" cy="342351"/>
          </a:xfrm>
          <a:prstGeom prst="rect">
            <a:avLst/>
          </a:prstGeom>
        </p:spPr>
      </p:pic>
      <p:sp>
        <p:nvSpPr>
          <p:cNvPr id="21" name="Text 16"/>
          <p:cNvSpPr/>
          <p:nvPr/>
        </p:nvSpPr>
        <p:spPr>
          <a:xfrm>
            <a:off x="10735056" y="2011680"/>
            <a:ext cx="777240" cy="548640"/>
          </a:xfrm>
          <a:prstGeom prst="rect">
            <a:avLst/>
          </a:prstGeom>
          <a:noFill/>
          <a:ln/>
        </p:spPr>
        <p:txBody>
          <a:bodyPr wrap="square" lIns="0" tIns="0" rIns="0" bIns="0" rtlCol="0" anchor="ctr"/>
          <a:lstStyle/>
          <a:p>
            <a:pPr marL="0" indent="0" algn="r">
              <a:buNone/>
            </a:pPr>
            <a:r>
              <a:rPr lang="en-US" sz="3000" b="1" dirty="0">
                <a:solidFill>
                  <a:srgbClr val="2A3550"/>
                </a:solidFill>
                <a:latin typeface="Calibri" pitchFamily="34" charset="0"/>
                <a:ea typeface="Calibri" pitchFamily="34" charset="-122"/>
                <a:cs typeface="Calibri" pitchFamily="34" charset="-120"/>
              </a:rPr>
              <a:t>03</a:t>
            </a:r>
            <a:endParaRPr lang="en-US" sz="3000" dirty="0"/>
          </a:p>
        </p:txBody>
      </p:sp>
      <p:sp>
        <p:nvSpPr>
          <p:cNvPr id="22" name="Text 17"/>
          <p:cNvSpPr/>
          <p:nvPr/>
        </p:nvSpPr>
        <p:spPr>
          <a:xfrm>
            <a:off x="8449056" y="2880360"/>
            <a:ext cx="2971800" cy="45720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Governed Action</a:t>
            </a:r>
            <a:endParaRPr lang="en-US" sz="1800" dirty="0"/>
          </a:p>
        </p:txBody>
      </p:sp>
      <p:sp>
        <p:nvSpPr>
          <p:cNvPr id="23" name="Text 18"/>
          <p:cNvSpPr/>
          <p:nvPr/>
        </p:nvSpPr>
        <p:spPr>
          <a:xfrm>
            <a:off x="8449056" y="3383280"/>
            <a:ext cx="2971800" cy="914400"/>
          </a:xfrm>
          <a:prstGeom prst="rect">
            <a:avLst/>
          </a:prstGeom>
          <a:noFill/>
          <a:ln/>
        </p:spPr>
        <p:txBody>
          <a:bodyPr wrap="square" lIns="0" tIns="0" rIns="0" bIns="0" rtlCol="0" anchor="ctr"/>
          <a:lstStyle/>
          <a:p>
            <a:pPr marL="0" indent="0">
              <a:lnSpc>
                <a:spcPct val="112000"/>
              </a:lnSpc>
              <a:buNone/>
            </a:pPr>
            <a:r>
              <a:rPr lang="en-US" sz="1300" dirty="0">
                <a:solidFill>
                  <a:srgbClr val="C7D2E4"/>
                </a:solidFill>
                <a:latin typeface="Calibri" pitchFamily="34" charset="0"/>
                <a:ea typeface="Calibri" pitchFamily="34" charset="-122"/>
                <a:cs typeface="Calibri" pitchFamily="34" charset="-120"/>
              </a:rPr>
              <a:t>Every decision is logged, explainable, and reviewable. Humans stay accountable.</a:t>
            </a:r>
            <a:endParaRPr lang="en-US" sz="1300" dirty="0"/>
          </a:p>
        </p:txBody>
      </p:sp>
      <p:sp>
        <p:nvSpPr>
          <p:cNvPr id="24" name="Text 19"/>
          <p:cNvSpPr/>
          <p:nvPr/>
        </p:nvSpPr>
        <p:spPr>
          <a:xfrm>
            <a:off x="548640" y="4754880"/>
            <a:ext cx="5486400" cy="274320"/>
          </a:xfrm>
          <a:prstGeom prst="rect">
            <a:avLst/>
          </a:prstGeom>
          <a:noFill/>
          <a:ln/>
        </p:spPr>
        <p:txBody>
          <a:bodyPr wrap="square" lIns="0" tIns="0" rIns="0" bIns="0"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WHAT THE BUSINESS GETS</a:t>
            </a:r>
            <a:endParaRPr lang="en-US" sz="1200" dirty="0"/>
          </a:p>
        </p:txBody>
      </p:sp>
      <p:sp>
        <p:nvSpPr>
          <p:cNvPr id="25" name="Shape 20"/>
          <p:cNvSpPr/>
          <p:nvPr/>
        </p:nvSpPr>
        <p:spPr>
          <a:xfrm>
            <a:off x="548640" y="5120640"/>
            <a:ext cx="2567864" cy="868680"/>
          </a:xfrm>
          <a:prstGeom prst="roundRect">
            <a:avLst>
              <a:gd name="adj" fmla="val 8421"/>
            </a:avLst>
          </a:prstGeom>
          <a:solidFill>
            <a:srgbClr val="1B2540"/>
          </a:solidFill>
          <a:ln w="12700">
            <a:solidFill>
              <a:srgbClr val="2A3550"/>
            </a:solidFill>
            <a:prstDash val="solid"/>
          </a:ln>
        </p:spPr>
        <p:txBody>
          <a:bodyPr/>
          <a:lstStyle/>
          <a:p>
            <a:endParaRPr lang="en-US"/>
          </a:p>
        </p:txBody>
      </p:sp>
      <p:sp>
        <p:nvSpPr>
          <p:cNvPr id="26" name="Shape 21"/>
          <p:cNvSpPr/>
          <p:nvPr/>
        </p:nvSpPr>
        <p:spPr>
          <a:xfrm>
            <a:off x="777240" y="5458968"/>
            <a:ext cx="182880" cy="182880"/>
          </a:xfrm>
          <a:prstGeom prst="ellipse">
            <a:avLst/>
          </a:prstGeom>
          <a:solidFill>
            <a:srgbClr val="10B981"/>
          </a:solidFill>
          <a:ln/>
        </p:spPr>
        <p:txBody>
          <a:bodyPr/>
          <a:lstStyle/>
          <a:p>
            <a:endParaRPr lang="en-US"/>
          </a:p>
        </p:txBody>
      </p:sp>
      <p:sp>
        <p:nvSpPr>
          <p:cNvPr id="27" name="Text 22"/>
          <p:cNvSpPr/>
          <p:nvPr/>
        </p:nvSpPr>
        <p:spPr>
          <a:xfrm>
            <a:off x="1097280" y="5120640"/>
            <a:ext cx="1882064" cy="8686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Lower fraud loss</a:t>
            </a:r>
            <a:endParaRPr lang="en-US" sz="1400" dirty="0"/>
          </a:p>
        </p:txBody>
      </p:sp>
      <p:sp>
        <p:nvSpPr>
          <p:cNvPr id="28" name="Shape 23"/>
          <p:cNvSpPr/>
          <p:nvPr/>
        </p:nvSpPr>
        <p:spPr>
          <a:xfrm>
            <a:off x="3390824" y="5120640"/>
            <a:ext cx="2567864" cy="868680"/>
          </a:xfrm>
          <a:prstGeom prst="roundRect">
            <a:avLst>
              <a:gd name="adj" fmla="val 8421"/>
            </a:avLst>
          </a:prstGeom>
          <a:solidFill>
            <a:srgbClr val="1B2540"/>
          </a:solidFill>
          <a:ln w="12700">
            <a:solidFill>
              <a:srgbClr val="2A3550"/>
            </a:solidFill>
            <a:prstDash val="solid"/>
          </a:ln>
        </p:spPr>
        <p:txBody>
          <a:bodyPr/>
          <a:lstStyle/>
          <a:p>
            <a:endParaRPr lang="en-US"/>
          </a:p>
        </p:txBody>
      </p:sp>
      <p:sp>
        <p:nvSpPr>
          <p:cNvPr id="29" name="Shape 24"/>
          <p:cNvSpPr/>
          <p:nvPr/>
        </p:nvSpPr>
        <p:spPr>
          <a:xfrm>
            <a:off x="3619424" y="5458968"/>
            <a:ext cx="182880" cy="182880"/>
          </a:xfrm>
          <a:prstGeom prst="ellipse">
            <a:avLst/>
          </a:prstGeom>
          <a:solidFill>
            <a:srgbClr val="22D3EE"/>
          </a:solidFill>
          <a:ln/>
        </p:spPr>
        <p:txBody>
          <a:bodyPr/>
          <a:lstStyle/>
          <a:p>
            <a:endParaRPr lang="en-US"/>
          </a:p>
        </p:txBody>
      </p:sp>
      <p:sp>
        <p:nvSpPr>
          <p:cNvPr id="30" name="Text 25"/>
          <p:cNvSpPr/>
          <p:nvPr/>
        </p:nvSpPr>
        <p:spPr>
          <a:xfrm>
            <a:off x="3939464" y="5120640"/>
            <a:ext cx="1882064" cy="8686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Less manual noise</a:t>
            </a:r>
            <a:endParaRPr lang="en-US" sz="1400" dirty="0"/>
          </a:p>
        </p:txBody>
      </p:sp>
      <p:sp>
        <p:nvSpPr>
          <p:cNvPr id="31" name="Shape 26"/>
          <p:cNvSpPr/>
          <p:nvPr/>
        </p:nvSpPr>
        <p:spPr>
          <a:xfrm>
            <a:off x="6233008" y="5120640"/>
            <a:ext cx="2567864" cy="868680"/>
          </a:xfrm>
          <a:prstGeom prst="roundRect">
            <a:avLst>
              <a:gd name="adj" fmla="val 8421"/>
            </a:avLst>
          </a:prstGeom>
          <a:solidFill>
            <a:srgbClr val="1B2540"/>
          </a:solidFill>
          <a:ln w="12700">
            <a:solidFill>
              <a:srgbClr val="2A3550"/>
            </a:solidFill>
            <a:prstDash val="solid"/>
          </a:ln>
        </p:spPr>
        <p:txBody>
          <a:bodyPr/>
          <a:lstStyle/>
          <a:p>
            <a:endParaRPr lang="en-US"/>
          </a:p>
        </p:txBody>
      </p:sp>
      <p:sp>
        <p:nvSpPr>
          <p:cNvPr id="32" name="Shape 27"/>
          <p:cNvSpPr/>
          <p:nvPr/>
        </p:nvSpPr>
        <p:spPr>
          <a:xfrm>
            <a:off x="6461608" y="5458968"/>
            <a:ext cx="182880" cy="182880"/>
          </a:xfrm>
          <a:prstGeom prst="ellipse">
            <a:avLst/>
          </a:prstGeom>
          <a:solidFill>
            <a:srgbClr val="A78BFA"/>
          </a:solidFill>
          <a:ln/>
        </p:spPr>
        <p:txBody>
          <a:bodyPr/>
          <a:lstStyle/>
          <a:p>
            <a:endParaRPr lang="en-US"/>
          </a:p>
        </p:txBody>
      </p:sp>
      <p:sp>
        <p:nvSpPr>
          <p:cNvPr id="33" name="Text 28"/>
          <p:cNvSpPr/>
          <p:nvPr/>
        </p:nvSpPr>
        <p:spPr>
          <a:xfrm>
            <a:off x="6781648" y="5120640"/>
            <a:ext cx="1882064" cy="8686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More customer trust</a:t>
            </a:r>
            <a:endParaRPr lang="en-US" sz="1400" dirty="0"/>
          </a:p>
        </p:txBody>
      </p:sp>
      <p:sp>
        <p:nvSpPr>
          <p:cNvPr id="34" name="Shape 29"/>
          <p:cNvSpPr/>
          <p:nvPr/>
        </p:nvSpPr>
        <p:spPr>
          <a:xfrm>
            <a:off x="9075191" y="5120640"/>
            <a:ext cx="2567864" cy="868680"/>
          </a:xfrm>
          <a:prstGeom prst="roundRect">
            <a:avLst>
              <a:gd name="adj" fmla="val 8421"/>
            </a:avLst>
          </a:prstGeom>
          <a:solidFill>
            <a:srgbClr val="1B2540"/>
          </a:solidFill>
          <a:ln w="12700">
            <a:solidFill>
              <a:srgbClr val="2A3550"/>
            </a:solidFill>
            <a:prstDash val="solid"/>
          </a:ln>
        </p:spPr>
        <p:txBody>
          <a:bodyPr/>
          <a:lstStyle/>
          <a:p>
            <a:endParaRPr lang="en-US"/>
          </a:p>
        </p:txBody>
      </p:sp>
      <p:sp>
        <p:nvSpPr>
          <p:cNvPr id="35" name="Shape 30"/>
          <p:cNvSpPr/>
          <p:nvPr/>
        </p:nvSpPr>
        <p:spPr>
          <a:xfrm>
            <a:off x="9303791" y="5458968"/>
            <a:ext cx="182880" cy="182880"/>
          </a:xfrm>
          <a:prstGeom prst="ellipse">
            <a:avLst/>
          </a:prstGeom>
          <a:solidFill>
            <a:srgbClr val="F59E0B"/>
          </a:solidFill>
          <a:ln/>
        </p:spPr>
        <p:txBody>
          <a:bodyPr/>
          <a:lstStyle/>
          <a:p>
            <a:endParaRPr lang="en-US"/>
          </a:p>
        </p:txBody>
      </p:sp>
      <p:sp>
        <p:nvSpPr>
          <p:cNvPr id="36" name="Text 31"/>
          <p:cNvSpPr/>
          <p:nvPr/>
        </p:nvSpPr>
        <p:spPr>
          <a:xfrm>
            <a:off x="9623831" y="5120640"/>
            <a:ext cx="1882064" cy="8686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Full traceability</a:t>
            </a:r>
            <a:endParaRPr lang="en-US" sz="1400" dirty="0"/>
          </a:p>
        </p:txBody>
      </p:sp>
      <p:sp>
        <p:nvSpPr>
          <p:cNvPr id="38" name="Text 32"/>
          <p:cNvSpPr/>
          <p:nvPr/>
        </p:nvSpPr>
        <p:spPr>
          <a:xfrm>
            <a:off x="548640" y="6473952"/>
            <a:ext cx="8229600" cy="274320"/>
          </a:xfrm>
          <a:prstGeom prst="rect">
            <a:avLst/>
          </a:prstGeom>
          <a:noFill/>
          <a:ln/>
        </p:spPr>
        <p:txBody>
          <a:bodyPr wrap="square" lIns="0" tIns="0" rIns="0" bIns="0" rtlCol="0" anchor="ctr"/>
          <a:lstStyle/>
          <a:p>
            <a:pPr marL="0" indent="0" algn="l">
              <a:buNone/>
            </a:pPr>
            <a:r>
              <a:rPr lang="en-US" sz="900" dirty="0">
                <a:solidFill>
                  <a:srgbClr val="8A98B5"/>
                </a:solidFill>
                <a:latin typeface="Calibri" pitchFamily="34" charset="0"/>
                <a:ea typeface="Calibri" pitchFamily="34" charset="-122"/>
                <a:cs typeface="Calibri" pitchFamily="34" charset="-120"/>
              </a:rPr>
              <a:t>FraudShield AI  ·  Payment Fraud Sequence Detection (LSTM/RNN)</a:t>
            </a:r>
            <a:endParaRPr lang="en-US" sz="900" dirty="0"/>
          </a:p>
        </p:txBody>
      </p:sp>
      <p:sp>
        <p:nvSpPr>
          <p:cNvPr id="39" name="Text 33"/>
          <p:cNvSpPr/>
          <p:nvPr/>
        </p:nvSpPr>
        <p:spPr>
          <a:xfrm>
            <a:off x="10728655" y="6473952"/>
            <a:ext cx="914400" cy="274320"/>
          </a:xfrm>
          <a:prstGeom prst="rect">
            <a:avLst/>
          </a:prstGeom>
          <a:noFill/>
          <a:ln/>
        </p:spPr>
        <p:txBody>
          <a:bodyPr wrap="square" lIns="0" tIns="0" rIns="0" bIns="0" rtlCol="0" anchor="ctr"/>
          <a:lstStyle/>
          <a:p>
            <a:pPr marL="0" indent="0" algn="r">
              <a:buNone/>
            </a:pPr>
            <a:r>
              <a:rPr lang="en-US" sz="900" dirty="0">
                <a:solidFill>
                  <a:srgbClr val="8A98B5"/>
                </a:solidFill>
                <a:latin typeface="Calibri" pitchFamily="34" charset="0"/>
                <a:ea typeface="Calibri" pitchFamily="34" charset="-122"/>
                <a:cs typeface="Calibri" pitchFamily="34" charset="-120"/>
              </a:rPr>
              <a:t>2 / 15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marL="0" indent="0" algn="l">
              <a:buNone/>
            </a:pPr>
            <a:r>
              <a:rPr lang="en-US" sz="1200" b="1" kern="0" spc="300" dirty="0">
                <a:solidFill>
                  <a:srgbClr val="22D3EE"/>
                </a:solidFill>
                <a:latin typeface="Calibri" pitchFamily="34" charset="0"/>
                <a:ea typeface="Calibri" pitchFamily="34" charset="-122"/>
                <a:cs typeface="Calibri" pitchFamily="34" charset="-120"/>
              </a:rPr>
              <a:t>THE BUSINESS PROBLEM</a:t>
            </a:r>
            <a:endParaRPr lang="en-US" sz="1200" dirty="0"/>
          </a:p>
        </p:txBody>
      </p:sp>
      <p:sp>
        <p:nvSpPr>
          <p:cNvPr id="3" name="Text 1"/>
          <p:cNvSpPr/>
          <p:nvPr/>
        </p:nvSpPr>
        <p:spPr>
          <a:xfrm>
            <a:off x="548640" y="658368"/>
            <a:ext cx="8869680" cy="868680"/>
          </a:xfrm>
          <a:prstGeom prst="rect">
            <a:avLst/>
          </a:prstGeom>
          <a:noFill/>
          <a:ln/>
        </p:spPr>
        <p:txBody>
          <a:bodyPr wrap="square" lIns="0" tIns="0" rIns="0" bIns="0" rtlCol="0" anchor="t"/>
          <a:lstStyle/>
          <a:p>
            <a:pPr marL="0" indent="0" algn="l">
              <a:buNone/>
            </a:pPr>
            <a:r>
              <a:rPr lang="en-US" sz="3000" b="1" dirty="0">
                <a:solidFill>
                  <a:srgbClr val="FFFFFF"/>
                </a:solidFill>
                <a:latin typeface="Calibri" pitchFamily="34" charset="0"/>
                <a:ea typeface="Calibri" pitchFamily="34" charset="-122"/>
                <a:cs typeface="Calibri" pitchFamily="34" charset="-120"/>
              </a:rPr>
              <a:t>Fraud is fast, rare, and hidden in behaviour</a:t>
            </a:r>
            <a:endParaRPr lang="en-US" sz="3000" dirty="0"/>
          </a:p>
        </p:txBody>
      </p:sp>
      <p:sp>
        <p:nvSpPr>
          <p:cNvPr id="5" name="Text 3"/>
          <p:cNvSpPr/>
          <p:nvPr/>
        </p:nvSpPr>
        <p:spPr>
          <a:xfrm>
            <a:off x="8945575" y="457200"/>
            <a:ext cx="2697480" cy="457200"/>
          </a:xfrm>
          <a:prstGeom prst="rect">
            <a:avLst/>
          </a:prstGeom>
          <a:noFill/>
          <a:ln/>
        </p:spPr>
        <p:txBody>
          <a:bodyPr wrap="square" lIns="0" tIns="0" rIns="0" bIns="0" rtlCol="0" anchor="ctr"/>
          <a:lstStyle/>
          <a:p>
            <a:pPr marL="0" indent="0" algn="ctr">
              <a:buNone/>
            </a:pPr>
            <a:endParaRPr lang="en-US" sz="900" dirty="0"/>
          </a:p>
        </p:txBody>
      </p:sp>
      <p:sp>
        <p:nvSpPr>
          <p:cNvPr id="6" name="Shape 4"/>
          <p:cNvSpPr/>
          <p:nvPr/>
        </p:nvSpPr>
        <p:spPr>
          <a:xfrm>
            <a:off x="548640" y="1783080"/>
            <a:ext cx="7040880" cy="2240280"/>
          </a:xfrm>
          <a:prstGeom prst="roundRect">
            <a:avLst>
              <a:gd name="adj" fmla="val 3673"/>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7" name="Text 5"/>
          <p:cNvSpPr/>
          <p:nvPr/>
        </p:nvSpPr>
        <p:spPr>
          <a:xfrm>
            <a:off x="777240" y="1938528"/>
            <a:ext cx="6675120" cy="274320"/>
          </a:xfrm>
          <a:prstGeom prst="rect">
            <a:avLst/>
          </a:prstGeom>
          <a:noFill/>
          <a:ln/>
        </p:spPr>
        <p:txBody>
          <a:bodyPr wrap="square" lIns="0" tIns="0" rIns="0" bIns="0" rtlCol="0" anchor="ctr"/>
          <a:lstStyle/>
          <a:p>
            <a:pPr marL="0" indent="0">
              <a:buNone/>
            </a:pPr>
            <a:r>
              <a:rPr lang="en-US" sz="1200" b="1" kern="0" spc="100" dirty="0">
                <a:solidFill>
                  <a:srgbClr val="22D3EE"/>
                </a:solidFill>
                <a:latin typeface="Calibri" pitchFamily="34" charset="0"/>
                <a:ea typeface="Calibri" pitchFamily="34" charset="-122"/>
                <a:cs typeface="Calibri" pitchFamily="34" charset="-120"/>
              </a:rPr>
              <a:t>A SINGLE TRANSACTION LOOKS FINE — THE SEQUENCE DOES NOT</a:t>
            </a:r>
            <a:endParaRPr lang="en-US" sz="1200" dirty="0"/>
          </a:p>
        </p:txBody>
      </p:sp>
      <p:sp>
        <p:nvSpPr>
          <p:cNvPr id="8" name="Shape 6"/>
          <p:cNvSpPr/>
          <p:nvPr/>
        </p:nvSpPr>
        <p:spPr>
          <a:xfrm>
            <a:off x="868680" y="2423160"/>
            <a:ext cx="1078992" cy="914400"/>
          </a:xfrm>
          <a:prstGeom prst="roundRect">
            <a:avLst>
              <a:gd name="adj" fmla="val 8000"/>
            </a:avLst>
          </a:prstGeom>
          <a:solidFill>
            <a:srgbClr val="1B2540"/>
          </a:solidFill>
          <a:ln w="19050">
            <a:solidFill>
              <a:srgbClr val="10B981"/>
            </a:solidFill>
            <a:prstDash val="solid"/>
          </a:ln>
        </p:spPr>
        <p:txBody>
          <a:bodyPr/>
          <a:lstStyle/>
          <a:p>
            <a:endParaRPr lang="en-US"/>
          </a:p>
        </p:txBody>
      </p:sp>
      <p:sp>
        <p:nvSpPr>
          <p:cNvPr id="9" name="Text 7"/>
          <p:cNvSpPr/>
          <p:nvPr/>
        </p:nvSpPr>
        <p:spPr>
          <a:xfrm>
            <a:off x="868680" y="2423160"/>
            <a:ext cx="1078992" cy="91440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100</a:t>
            </a:r>
            <a:endParaRPr lang="en-US" sz="1900" dirty="0"/>
          </a:p>
        </p:txBody>
      </p:sp>
      <p:sp>
        <p:nvSpPr>
          <p:cNvPr id="10" name="Shape 8"/>
          <p:cNvSpPr/>
          <p:nvPr/>
        </p:nvSpPr>
        <p:spPr>
          <a:xfrm>
            <a:off x="1965960" y="2779776"/>
            <a:ext cx="256032" cy="201168"/>
          </a:xfrm>
          <a:prstGeom prst="rightArrow">
            <a:avLst/>
          </a:prstGeom>
          <a:solidFill>
            <a:srgbClr val="8A98B5"/>
          </a:solidFill>
          <a:ln/>
        </p:spPr>
        <p:txBody>
          <a:bodyPr/>
          <a:lstStyle/>
          <a:p>
            <a:endParaRPr lang="en-US"/>
          </a:p>
        </p:txBody>
      </p:sp>
      <p:sp>
        <p:nvSpPr>
          <p:cNvPr id="11" name="Shape 9"/>
          <p:cNvSpPr/>
          <p:nvPr/>
        </p:nvSpPr>
        <p:spPr>
          <a:xfrm>
            <a:off x="2240280" y="2423160"/>
            <a:ext cx="1078992" cy="914400"/>
          </a:xfrm>
          <a:prstGeom prst="roundRect">
            <a:avLst>
              <a:gd name="adj" fmla="val 8000"/>
            </a:avLst>
          </a:prstGeom>
          <a:solidFill>
            <a:srgbClr val="1B2540"/>
          </a:solidFill>
          <a:ln w="19050">
            <a:solidFill>
              <a:srgbClr val="10B981"/>
            </a:solidFill>
            <a:prstDash val="solid"/>
          </a:ln>
        </p:spPr>
        <p:txBody>
          <a:bodyPr/>
          <a:lstStyle/>
          <a:p>
            <a:endParaRPr lang="en-US"/>
          </a:p>
        </p:txBody>
      </p:sp>
      <p:sp>
        <p:nvSpPr>
          <p:cNvPr id="12" name="Text 10"/>
          <p:cNvSpPr/>
          <p:nvPr/>
        </p:nvSpPr>
        <p:spPr>
          <a:xfrm>
            <a:off x="2240280" y="2423160"/>
            <a:ext cx="1078992" cy="91440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120</a:t>
            </a:r>
            <a:endParaRPr lang="en-US" sz="1900" dirty="0"/>
          </a:p>
        </p:txBody>
      </p:sp>
      <p:sp>
        <p:nvSpPr>
          <p:cNvPr id="13" name="Shape 11"/>
          <p:cNvSpPr/>
          <p:nvPr/>
        </p:nvSpPr>
        <p:spPr>
          <a:xfrm>
            <a:off x="3337560" y="2779776"/>
            <a:ext cx="256032" cy="201168"/>
          </a:xfrm>
          <a:prstGeom prst="rightArrow">
            <a:avLst/>
          </a:prstGeom>
          <a:solidFill>
            <a:srgbClr val="8A98B5"/>
          </a:solidFill>
          <a:ln/>
        </p:spPr>
        <p:txBody>
          <a:bodyPr/>
          <a:lstStyle/>
          <a:p>
            <a:endParaRPr lang="en-US"/>
          </a:p>
        </p:txBody>
      </p:sp>
      <p:sp>
        <p:nvSpPr>
          <p:cNvPr id="14" name="Shape 12"/>
          <p:cNvSpPr/>
          <p:nvPr/>
        </p:nvSpPr>
        <p:spPr>
          <a:xfrm>
            <a:off x="3611880" y="2423160"/>
            <a:ext cx="1078992" cy="914400"/>
          </a:xfrm>
          <a:prstGeom prst="roundRect">
            <a:avLst>
              <a:gd name="adj" fmla="val 8000"/>
            </a:avLst>
          </a:prstGeom>
          <a:solidFill>
            <a:srgbClr val="1B2540"/>
          </a:solidFill>
          <a:ln w="19050">
            <a:solidFill>
              <a:srgbClr val="F59E0B"/>
            </a:solidFill>
            <a:prstDash val="solid"/>
          </a:ln>
        </p:spPr>
        <p:txBody>
          <a:bodyPr/>
          <a:lstStyle/>
          <a:p>
            <a:endParaRPr lang="en-US"/>
          </a:p>
        </p:txBody>
      </p:sp>
      <p:sp>
        <p:nvSpPr>
          <p:cNvPr id="15" name="Text 13"/>
          <p:cNvSpPr/>
          <p:nvPr/>
        </p:nvSpPr>
        <p:spPr>
          <a:xfrm>
            <a:off x="3611880" y="2423160"/>
            <a:ext cx="1078992" cy="91440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9,000</a:t>
            </a:r>
            <a:endParaRPr lang="en-US" sz="1900" dirty="0"/>
          </a:p>
        </p:txBody>
      </p:sp>
      <p:sp>
        <p:nvSpPr>
          <p:cNvPr id="16" name="Shape 14"/>
          <p:cNvSpPr/>
          <p:nvPr/>
        </p:nvSpPr>
        <p:spPr>
          <a:xfrm>
            <a:off x="4709160" y="2779776"/>
            <a:ext cx="256032" cy="201168"/>
          </a:xfrm>
          <a:prstGeom prst="rightArrow">
            <a:avLst/>
          </a:prstGeom>
          <a:solidFill>
            <a:srgbClr val="8A98B5"/>
          </a:solidFill>
          <a:ln/>
        </p:spPr>
        <p:txBody>
          <a:bodyPr/>
          <a:lstStyle/>
          <a:p>
            <a:endParaRPr lang="en-US"/>
          </a:p>
        </p:txBody>
      </p:sp>
      <p:sp>
        <p:nvSpPr>
          <p:cNvPr id="17" name="Shape 15"/>
          <p:cNvSpPr/>
          <p:nvPr/>
        </p:nvSpPr>
        <p:spPr>
          <a:xfrm>
            <a:off x="4983480" y="2423160"/>
            <a:ext cx="1078992" cy="914400"/>
          </a:xfrm>
          <a:prstGeom prst="roundRect">
            <a:avLst>
              <a:gd name="adj" fmla="val 8000"/>
            </a:avLst>
          </a:prstGeom>
          <a:solidFill>
            <a:srgbClr val="1B2540"/>
          </a:solidFill>
          <a:ln w="19050">
            <a:solidFill>
              <a:srgbClr val="F43F5E"/>
            </a:solidFill>
            <a:prstDash val="solid"/>
          </a:ln>
        </p:spPr>
        <p:txBody>
          <a:bodyPr/>
          <a:lstStyle/>
          <a:p>
            <a:endParaRPr lang="en-US"/>
          </a:p>
        </p:txBody>
      </p:sp>
      <p:sp>
        <p:nvSpPr>
          <p:cNvPr id="18" name="Text 16"/>
          <p:cNvSpPr/>
          <p:nvPr/>
        </p:nvSpPr>
        <p:spPr>
          <a:xfrm>
            <a:off x="4983480" y="2423160"/>
            <a:ext cx="1078992" cy="91440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9,500</a:t>
            </a:r>
            <a:endParaRPr lang="en-US" sz="1900" dirty="0"/>
          </a:p>
        </p:txBody>
      </p:sp>
      <p:sp>
        <p:nvSpPr>
          <p:cNvPr id="19" name="Shape 17"/>
          <p:cNvSpPr/>
          <p:nvPr/>
        </p:nvSpPr>
        <p:spPr>
          <a:xfrm>
            <a:off x="6080760" y="2779776"/>
            <a:ext cx="256032" cy="201168"/>
          </a:xfrm>
          <a:prstGeom prst="rightArrow">
            <a:avLst/>
          </a:prstGeom>
          <a:solidFill>
            <a:srgbClr val="8A98B5"/>
          </a:solidFill>
          <a:ln/>
        </p:spPr>
        <p:txBody>
          <a:bodyPr/>
          <a:lstStyle/>
          <a:p>
            <a:endParaRPr lang="en-US"/>
          </a:p>
        </p:txBody>
      </p:sp>
      <p:sp>
        <p:nvSpPr>
          <p:cNvPr id="20" name="Shape 18"/>
          <p:cNvSpPr/>
          <p:nvPr/>
        </p:nvSpPr>
        <p:spPr>
          <a:xfrm>
            <a:off x="6355080" y="2423160"/>
            <a:ext cx="1078992" cy="914400"/>
          </a:xfrm>
          <a:prstGeom prst="roundRect">
            <a:avLst>
              <a:gd name="adj" fmla="val 8000"/>
            </a:avLst>
          </a:prstGeom>
          <a:solidFill>
            <a:srgbClr val="1B2540"/>
          </a:solidFill>
          <a:ln w="19050">
            <a:solidFill>
              <a:srgbClr val="F43F5E"/>
            </a:solidFill>
            <a:prstDash val="solid"/>
          </a:ln>
        </p:spPr>
        <p:txBody>
          <a:bodyPr/>
          <a:lstStyle/>
          <a:p>
            <a:endParaRPr lang="en-US"/>
          </a:p>
        </p:txBody>
      </p:sp>
      <p:sp>
        <p:nvSpPr>
          <p:cNvPr id="21" name="Text 19"/>
          <p:cNvSpPr/>
          <p:nvPr/>
        </p:nvSpPr>
        <p:spPr>
          <a:xfrm>
            <a:off x="6355080" y="2423160"/>
            <a:ext cx="1078992" cy="91440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Bal 0</a:t>
            </a:r>
            <a:endParaRPr lang="en-US" sz="1900" dirty="0"/>
          </a:p>
        </p:txBody>
      </p:sp>
      <p:sp>
        <p:nvSpPr>
          <p:cNvPr id="22" name="Text 20"/>
          <p:cNvSpPr/>
          <p:nvPr/>
        </p:nvSpPr>
        <p:spPr>
          <a:xfrm>
            <a:off x="868680" y="3474720"/>
            <a:ext cx="6400800" cy="365760"/>
          </a:xfrm>
          <a:prstGeom prst="rect">
            <a:avLst/>
          </a:prstGeom>
          <a:noFill/>
          <a:ln/>
        </p:spPr>
        <p:txBody>
          <a:bodyPr wrap="square" lIns="0" tIns="0" rIns="0" bIns="0" rtlCol="0" anchor="ctr"/>
          <a:lstStyle/>
          <a:p>
            <a:pPr marL="0" indent="0">
              <a:buNone/>
            </a:pPr>
            <a:r>
              <a:rPr lang="en-US" sz="1300" i="1" dirty="0">
                <a:solidFill>
                  <a:srgbClr val="C7D2E4"/>
                </a:solidFill>
                <a:latin typeface="Calibri" pitchFamily="34" charset="0"/>
                <a:ea typeface="Calibri" pitchFamily="34" charset="-122"/>
                <a:cs typeface="Calibri" pitchFamily="34" charset="-120"/>
              </a:rPr>
              <a:t>Calm history → sudden spike → rapid drain to zero balance.</a:t>
            </a:r>
            <a:endParaRPr lang="en-US" sz="1300" dirty="0"/>
          </a:p>
        </p:txBody>
      </p:sp>
      <p:sp>
        <p:nvSpPr>
          <p:cNvPr id="23" name="Shape 21"/>
          <p:cNvSpPr/>
          <p:nvPr/>
        </p:nvSpPr>
        <p:spPr>
          <a:xfrm>
            <a:off x="7818120" y="1783080"/>
            <a:ext cx="3840480" cy="1280160"/>
          </a:xfrm>
          <a:prstGeom prst="roundRect">
            <a:avLst>
              <a:gd name="adj" fmla="val 6429"/>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24" name="Shape 22"/>
          <p:cNvSpPr/>
          <p:nvPr/>
        </p:nvSpPr>
        <p:spPr>
          <a:xfrm>
            <a:off x="8046720" y="2167128"/>
            <a:ext cx="512064" cy="512064"/>
          </a:xfrm>
          <a:prstGeom prst="ellipse">
            <a:avLst/>
          </a:prstGeom>
          <a:solidFill>
            <a:srgbClr val="1B2540"/>
          </a:solidFill>
          <a:ln w="15875">
            <a:solidFill>
              <a:srgbClr val="F59E0B"/>
            </a:solidFill>
            <a:prstDash val="solid"/>
          </a:ln>
        </p:spPr>
        <p:txBody>
          <a:bodyPr/>
          <a:lstStyle/>
          <a:p>
            <a:endParaRPr lang="en-US"/>
          </a:p>
        </p:txBody>
      </p:sp>
      <p:pic>
        <p:nvPicPr>
          <p:cNvPr id="25" name="Image 0" descr="preencoded.png"/>
          <p:cNvPicPr>
            <a:picLocks noChangeAspect="1"/>
          </p:cNvPicPr>
          <p:nvPr/>
        </p:nvPicPr>
        <p:blipFill>
          <a:blip r:embed="rId3"/>
          <a:stretch>
            <a:fillRect/>
          </a:stretch>
        </p:blipFill>
        <p:spPr>
          <a:xfrm>
            <a:off x="8169615" y="2290023"/>
            <a:ext cx="266273" cy="266273"/>
          </a:xfrm>
          <a:prstGeom prst="rect">
            <a:avLst/>
          </a:prstGeom>
        </p:spPr>
      </p:pic>
      <p:sp>
        <p:nvSpPr>
          <p:cNvPr id="26" name="Text 23"/>
          <p:cNvSpPr/>
          <p:nvPr/>
        </p:nvSpPr>
        <p:spPr>
          <a:xfrm>
            <a:off x="8732520" y="1965960"/>
            <a:ext cx="278892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Speed</a:t>
            </a:r>
            <a:endParaRPr lang="en-US" sz="1500" dirty="0"/>
          </a:p>
        </p:txBody>
      </p:sp>
      <p:sp>
        <p:nvSpPr>
          <p:cNvPr id="27" name="Text 24"/>
          <p:cNvSpPr/>
          <p:nvPr/>
        </p:nvSpPr>
        <p:spPr>
          <a:xfrm>
            <a:off x="8732520" y="2313432"/>
            <a:ext cx="2788920" cy="640080"/>
          </a:xfrm>
          <a:prstGeom prst="rect">
            <a:avLst/>
          </a:prstGeom>
          <a:noFill/>
          <a:ln/>
        </p:spPr>
        <p:txBody>
          <a:bodyPr wrap="square" lIns="0" tIns="0" rIns="0" bIns="0" rtlCol="0" anchor="ctr"/>
          <a:lstStyle/>
          <a:p>
            <a:pPr marL="0" indent="0">
              <a:lnSpc>
                <a:spcPct val="105000"/>
              </a:lnSpc>
              <a:buNone/>
            </a:pPr>
            <a:r>
              <a:rPr lang="en-US" sz="1150" dirty="0">
                <a:solidFill>
                  <a:srgbClr val="C7D2E4"/>
                </a:solidFill>
                <a:latin typeface="Calibri" pitchFamily="34" charset="0"/>
                <a:ea typeface="Calibri" pitchFamily="34" charset="-122"/>
                <a:cs typeface="Calibri" pitchFamily="34" charset="-120"/>
              </a:rPr>
              <a:t>Fraud executes in seconds. Manual checks can't keep up in real time.</a:t>
            </a:r>
            <a:endParaRPr lang="en-US" sz="1150" dirty="0"/>
          </a:p>
        </p:txBody>
      </p:sp>
      <p:sp>
        <p:nvSpPr>
          <p:cNvPr id="28" name="Shape 25"/>
          <p:cNvSpPr/>
          <p:nvPr/>
        </p:nvSpPr>
        <p:spPr>
          <a:xfrm>
            <a:off x="7818120" y="3200400"/>
            <a:ext cx="3840480" cy="1280160"/>
          </a:xfrm>
          <a:prstGeom prst="roundRect">
            <a:avLst>
              <a:gd name="adj" fmla="val 6429"/>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29" name="Shape 26"/>
          <p:cNvSpPr/>
          <p:nvPr/>
        </p:nvSpPr>
        <p:spPr>
          <a:xfrm>
            <a:off x="8046720" y="3584448"/>
            <a:ext cx="512064" cy="512064"/>
          </a:xfrm>
          <a:prstGeom prst="ellipse">
            <a:avLst/>
          </a:prstGeom>
          <a:solidFill>
            <a:srgbClr val="1B2540"/>
          </a:solidFill>
          <a:ln w="15875">
            <a:solidFill>
              <a:srgbClr val="22D3EE"/>
            </a:solidFill>
            <a:prstDash val="solid"/>
          </a:ln>
        </p:spPr>
        <p:txBody>
          <a:bodyPr/>
          <a:lstStyle/>
          <a:p>
            <a:endParaRPr lang="en-US"/>
          </a:p>
        </p:txBody>
      </p:sp>
      <p:pic>
        <p:nvPicPr>
          <p:cNvPr id="30" name="Image 1" descr="preencoded.png"/>
          <p:cNvPicPr>
            <a:picLocks noChangeAspect="1"/>
          </p:cNvPicPr>
          <p:nvPr/>
        </p:nvPicPr>
        <p:blipFill>
          <a:blip r:embed="rId4"/>
          <a:stretch>
            <a:fillRect/>
          </a:stretch>
        </p:blipFill>
        <p:spPr>
          <a:xfrm>
            <a:off x="8169615" y="3707343"/>
            <a:ext cx="266273" cy="266273"/>
          </a:xfrm>
          <a:prstGeom prst="rect">
            <a:avLst/>
          </a:prstGeom>
        </p:spPr>
      </p:pic>
      <p:sp>
        <p:nvSpPr>
          <p:cNvPr id="31" name="Text 27"/>
          <p:cNvSpPr/>
          <p:nvPr/>
        </p:nvSpPr>
        <p:spPr>
          <a:xfrm>
            <a:off x="8732520" y="3383280"/>
            <a:ext cx="278892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Rarity</a:t>
            </a:r>
            <a:endParaRPr lang="en-US" sz="1500" dirty="0"/>
          </a:p>
        </p:txBody>
      </p:sp>
      <p:sp>
        <p:nvSpPr>
          <p:cNvPr id="32" name="Text 28"/>
          <p:cNvSpPr/>
          <p:nvPr/>
        </p:nvSpPr>
        <p:spPr>
          <a:xfrm>
            <a:off x="8732520" y="3730752"/>
            <a:ext cx="2788920" cy="640080"/>
          </a:xfrm>
          <a:prstGeom prst="rect">
            <a:avLst/>
          </a:prstGeom>
          <a:noFill/>
          <a:ln/>
        </p:spPr>
        <p:txBody>
          <a:bodyPr wrap="square" lIns="0" tIns="0" rIns="0" bIns="0" rtlCol="0" anchor="ctr"/>
          <a:lstStyle/>
          <a:p>
            <a:pPr marL="0" indent="0">
              <a:lnSpc>
                <a:spcPct val="105000"/>
              </a:lnSpc>
              <a:buNone/>
            </a:pPr>
            <a:r>
              <a:rPr lang="en-US" sz="1150" dirty="0">
                <a:solidFill>
                  <a:srgbClr val="C7D2E4"/>
                </a:solidFill>
                <a:latin typeface="Calibri" pitchFamily="34" charset="0"/>
                <a:ea typeface="Calibri" pitchFamily="34" charset="-122"/>
                <a:cs typeface="Calibri" pitchFamily="34" charset="-120"/>
              </a:rPr>
              <a:t>Under 1% of transactions are fraud — easy to drown in normal traffic.</a:t>
            </a:r>
            <a:endParaRPr lang="en-US" sz="1150" dirty="0"/>
          </a:p>
        </p:txBody>
      </p:sp>
      <p:sp>
        <p:nvSpPr>
          <p:cNvPr id="33" name="Shape 29"/>
          <p:cNvSpPr/>
          <p:nvPr/>
        </p:nvSpPr>
        <p:spPr>
          <a:xfrm>
            <a:off x="7818120" y="4617720"/>
            <a:ext cx="3840480" cy="1280160"/>
          </a:xfrm>
          <a:prstGeom prst="roundRect">
            <a:avLst>
              <a:gd name="adj" fmla="val 6429"/>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34" name="Shape 30"/>
          <p:cNvSpPr/>
          <p:nvPr/>
        </p:nvSpPr>
        <p:spPr>
          <a:xfrm>
            <a:off x="8046720" y="5001768"/>
            <a:ext cx="512064" cy="512064"/>
          </a:xfrm>
          <a:prstGeom prst="ellipse">
            <a:avLst/>
          </a:prstGeom>
          <a:solidFill>
            <a:srgbClr val="1B2540"/>
          </a:solidFill>
          <a:ln w="15875">
            <a:solidFill>
              <a:srgbClr val="A78BFA"/>
            </a:solidFill>
            <a:prstDash val="solid"/>
          </a:ln>
        </p:spPr>
        <p:txBody>
          <a:bodyPr/>
          <a:lstStyle/>
          <a:p>
            <a:endParaRPr lang="en-US"/>
          </a:p>
        </p:txBody>
      </p:sp>
      <p:pic>
        <p:nvPicPr>
          <p:cNvPr id="35" name="Image 2" descr="preencoded.png"/>
          <p:cNvPicPr>
            <a:picLocks noChangeAspect="1"/>
          </p:cNvPicPr>
          <p:nvPr/>
        </p:nvPicPr>
        <p:blipFill>
          <a:blip r:embed="rId5"/>
          <a:stretch>
            <a:fillRect/>
          </a:stretch>
        </p:blipFill>
        <p:spPr>
          <a:xfrm>
            <a:off x="8169615" y="5124663"/>
            <a:ext cx="266273" cy="266273"/>
          </a:xfrm>
          <a:prstGeom prst="rect">
            <a:avLst/>
          </a:prstGeom>
        </p:spPr>
      </p:pic>
      <p:sp>
        <p:nvSpPr>
          <p:cNvPr id="36" name="Text 31"/>
          <p:cNvSpPr/>
          <p:nvPr/>
        </p:nvSpPr>
        <p:spPr>
          <a:xfrm>
            <a:off x="8732520" y="4800600"/>
            <a:ext cx="278892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Review Overload</a:t>
            </a:r>
            <a:endParaRPr lang="en-US" sz="1500" dirty="0"/>
          </a:p>
        </p:txBody>
      </p:sp>
      <p:sp>
        <p:nvSpPr>
          <p:cNvPr id="37" name="Text 32"/>
          <p:cNvSpPr/>
          <p:nvPr/>
        </p:nvSpPr>
        <p:spPr>
          <a:xfrm>
            <a:off x="8732520" y="5148072"/>
            <a:ext cx="2788920" cy="640080"/>
          </a:xfrm>
          <a:prstGeom prst="rect">
            <a:avLst/>
          </a:prstGeom>
          <a:noFill/>
          <a:ln/>
        </p:spPr>
        <p:txBody>
          <a:bodyPr wrap="square" lIns="0" tIns="0" rIns="0" bIns="0" rtlCol="0" anchor="ctr"/>
          <a:lstStyle/>
          <a:p>
            <a:pPr marL="0" indent="0">
              <a:lnSpc>
                <a:spcPct val="105000"/>
              </a:lnSpc>
              <a:buNone/>
            </a:pPr>
            <a:r>
              <a:rPr lang="en-US" sz="1150" dirty="0">
                <a:solidFill>
                  <a:srgbClr val="C7D2E4"/>
                </a:solidFill>
                <a:latin typeface="Calibri" pitchFamily="34" charset="0"/>
                <a:ea typeface="Calibri" pitchFamily="34" charset="-122"/>
                <a:cs typeface="Calibri" pitchFamily="34" charset="-120"/>
              </a:rPr>
              <a:t>Investigation is costly and slow. Teams need only the right cases.</a:t>
            </a:r>
            <a:endParaRPr lang="en-US" sz="1150" dirty="0"/>
          </a:p>
        </p:txBody>
      </p:sp>
      <p:sp>
        <p:nvSpPr>
          <p:cNvPr id="38" name="Text 33"/>
          <p:cNvSpPr/>
          <p:nvPr/>
        </p:nvSpPr>
        <p:spPr>
          <a:xfrm>
            <a:off x="548640" y="4251960"/>
            <a:ext cx="7040880" cy="731520"/>
          </a:xfrm>
          <a:prstGeom prst="rect">
            <a:avLst/>
          </a:prstGeom>
          <a:noFill/>
          <a:ln/>
        </p:spPr>
        <p:txBody>
          <a:bodyPr wrap="square" lIns="0" tIns="0" rIns="0" bIns="0" rtlCol="0" anchor="ctr"/>
          <a:lstStyle/>
          <a:p>
            <a:pPr marL="0" indent="0">
              <a:lnSpc>
                <a:spcPct val="115000"/>
              </a:lnSpc>
              <a:buNone/>
            </a:pPr>
            <a:r>
              <a:rPr lang="en-US" sz="1350" dirty="0">
                <a:solidFill>
                  <a:srgbClr val="C7D2E4"/>
                </a:solidFill>
                <a:latin typeface="Calibri" pitchFamily="34" charset="0"/>
                <a:ea typeface="Calibri" pitchFamily="34" charset="-122"/>
                <a:cs typeface="Calibri" pitchFamily="34" charset="-120"/>
              </a:rPr>
              <a:t>The need: automatic, sequence-aware detection that flags suspicious behaviour early — so analysts focus only on what truly needs a human.</a:t>
            </a:r>
            <a:endParaRPr lang="en-US" sz="1350" dirty="0"/>
          </a:p>
        </p:txBody>
      </p:sp>
      <p:sp>
        <p:nvSpPr>
          <p:cNvPr id="40" name="Text 34"/>
          <p:cNvSpPr/>
          <p:nvPr/>
        </p:nvSpPr>
        <p:spPr>
          <a:xfrm>
            <a:off x="548640" y="6473952"/>
            <a:ext cx="8229600" cy="274320"/>
          </a:xfrm>
          <a:prstGeom prst="rect">
            <a:avLst/>
          </a:prstGeom>
          <a:noFill/>
          <a:ln/>
        </p:spPr>
        <p:txBody>
          <a:bodyPr wrap="square" lIns="0" tIns="0" rIns="0" bIns="0" rtlCol="0" anchor="ctr"/>
          <a:lstStyle/>
          <a:p>
            <a:pPr marL="0" indent="0" algn="l">
              <a:buNone/>
            </a:pPr>
            <a:r>
              <a:rPr lang="en-US" sz="900" dirty="0">
                <a:solidFill>
                  <a:srgbClr val="8A98B5"/>
                </a:solidFill>
                <a:latin typeface="Calibri" pitchFamily="34" charset="0"/>
                <a:ea typeface="Calibri" pitchFamily="34" charset="-122"/>
                <a:cs typeface="Calibri" pitchFamily="34" charset="-120"/>
              </a:rPr>
              <a:t>FraudShield AI  ·  Payment Fraud Sequence Detection (LSTM/RNN)</a:t>
            </a:r>
            <a:endParaRPr lang="en-US" sz="900" dirty="0"/>
          </a:p>
        </p:txBody>
      </p:sp>
      <p:sp>
        <p:nvSpPr>
          <p:cNvPr id="41" name="Text 35"/>
          <p:cNvSpPr/>
          <p:nvPr/>
        </p:nvSpPr>
        <p:spPr>
          <a:xfrm>
            <a:off x="10728655" y="6473952"/>
            <a:ext cx="914400" cy="274320"/>
          </a:xfrm>
          <a:prstGeom prst="rect">
            <a:avLst/>
          </a:prstGeom>
          <a:noFill/>
          <a:ln/>
        </p:spPr>
        <p:txBody>
          <a:bodyPr wrap="square" lIns="0" tIns="0" rIns="0" bIns="0" rtlCol="0" anchor="ctr"/>
          <a:lstStyle/>
          <a:p>
            <a:pPr marL="0" indent="0" algn="r">
              <a:buNone/>
            </a:pPr>
            <a:r>
              <a:rPr lang="en-US" sz="900" dirty="0">
                <a:solidFill>
                  <a:srgbClr val="8A98B5"/>
                </a:solidFill>
                <a:latin typeface="Calibri" pitchFamily="34" charset="0"/>
                <a:ea typeface="Calibri" pitchFamily="34" charset="-122"/>
                <a:cs typeface="Calibri" pitchFamily="34" charset="-120"/>
              </a:rPr>
              <a:t>3 / 15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marL="0" indent="0" algn="l">
              <a:buNone/>
            </a:pPr>
            <a:r>
              <a:rPr lang="en-US" sz="1200" b="1" kern="0" spc="300" dirty="0">
                <a:solidFill>
                  <a:srgbClr val="22D3EE"/>
                </a:solidFill>
                <a:latin typeface="Calibri" pitchFamily="34" charset="0"/>
                <a:ea typeface="Calibri" pitchFamily="34" charset="-122"/>
                <a:cs typeface="Calibri" pitchFamily="34" charset="-120"/>
              </a:rPr>
              <a:t>WHY RULES ALONE FAIL</a:t>
            </a:r>
            <a:endParaRPr lang="en-US" sz="1200" dirty="0"/>
          </a:p>
        </p:txBody>
      </p:sp>
      <p:sp>
        <p:nvSpPr>
          <p:cNvPr id="3" name="Text 1"/>
          <p:cNvSpPr/>
          <p:nvPr/>
        </p:nvSpPr>
        <p:spPr>
          <a:xfrm>
            <a:off x="548640" y="658368"/>
            <a:ext cx="8869680" cy="868680"/>
          </a:xfrm>
          <a:prstGeom prst="rect">
            <a:avLst/>
          </a:prstGeom>
          <a:noFill/>
          <a:ln/>
        </p:spPr>
        <p:txBody>
          <a:bodyPr wrap="square" lIns="0" tIns="0" rIns="0" bIns="0" rtlCol="0" anchor="t"/>
          <a:lstStyle/>
          <a:p>
            <a:pPr marL="0" indent="0" algn="l">
              <a:buNone/>
            </a:pPr>
            <a:r>
              <a:rPr lang="en-US" sz="3000" b="1" dirty="0">
                <a:solidFill>
                  <a:srgbClr val="FFFFFF"/>
                </a:solidFill>
                <a:latin typeface="Calibri" pitchFamily="34" charset="0"/>
                <a:ea typeface="Calibri" pitchFamily="34" charset="-122"/>
                <a:cs typeface="Calibri" pitchFamily="34" charset="-120"/>
              </a:rPr>
              <a:t>Fixed thresholds cannot understand context</a:t>
            </a:r>
            <a:endParaRPr lang="en-US" sz="3000" dirty="0"/>
          </a:p>
        </p:txBody>
      </p:sp>
      <p:sp>
        <p:nvSpPr>
          <p:cNvPr id="5" name="Text 3"/>
          <p:cNvSpPr/>
          <p:nvPr/>
        </p:nvSpPr>
        <p:spPr>
          <a:xfrm>
            <a:off x="8945575" y="457200"/>
            <a:ext cx="2697480" cy="457200"/>
          </a:xfrm>
          <a:prstGeom prst="rect">
            <a:avLst/>
          </a:prstGeom>
          <a:noFill/>
          <a:ln/>
        </p:spPr>
        <p:txBody>
          <a:bodyPr wrap="square" lIns="0" tIns="0" rIns="0" bIns="0" rtlCol="0" anchor="ctr"/>
          <a:lstStyle/>
          <a:p>
            <a:pPr marL="0" indent="0" algn="ctr">
              <a:buNone/>
            </a:pPr>
            <a:endParaRPr lang="en-US" sz="900" dirty="0"/>
          </a:p>
        </p:txBody>
      </p:sp>
      <p:sp>
        <p:nvSpPr>
          <p:cNvPr id="6" name="Shape 4"/>
          <p:cNvSpPr/>
          <p:nvPr/>
        </p:nvSpPr>
        <p:spPr>
          <a:xfrm>
            <a:off x="548640" y="1783080"/>
            <a:ext cx="5394960" cy="4206240"/>
          </a:xfrm>
          <a:prstGeom prst="roundRect">
            <a:avLst>
              <a:gd name="adj" fmla="val 1957"/>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7" name="Shape 5"/>
          <p:cNvSpPr/>
          <p:nvPr/>
        </p:nvSpPr>
        <p:spPr>
          <a:xfrm>
            <a:off x="777240" y="2011680"/>
            <a:ext cx="457200" cy="457200"/>
          </a:xfrm>
          <a:prstGeom prst="ellipse">
            <a:avLst/>
          </a:prstGeom>
          <a:solidFill>
            <a:srgbClr val="1B2540"/>
          </a:solidFill>
          <a:ln w="15875">
            <a:solidFill>
              <a:srgbClr val="F43F5E"/>
            </a:solidFill>
            <a:prstDash val="solid"/>
          </a:ln>
        </p:spPr>
        <p:txBody>
          <a:bodyPr/>
          <a:lstStyle/>
          <a:p>
            <a:endParaRPr lang="en-US"/>
          </a:p>
        </p:txBody>
      </p:sp>
      <p:sp>
        <p:nvSpPr>
          <p:cNvPr id="8" name="Shape 6"/>
          <p:cNvSpPr/>
          <p:nvPr/>
        </p:nvSpPr>
        <p:spPr>
          <a:xfrm>
            <a:off x="777240" y="2011680"/>
            <a:ext cx="457200" cy="457200"/>
          </a:xfrm>
          <a:prstGeom prst="ellipse">
            <a:avLst/>
          </a:prstGeom>
          <a:solidFill>
            <a:srgbClr val="1B2540"/>
          </a:solidFill>
          <a:ln w="15875">
            <a:solidFill>
              <a:srgbClr val="F43F5E"/>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886968" y="2121408"/>
            <a:ext cx="237744" cy="237744"/>
          </a:xfrm>
          <a:prstGeom prst="rect">
            <a:avLst/>
          </a:prstGeom>
        </p:spPr>
      </p:pic>
      <p:sp>
        <p:nvSpPr>
          <p:cNvPr id="10" name="Text 7"/>
          <p:cNvSpPr/>
          <p:nvPr/>
        </p:nvSpPr>
        <p:spPr>
          <a:xfrm>
            <a:off x="1371600" y="2011680"/>
            <a:ext cx="4114800" cy="45720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Static Rules</a:t>
            </a:r>
            <a:endParaRPr lang="en-US" sz="1800" dirty="0"/>
          </a:p>
        </p:txBody>
      </p:sp>
      <p:sp>
        <p:nvSpPr>
          <p:cNvPr id="11" name="Shape 8"/>
          <p:cNvSpPr/>
          <p:nvPr/>
        </p:nvSpPr>
        <p:spPr>
          <a:xfrm>
            <a:off x="777240" y="2697480"/>
            <a:ext cx="4937760" cy="640080"/>
          </a:xfrm>
          <a:prstGeom prst="roundRect">
            <a:avLst>
              <a:gd name="adj" fmla="val 8571"/>
            </a:avLst>
          </a:prstGeom>
          <a:solidFill>
            <a:srgbClr val="20121A"/>
          </a:solidFill>
          <a:ln w="12700">
            <a:solidFill>
              <a:srgbClr val="F43F5E"/>
            </a:solidFill>
            <a:prstDash val="solid"/>
          </a:ln>
        </p:spPr>
        <p:txBody>
          <a:bodyPr/>
          <a:lstStyle/>
          <a:p>
            <a:endParaRPr lang="en-US"/>
          </a:p>
        </p:txBody>
      </p:sp>
      <p:sp>
        <p:nvSpPr>
          <p:cNvPr id="12" name="Text 9"/>
          <p:cNvSpPr/>
          <p:nvPr/>
        </p:nvSpPr>
        <p:spPr>
          <a:xfrm>
            <a:off x="777240" y="2697480"/>
            <a:ext cx="4937760" cy="640080"/>
          </a:xfrm>
          <a:prstGeom prst="rect">
            <a:avLst/>
          </a:prstGeom>
          <a:noFill/>
          <a:ln/>
        </p:spPr>
        <p:txBody>
          <a:bodyPr wrap="square" lIns="0" tIns="0" rIns="0" bIns="0" rtlCol="0" anchor="ctr"/>
          <a:lstStyle/>
          <a:p>
            <a:pPr marL="0" indent="0" algn="ctr">
              <a:buNone/>
            </a:pPr>
            <a:r>
              <a:rPr lang="en-US" sz="1500" b="1" dirty="0">
                <a:solidFill>
                  <a:srgbClr val="F43F5E"/>
                </a:solidFill>
                <a:latin typeface="Courier New" pitchFamily="34" charset="0"/>
                <a:ea typeface="Courier New" pitchFamily="34" charset="-122"/>
                <a:cs typeface="Courier New" pitchFamily="34" charset="-120"/>
              </a:rPr>
              <a:t>IF amount &gt; 10,000  THEN block</a:t>
            </a:r>
            <a:endParaRPr lang="en-US" sz="1500" dirty="0"/>
          </a:p>
        </p:txBody>
      </p:sp>
      <p:sp>
        <p:nvSpPr>
          <p:cNvPr id="13" name="Text 10"/>
          <p:cNvSpPr/>
          <p:nvPr/>
        </p:nvSpPr>
        <p:spPr>
          <a:xfrm>
            <a:off x="868680" y="3520440"/>
            <a:ext cx="4846320" cy="1645920"/>
          </a:xfrm>
          <a:prstGeom prst="rect">
            <a:avLst/>
          </a:prstGeom>
          <a:noFill/>
          <a:ln/>
        </p:spPr>
        <p:txBody>
          <a:bodyPr wrap="square" lIns="0" tIns="0" rIns="0" bIns="0" rtlCol="0" anchor="ctr"/>
          <a:lstStyle/>
          <a:p>
            <a:pPr marL="177800" indent="-177800">
              <a:lnSpc>
                <a:spcPct val="108000"/>
              </a:lnSpc>
              <a:spcAft>
                <a:spcPts val="900"/>
              </a:spcAft>
              <a:buSzPct val="100000"/>
              <a:buChar char="•"/>
            </a:pPr>
            <a:r>
              <a:rPr lang="en-US" sz="1250" dirty="0">
                <a:solidFill>
                  <a:srgbClr val="C7D2E4"/>
                </a:solidFill>
                <a:latin typeface="Calibri" pitchFamily="34" charset="0"/>
                <a:ea typeface="Calibri" pitchFamily="34" charset="-122"/>
                <a:cs typeface="Calibri" pitchFamily="34" charset="-120"/>
              </a:rPr>
              <a:t>Static — one fixed line for every customer</a:t>
            </a:r>
            <a:endParaRPr lang="en-US" sz="1250" dirty="0"/>
          </a:p>
          <a:p>
            <a:pPr marL="177800" indent="-177800">
              <a:lnSpc>
                <a:spcPct val="108000"/>
              </a:lnSpc>
              <a:spcAft>
                <a:spcPts val="900"/>
              </a:spcAft>
              <a:buSzPct val="100000"/>
              <a:buChar char="•"/>
            </a:pPr>
            <a:r>
              <a:rPr lang="en-US" sz="1250" dirty="0">
                <a:solidFill>
                  <a:srgbClr val="C7D2E4"/>
                </a:solidFill>
                <a:latin typeface="Calibri" pitchFamily="34" charset="0"/>
                <a:ea typeface="Calibri" pitchFamily="34" charset="-122"/>
                <a:cs typeface="Calibri" pitchFamily="34" charset="-120"/>
              </a:rPr>
              <a:t>Easily bypassed — split 9,000 + 9,500 to slip under</a:t>
            </a:r>
            <a:endParaRPr lang="en-US" sz="1250" dirty="0"/>
          </a:p>
          <a:p>
            <a:pPr marL="177800" indent="-177800">
              <a:lnSpc>
                <a:spcPct val="108000"/>
              </a:lnSpc>
              <a:spcAft>
                <a:spcPts val="900"/>
              </a:spcAft>
              <a:buSzPct val="100000"/>
              <a:buChar char="•"/>
            </a:pPr>
            <a:r>
              <a:rPr lang="en-US" sz="1250" dirty="0">
                <a:solidFill>
                  <a:srgbClr val="C7D2E4"/>
                </a:solidFill>
                <a:latin typeface="Calibri" pitchFamily="34" charset="0"/>
                <a:ea typeface="Calibri" pitchFamily="34" charset="-122"/>
                <a:cs typeface="Calibri" pitchFamily="34" charset="-120"/>
              </a:rPr>
              <a:t>No memory — ignores everything that came before</a:t>
            </a:r>
            <a:endParaRPr lang="en-US" sz="1250" dirty="0"/>
          </a:p>
          <a:p>
            <a:pPr marL="177800" indent="-177800">
              <a:lnSpc>
                <a:spcPct val="108000"/>
              </a:lnSpc>
              <a:spcAft>
                <a:spcPts val="900"/>
              </a:spcAft>
              <a:buSzPct val="100000"/>
              <a:buChar char="•"/>
            </a:pPr>
            <a:r>
              <a:rPr lang="en-US" sz="1250" dirty="0">
                <a:solidFill>
                  <a:srgbClr val="C7D2E4"/>
                </a:solidFill>
                <a:latin typeface="Calibri" pitchFamily="34" charset="0"/>
                <a:ea typeface="Calibri" pitchFamily="34" charset="-122"/>
                <a:cs typeface="Calibri" pitchFamily="34" charset="-120"/>
              </a:rPr>
              <a:t>Blind to behavioural breaks and context</a:t>
            </a:r>
            <a:endParaRPr lang="en-US" sz="1250" dirty="0"/>
          </a:p>
        </p:txBody>
      </p:sp>
      <p:sp>
        <p:nvSpPr>
          <p:cNvPr id="14" name="Shape 11"/>
          <p:cNvSpPr/>
          <p:nvPr/>
        </p:nvSpPr>
        <p:spPr>
          <a:xfrm>
            <a:off x="6263640" y="1783080"/>
            <a:ext cx="5394960" cy="4206240"/>
          </a:xfrm>
          <a:prstGeom prst="roundRect">
            <a:avLst>
              <a:gd name="adj" fmla="val 1957"/>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15" name="Shape 12"/>
          <p:cNvSpPr/>
          <p:nvPr/>
        </p:nvSpPr>
        <p:spPr>
          <a:xfrm>
            <a:off x="6492240" y="2011680"/>
            <a:ext cx="457200" cy="457200"/>
          </a:xfrm>
          <a:prstGeom prst="ellipse">
            <a:avLst/>
          </a:prstGeom>
          <a:solidFill>
            <a:srgbClr val="1B2540"/>
          </a:solidFill>
          <a:ln w="15875">
            <a:solidFill>
              <a:srgbClr val="10B981"/>
            </a:solidFill>
            <a:prstDash val="solid"/>
          </a:ln>
        </p:spPr>
        <p:txBody>
          <a:bodyPr/>
          <a:lstStyle/>
          <a:p>
            <a:endParaRPr lang="en-US"/>
          </a:p>
        </p:txBody>
      </p:sp>
      <p:pic>
        <p:nvPicPr>
          <p:cNvPr id="16" name="Image 1" descr="preencoded.png"/>
          <p:cNvPicPr>
            <a:picLocks noChangeAspect="1"/>
          </p:cNvPicPr>
          <p:nvPr/>
        </p:nvPicPr>
        <p:blipFill>
          <a:blip r:embed="rId4"/>
          <a:stretch>
            <a:fillRect/>
          </a:stretch>
        </p:blipFill>
        <p:spPr>
          <a:xfrm>
            <a:off x="6601968" y="2121408"/>
            <a:ext cx="237744" cy="237744"/>
          </a:xfrm>
          <a:prstGeom prst="rect">
            <a:avLst/>
          </a:prstGeom>
        </p:spPr>
      </p:pic>
      <p:sp>
        <p:nvSpPr>
          <p:cNvPr id="17" name="Text 13"/>
          <p:cNvSpPr/>
          <p:nvPr/>
        </p:nvSpPr>
        <p:spPr>
          <a:xfrm>
            <a:off x="7086600" y="2011680"/>
            <a:ext cx="4114800" cy="45720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Behavioural AI</a:t>
            </a:r>
            <a:endParaRPr lang="en-US" sz="1800" dirty="0"/>
          </a:p>
        </p:txBody>
      </p:sp>
      <p:sp>
        <p:nvSpPr>
          <p:cNvPr id="18" name="Shape 14"/>
          <p:cNvSpPr/>
          <p:nvPr/>
        </p:nvSpPr>
        <p:spPr>
          <a:xfrm>
            <a:off x="6492240" y="2697480"/>
            <a:ext cx="4937760" cy="640080"/>
          </a:xfrm>
          <a:prstGeom prst="roundRect">
            <a:avLst>
              <a:gd name="adj" fmla="val 8571"/>
            </a:avLst>
          </a:prstGeom>
          <a:solidFill>
            <a:srgbClr val="0E1F1A"/>
          </a:solidFill>
          <a:ln w="12700">
            <a:solidFill>
              <a:srgbClr val="10B981"/>
            </a:solidFill>
            <a:prstDash val="solid"/>
          </a:ln>
        </p:spPr>
        <p:txBody>
          <a:bodyPr/>
          <a:lstStyle/>
          <a:p>
            <a:endParaRPr lang="en-US"/>
          </a:p>
        </p:txBody>
      </p:sp>
      <p:sp>
        <p:nvSpPr>
          <p:cNvPr id="19" name="Text 15"/>
          <p:cNvSpPr/>
          <p:nvPr/>
        </p:nvSpPr>
        <p:spPr>
          <a:xfrm>
            <a:off x="6492240" y="2697480"/>
            <a:ext cx="4937760" cy="640080"/>
          </a:xfrm>
          <a:prstGeom prst="rect">
            <a:avLst/>
          </a:prstGeom>
          <a:noFill/>
          <a:ln/>
        </p:spPr>
        <p:txBody>
          <a:bodyPr wrap="square" lIns="0" tIns="0" rIns="0" bIns="0" rtlCol="0" anchor="ctr"/>
          <a:lstStyle/>
          <a:p>
            <a:pPr marL="0" indent="0" algn="ctr">
              <a:buNone/>
            </a:pPr>
            <a:r>
              <a:rPr lang="en-US" sz="1350" b="1" dirty="0">
                <a:solidFill>
                  <a:srgbClr val="10B981"/>
                </a:solidFill>
                <a:latin typeface="Calibri" pitchFamily="34" charset="0"/>
                <a:ea typeface="Calibri" pitchFamily="34" charset="-122"/>
                <a:cs typeface="Calibri" pitchFamily="34" charset="-120"/>
              </a:rPr>
              <a:t>Read the sequence → score risk → route action</a:t>
            </a:r>
            <a:endParaRPr lang="en-US" sz="1350" dirty="0"/>
          </a:p>
        </p:txBody>
      </p:sp>
      <p:sp>
        <p:nvSpPr>
          <p:cNvPr id="20" name="Text 16"/>
          <p:cNvSpPr/>
          <p:nvPr/>
        </p:nvSpPr>
        <p:spPr>
          <a:xfrm>
            <a:off x="6583680" y="3520440"/>
            <a:ext cx="4846320" cy="1645920"/>
          </a:xfrm>
          <a:prstGeom prst="rect">
            <a:avLst/>
          </a:prstGeom>
          <a:noFill/>
          <a:ln/>
        </p:spPr>
        <p:txBody>
          <a:bodyPr wrap="square" lIns="0" tIns="0" rIns="0" bIns="0" rtlCol="0" anchor="ctr"/>
          <a:lstStyle/>
          <a:p>
            <a:pPr marL="177800" indent="-177800">
              <a:lnSpc>
                <a:spcPct val="108000"/>
              </a:lnSpc>
              <a:spcAft>
                <a:spcPts val="900"/>
              </a:spcAft>
              <a:buSzPct val="100000"/>
              <a:buChar char="•"/>
            </a:pPr>
            <a:r>
              <a:rPr lang="en-US" sz="1250" dirty="0">
                <a:solidFill>
                  <a:srgbClr val="C7D2E4"/>
                </a:solidFill>
                <a:latin typeface="Calibri" pitchFamily="34" charset="0"/>
                <a:ea typeface="Calibri" pitchFamily="34" charset="-122"/>
                <a:cs typeface="Calibri" pitchFamily="34" charset="-120"/>
              </a:rPr>
              <a:t>Context-aware — understands the whole recent window</a:t>
            </a:r>
            <a:endParaRPr lang="en-US" sz="1250" dirty="0"/>
          </a:p>
          <a:p>
            <a:pPr marL="177800" indent="-177800">
              <a:lnSpc>
                <a:spcPct val="108000"/>
              </a:lnSpc>
              <a:spcAft>
                <a:spcPts val="900"/>
              </a:spcAft>
              <a:buSzPct val="100000"/>
              <a:buChar char="•"/>
            </a:pPr>
            <a:r>
              <a:rPr lang="en-US" sz="1250" dirty="0">
                <a:solidFill>
                  <a:srgbClr val="C7D2E4"/>
                </a:solidFill>
                <a:latin typeface="Calibri" pitchFamily="34" charset="0"/>
                <a:ea typeface="Calibri" pitchFamily="34" charset="-122"/>
                <a:cs typeface="Calibri" pitchFamily="34" charset="-120"/>
              </a:rPr>
              <a:t>Remembers history with LSTM/RNN memory</a:t>
            </a:r>
            <a:endParaRPr lang="en-US" sz="1250" dirty="0"/>
          </a:p>
          <a:p>
            <a:pPr marL="177800" indent="-177800">
              <a:lnSpc>
                <a:spcPct val="108000"/>
              </a:lnSpc>
              <a:spcAft>
                <a:spcPts val="900"/>
              </a:spcAft>
              <a:buSzPct val="100000"/>
              <a:buChar char="•"/>
            </a:pPr>
            <a:r>
              <a:rPr lang="en-US" sz="1250" dirty="0">
                <a:solidFill>
                  <a:srgbClr val="C7D2E4"/>
                </a:solidFill>
                <a:latin typeface="Calibri" pitchFamily="34" charset="0"/>
                <a:ea typeface="Calibri" pitchFamily="34" charset="-122"/>
                <a:cs typeface="Calibri" pitchFamily="34" charset="-120"/>
              </a:rPr>
              <a:t>Routes by risk: Approve / Review / Block</a:t>
            </a:r>
            <a:endParaRPr lang="en-US" sz="1250" dirty="0"/>
          </a:p>
          <a:p>
            <a:pPr marL="177800" indent="-177800">
              <a:lnSpc>
                <a:spcPct val="108000"/>
              </a:lnSpc>
              <a:spcAft>
                <a:spcPts val="900"/>
              </a:spcAft>
              <a:buSzPct val="100000"/>
              <a:buChar char="•"/>
            </a:pPr>
            <a:r>
              <a:rPr lang="en-US" sz="1250" dirty="0">
                <a:solidFill>
                  <a:srgbClr val="C7D2E4"/>
                </a:solidFill>
                <a:latin typeface="Calibri" pitchFamily="34" charset="0"/>
                <a:ea typeface="Calibri" pitchFamily="34" charset="-122"/>
                <a:cs typeface="Calibri" pitchFamily="34" charset="-120"/>
              </a:rPr>
              <a:t>Governed and auditable end-to-end</a:t>
            </a:r>
            <a:endParaRPr lang="en-US" sz="1250" dirty="0"/>
          </a:p>
        </p:txBody>
      </p:sp>
      <p:sp>
        <p:nvSpPr>
          <p:cNvPr id="21" name="Text 17"/>
          <p:cNvSpPr/>
          <p:nvPr/>
        </p:nvSpPr>
        <p:spPr>
          <a:xfrm>
            <a:off x="548640" y="6126480"/>
            <a:ext cx="11064240" cy="365760"/>
          </a:xfrm>
          <a:prstGeom prst="rect">
            <a:avLst/>
          </a:prstGeom>
          <a:noFill/>
          <a:ln/>
        </p:spPr>
        <p:txBody>
          <a:bodyPr wrap="square" lIns="0" tIns="0" rIns="0" bIns="0" rtlCol="0" anchor="ctr"/>
          <a:lstStyle/>
          <a:p>
            <a:pPr marL="0" indent="0" algn="ctr">
              <a:buNone/>
            </a:pPr>
            <a:r>
              <a:rPr lang="en-US" sz="1300" i="1" dirty="0">
                <a:solidFill>
                  <a:srgbClr val="8A98B5"/>
                </a:solidFill>
                <a:latin typeface="Calibri" pitchFamily="34" charset="0"/>
                <a:ea typeface="Calibri" pitchFamily="34" charset="-122"/>
                <a:cs typeface="Calibri" pitchFamily="34" charset="-120"/>
              </a:rPr>
              <a:t>Rules still help — but as a governed policy layer on top of intelligence, not as the only line of defence.</a:t>
            </a:r>
            <a:endParaRPr lang="en-US" sz="1300" dirty="0"/>
          </a:p>
        </p:txBody>
      </p:sp>
      <p:sp>
        <p:nvSpPr>
          <p:cNvPr id="23" name="Text 18"/>
          <p:cNvSpPr/>
          <p:nvPr/>
        </p:nvSpPr>
        <p:spPr>
          <a:xfrm>
            <a:off x="548640" y="6473952"/>
            <a:ext cx="8229600" cy="274320"/>
          </a:xfrm>
          <a:prstGeom prst="rect">
            <a:avLst/>
          </a:prstGeom>
          <a:noFill/>
          <a:ln/>
        </p:spPr>
        <p:txBody>
          <a:bodyPr wrap="square" lIns="0" tIns="0" rIns="0" bIns="0" rtlCol="0" anchor="ctr"/>
          <a:lstStyle/>
          <a:p>
            <a:pPr marL="0" indent="0" algn="l">
              <a:buNone/>
            </a:pPr>
            <a:r>
              <a:rPr lang="en-US" sz="900" dirty="0">
                <a:solidFill>
                  <a:srgbClr val="8A98B5"/>
                </a:solidFill>
                <a:latin typeface="Calibri" pitchFamily="34" charset="0"/>
                <a:ea typeface="Calibri" pitchFamily="34" charset="-122"/>
                <a:cs typeface="Calibri" pitchFamily="34" charset="-120"/>
              </a:rPr>
              <a:t>FraudShield AI  ·  Payment Fraud Sequence Detection (LSTM/RNN)</a:t>
            </a:r>
            <a:endParaRPr lang="en-US" sz="900" dirty="0"/>
          </a:p>
        </p:txBody>
      </p:sp>
      <p:sp>
        <p:nvSpPr>
          <p:cNvPr id="24" name="Text 19"/>
          <p:cNvSpPr/>
          <p:nvPr/>
        </p:nvSpPr>
        <p:spPr>
          <a:xfrm>
            <a:off x="10728655" y="6473952"/>
            <a:ext cx="914400" cy="274320"/>
          </a:xfrm>
          <a:prstGeom prst="rect">
            <a:avLst/>
          </a:prstGeom>
          <a:noFill/>
          <a:ln/>
        </p:spPr>
        <p:txBody>
          <a:bodyPr wrap="square" lIns="0" tIns="0" rIns="0" bIns="0" rtlCol="0" anchor="ctr"/>
          <a:lstStyle/>
          <a:p>
            <a:pPr marL="0" indent="0" algn="r">
              <a:buNone/>
            </a:pPr>
            <a:r>
              <a:rPr lang="en-US" sz="900" dirty="0">
                <a:solidFill>
                  <a:srgbClr val="8A98B5"/>
                </a:solidFill>
                <a:latin typeface="Calibri" pitchFamily="34" charset="0"/>
                <a:ea typeface="Calibri" pitchFamily="34" charset="-122"/>
                <a:cs typeface="Calibri" pitchFamily="34" charset="-120"/>
              </a:rPr>
              <a:t>4 / 15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marL="0" indent="0" algn="l">
              <a:buNone/>
            </a:pPr>
            <a:r>
              <a:rPr lang="en-US" sz="1200" b="1" kern="0" spc="300" dirty="0">
                <a:solidFill>
                  <a:srgbClr val="22D3EE"/>
                </a:solidFill>
                <a:latin typeface="Calibri" pitchFamily="34" charset="0"/>
                <a:ea typeface="Calibri" pitchFamily="34" charset="-122"/>
                <a:cs typeface="Calibri" pitchFamily="34" charset="-120"/>
              </a:rPr>
              <a:t>SEQUENCE LEARNING</a:t>
            </a:r>
            <a:endParaRPr lang="en-US" sz="1200" dirty="0"/>
          </a:p>
        </p:txBody>
      </p:sp>
      <p:sp>
        <p:nvSpPr>
          <p:cNvPr id="3" name="Text 1"/>
          <p:cNvSpPr/>
          <p:nvPr/>
        </p:nvSpPr>
        <p:spPr>
          <a:xfrm>
            <a:off x="548640" y="658368"/>
            <a:ext cx="8869680" cy="868680"/>
          </a:xfrm>
          <a:prstGeom prst="rect">
            <a:avLst/>
          </a:prstGeom>
          <a:noFill/>
          <a:ln/>
        </p:spPr>
        <p:txBody>
          <a:bodyPr wrap="square" lIns="0" tIns="0" rIns="0" bIns="0" rtlCol="0" anchor="t"/>
          <a:lstStyle/>
          <a:p>
            <a:pPr marL="0" indent="0" algn="l">
              <a:buNone/>
            </a:pPr>
            <a:r>
              <a:rPr lang="en-US" sz="3000" b="1" dirty="0">
                <a:solidFill>
                  <a:srgbClr val="FFFFFF"/>
                </a:solidFill>
                <a:latin typeface="Calibri" pitchFamily="34" charset="0"/>
                <a:ea typeface="Calibri" pitchFamily="34" charset="-122"/>
                <a:cs typeface="Calibri" pitchFamily="34" charset="-120"/>
              </a:rPr>
              <a:t>The LSTM reads payment behaviour in order</a:t>
            </a:r>
            <a:endParaRPr lang="en-US" sz="3000" dirty="0"/>
          </a:p>
        </p:txBody>
      </p:sp>
      <p:sp>
        <p:nvSpPr>
          <p:cNvPr id="5" name="Text 3"/>
          <p:cNvSpPr/>
          <p:nvPr/>
        </p:nvSpPr>
        <p:spPr>
          <a:xfrm>
            <a:off x="8945575" y="457200"/>
            <a:ext cx="2697480" cy="457200"/>
          </a:xfrm>
          <a:prstGeom prst="rect">
            <a:avLst/>
          </a:prstGeom>
          <a:noFill/>
          <a:ln/>
        </p:spPr>
        <p:txBody>
          <a:bodyPr wrap="square" lIns="0" tIns="0" rIns="0" bIns="0" rtlCol="0" anchor="ctr"/>
          <a:lstStyle/>
          <a:p>
            <a:pPr marL="0" indent="0" algn="ctr">
              <a:buNone/>
            </a:pPr>
            <a:endParaRPr lang="en-US" sz="900" dirty="0"/>
          </a:p>
        </p:txBody>
      </p:sp>
      <p:sp>
        <p:nvSpPr>
          <p:cNvPr id="6" name="Shape 4"/>
          <p:cNvSpPr/>
          <p:nvPr/>
        </p:nvSpPr>
        <p:spPr>
          <a:xfrm>
            <a:off x="548640" y="1828800"/>
            <a:ext cx="11064240" cy="2331720"/>
          </a:xfrm>
          <a:prstGeom prst="roundRect">
            <a:avLst>
              <a:gd name="adj" fmla="val 3529"/>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7" name="Text 5"/>
          <p:cNvSpPr/>
          <p:nvPr/>
        </p:nvSpPr>
        <p:spPr>
          <a:xfrm>
            <a:off x="777240" y="1993392"/>
            <a:ext cx="10607040" cy="274320"/>
          </a:xfrm>
          <a:prstGeom prst="rect">
            <a:avLst/>
          </a:prstGeom>
          <a:noFill/>
          <a:ln/>
        </p:spPr>
        <p:txBody>
          <a:bodyPr wrap="square" lIns="0" tIns="0" rIns="0" bIns="0" rtlCol="0" anchor="ctr"/>
          <a:lstStyle/>
          <a:p>
            <a:pPr marL="0" indent="0">
              <a:buNone/>
            </a:pPr>
            <a:r>
              <a:rPr lang="en-US" sz="1200" b="1" kern="0" spc="100" dirty="0">
                <a:solidFill>
                  <a:srgbClr val="22D3EE"/>
                </a:solidFill>
                <a:latin typeface="Calibri" pitchFamily="34" charset="0"/>
                <a:ea typeface="Calibri" pitchFamily="34" charset="-122"/>
                <a:cs typeface="Calibri" pitchFamily="34" charset="-120"/>
              </a:rPr>
              <a:t>UP TO 10 RECENT TRANSACTIONS  ·  SAME CUSTOMER  ·  TIME-ORDERED</a:t>
            </a:r>
            <a:endParaRPr lang="en-US" sz="1200" dirty="0"/>
          </a:p>
        </p:txBody>
      </p:sp>
      <p:sp>
        <p:nvSpPr>
          <p:cNvPr id="8" name="Shape 6"/>
          <p:cNvSpPr/>
          <p:nvPr/>
        </p:nvSpPr>
        <p:spPr>
          <a:xfrm>
            <a:off x="868680" y="2468880"/>
            <a:ext cx="868680" cy="868680"/>
          </a:xfrm>
          <a:prstGeom prst="roundRect">
            <a:avLst>
              <a:gd name="adj" fmla="val 7368"/>
            </a:avLst>
          </a:prstGeom>
          <a:solidFill>
            <a:srgbClr val="1B2540"/>
          </a:solidFill>
          <a:ln w="13970">
            <a:solidFill>
              <a:srgbClr val="22D3EE"/>
            </a:solidFill>
            <a:prstDash val="solid"/>
          </a:ln>
        </p:spPr>
        <p:txBody>
          <a:bodyPr/>
          <a:lstStyle/>
          <a:p>
            <a:endParaRPr lang="en-US"/>
          </a:p>
        </p:txBody>
      </p:sp>
      <p:sp>
        <p:nvSpPr>
          <p:cNvPr id="9" name="Text 7"/>
          <p:cNvSpPr/>
          <p:nvPr/>
        </p:nvSpPr>
        <p:spPr>
          <a:xfrm>
            <a:off x="868680" y="2468880"/>
            <a:ext cx="868680" cy="868680"/>
          </a:xfrm>
          <a:prstGeom prst="rect">
            <a:avLst/>
          </a:prstGeom>
          <a:noFill/>
          <a:ln/>
        </p:spPr>
        <p:txBody>
          <a:bodyPr wrap="square" lIns="0" tIns="0" rIns="0" bIns="0" rtlCol="0" anchor="ctr"/>
          <a:lstStyle/>
          <a:p>
            <a:pPr marL="0" indent="0" algn="ctr">
              <a:buNone/>
            </a:pPr>
            <a:r>
              <a:rPr lang="en-US" sz="1400" b="1" dirty="0">
                <a:solidFill>
                  <a:srgbClr val="C7D2E4"/>
                </a:solidFill>
                <a:latin typeface="Calibri" pitchFamily="34" charset="0"/>
                <a:ea typeface="Calibri" pitchFamily="34" charset="-122"/>
                <a:cs typeface="Calibri" pitchFamily="34" charset="-120"/>
              </a:rPr>
              <a:t>t-4</a:t>
            </a:r>
            <a:endParaRPr lang="en-US" sz="1400" dirty="0"/>
          </a:p>
        </p:txBody>
      </p:sp>
      <p:sp>
        <p:nvSpPr>
          <p:cNvPr id="10" name="Shape 8"/>
          <p:cNvSpPr/>
          <p:nvPr/>
        </p:nvSpPr>
        <p:spPr>
          <a:xfrm>
            <a:off x="1847088" y="2468880"/>
            <a:ext cx="868680" cy="868680"/>
          </a:xfrm>
          <a:prstGeom prst="roundRect">
            <a:avLst>
              <a:gd name="adj" fmla="val 7368"/>
            </a:avLst>
          </a:prstGeom>
          <a:solidFill>
            <a:srgbClr val="1B2540"/>
          </a:solidFill>
          <a:ln w="13970">
            <a:solidFill>
              <a:srgbClr val="22D3EE"/>
            </a:solidFill>
            <a:prstDash val="solid"/>
          </a:ln>
        </p:spPr>
        <p:txBody>
          <a:bodyPr/>
          <a:lstStyle/>
          <a:p>
            <a:endParaRPr lang="en-US"/>
          </a:p>
        </p:txBody>
      </p:sp>
      <p:sp>
        <p:nvSpPr>
          <p:cNvPr id="11" name="Text 9"/>
          <p:cNvSpPr/>
          <p:nvPr/>
        </p:nvSpPr>
        <p:spPr>
          <a:xfrm>
            <a:off x="1847088" y="2468880"/>
            <a:ext cx="868680" cy="868680"/>
          </a:xfrm>
          <a:prstGeom prst="rect">
            <a:avLst/>
          </a:prstGeom>
          <a:noFill/>
          <a:ln/>
        </p:spPr>
        <p:txBody>
          <a:bodyPr wrap="square" lIns="0" tIns="0" rIns="0" bIns="0" rtlCol="0" anchor="ctr"/>
          <a:lstStyle/>
          <a:p>
            <a:pPr marL="0" indent="0" algn="ctr">
              <a:buNone/>
            </a:pPr>
            <a:r>
              <a:rPr lang="en-US" sz="1400" b="1" dirty="0">
                <a:solidFill>
                  <a:srgbClr val="C7D2E4"/>
                </a:solidFill>
                <a:latin typeface="Calibri" pitchFamily="34" charset="0"/>
                <a:ea typeface="Calibri" pitchFamily="34" charset="-122"/>
                <a:cs typeface="Calibri" pitchFamily="34" charset="-120"/>
              </a:rPr>
              <a:t>t-3</a:t>
            </a:r>
            <a:endParaRPr lang="en-US" sz="1400" dirty="0"/>
          </a:p>
        </p:txBody>
      </p:sp>
      <p:sp>
        <p:nvSpPr>
          <p:cNvPr id="12" name="Shape 10"/>
          <p:cNvSpPr/>
          <p:nvPr/>
        </p:nvSpPr>
        <p:spPr>
          <a:xfrm>
            <a:off x="2825496" y="2468880"/>
            <a:ext cx="868680" cy="868680"/>
          </a:xfrm>
          <a:prstGeom prst="roundRect">
            <a:avLst>
              <a:gd name="adj" fmla="val 7368"/>
            </a:avLst>
          </a:prstGeom>
          <a:solidFill>
            <a:srgbClr val="1B2540"/>
          </a:solidFill>
          <a:ln w="13970">
            <a:solidFill>
              <a:srgbClr val="22D3EE"/>
            </a:solidFill>
            <a:prstDash val="solid"/>
          </a:ln>
        </p:spPr>
        <p:txBody>
          <a:bodyPr/>
          <a:lstStyle/>
          <a:p>
            <a:endParaRPr lang="en-US"/>
          </a:p>
        </p:txBody>
      </p:sp>
      <p:sp>
        <p:nvSpPr>
          <p:cNvPr id="13" name="Text 11"/>
          <p:cNvSpPr/>
          <p:nvPr/>
        </p:nvSpPr>
        <p:spPr>
          <a:xfrm>
            <a:off x="2825496" y="2468880"/>
            <a:ext cx="868680" cy="868680"/>
          </a:xfrm>
          <a:prstGeom prst="rect">
            <a:avLst/>
          </a:prstGeom>
          <a:noFill/>
          <a:ln/>
        </p:spPr>
        <p:txBody>
          <a:bodyPr wrap="square" lIns="0" tIns="0" rIns="0" bIns="0" rtlCol="0" anchor="ctr"/>
          <a:lstStyle/>
          <a:p>
            <a:pPr marL="0" indent="0" algn="ctr">
              <a:buNone/>
            </a:pPr>
            <a:r>
              <a:rPr lang="en-US" sz="1400" b="1" dirty="0">
                <a:solidFill>
                  <a:srgbClr val="C7D2E4"/>
                </a:solidFill>
                <a:latin typeface="Calibri" pitchFamily="34" charset="0"/>
                <a:ea typeface="Calibri" pitchFamily="34" charset="-122"/>
                <a:cs typeface="Calibri" pitchFamily="34" charset="-120"/>
              </a:rPr>
              <a:t>t-2</a:t>
            </a:r>
            <a:endParaRPr lang="en-US" sz="1400" dirty="0"/>
          </a:p>
        </p:txBody>
      </p:sp>
      <p:sp>
        <p:nvSpPr>
          <p:cNvPr id="14" name="Shape 12"/>
          <p:cNvSpPr/>
          <p:nvPr/>
        </p:nvSpPr>
        <p:spPr>
          <a:xfrm>
            <a:off x="3803904" y="2468880"/>
            <a:ext cx="868680" cy="868680"/>
          </a:xfrm>
          <a:prstGeom prst="roundRect">
            <a:avLst>
              <a:gd name="adj" fmla="val 7368"/>
            </a:avLst>
          </a:prstGeom>
          <a:solidFill>
            <a:srgbClr val="1B2540"/>
          </a:solidFill>
          <a:ln w="13970">
            <a:solidFill>
              <a:srgbClr val="22D3EE"/>
            </a:solidFill>
            <a:prstDash val="solid"/>
          </a:ln>
        </p:spPr>
        <p:txBody>
          <a:bodyPr/>
          <a:lstStyle/>
          <a:p>
            <a:endParaRPr lang="en-US"/>
          </a:p>
        </p:txBody>
      </p:sp>
      <p:sp>
        <p:nvSpPr>
          <p:cNvPr id="15" name="Text 13"/>
          <p:cNvSpPr/>
          <p:nvPr/>
        </p:nvSpPr>
        <p:spPr>
          <a:xfrm>
            <a:off x="3803904" y="2468880"/>
            <a:ext cx="868680" cy="868680"/>
          </a:xfrm>
          <a:prstGeom prst="rect">
            <a:avLst/>
          </a:prstGeom>
          <a:noFill/>
          <a:ln/>
        </p:spPr>
        <p:txBody>
          <a:bodyPr wrap="square" lIns="0" tIns="0" rIns="0" bIns="0" rtlCol="0" anchor="ctr"/>
          <a:lstStyle/>
          <a:p>
            <a:pPr marL="0" indent="0" algn="ctr">
              <a:buNone/>
            </a:pPr>
            <a:r>
              <a:rPr lang="en-US" sz="1400" b="1" dirty="0">
                <a:solidFill>
                  <a:srgbClr val="C7D2E4"/>
                </a:solidFill>
                <a:latin typeface="Calibri" pitchFamily="34" charset="0"/>
                <a:ea typeface="Calibri" pitchFamily="34" charset="-122"/>
                <a:cs typeface="Calibri" pitchFamily="34" charset="-120"/>
              </a:rPr>
              <a:t>t-1</a:t>
            </a:r>
            <a:endParaRPr lang="en-US" sz="1400" dirty="0"/>
          </a:p>
        </p:txBody>
      </p:sp>
      <p:sp>
        <p:nvSpPr>
          <p:cNvPr id="16" name="Shape 14"/>
          <p:cNvSpPr/>
          <p:nvPr/>
        </p:nvSpPr>
        <p:spPr>
          <a:xfrm>
            <a:off x="4782312" y="2468880"/>
            <a:ext cx="868680" cy="868680"/>
          </a:xfrm>
          <a:prstGeom prst="roundRect">
            <a:avLst>
              <a:gd name="adj" fmla="val 7368"/>
            </a:avLst>
          </a:prstGeom>
          <a:solidFill>
            <a:srgbClr val="1B2540"/>
          </a:solidFill>
          <a:ln w="13970">
            <a:solidFill>
              <a:srgbClr val="22D3EE"/>
            </a:solidFill>
            <a:prstDash val="solid"/>
          </a:ln>
        </p:spPr>
        <p:txBody>
          <a:bodyPr/>
          <a:lstStyle/>
          <a:p>
            <a:endParaRPr lang="en-US"/>
          </a:p>
        </p:txBody>
      </p:sp>
      <p:sp>
        <p:nvSpPr>
          <p:cNvPr id="17" name="Text 15"/>
          <p:cNvSpPr/>
          <p:nvPr/>
        </p:nvSpPr>
        <p:spPr>
          <a:xfrm>
            <a:off x="4782312" y="2468880"/>
            <a:ext cx="868680" cy="868680"/>
          </a:xfrm>
          <a:prstGeom prst="rect">
            <a:avLst/>
          </a:prstGeom>
          <a:noFill/>
          <a:ln/>
        </p:spPr>
        <p:txBody>
          <a:bodyPr wrap="square" lIns="0" tIns="0" rIns="0" bIns="0" rtlCol="0" anchor="ctr"/>
          <a:lstStyle/>
          <a:p>
            <a:pPr marL="0" indent="0" algn="ctr">
              <a:buNone/>
            </a:pPr>
            <a:r>
              <a:rPr lang="en-US" sz="1400" b="1" dirty="0">
                <a:solidFill>
                  <a:srgbClr val="C7D2E4"/>
                </a:solidFill>
                <a:latin typeface="Calibri" pitchFamily="34" charset="0"/>
                <a:ea typeface="Calibri" pitchFamily="34" charset="-122"/>
                <a:cs typeface="Calibri" pitchFamily="34" charset="-120"/>
              </a:rPr>
              <a:t>t</a:t>
            </a:r>
            <a:endParaRPr lang="en-US" sz="1400" dirty="0"/>
          </a:p>
        </p:txBody>
      </p:sp>
      <p:sp>
        <p:nvSpPr>
          <p:cNvPr id="18" name="Shape 16"/>
          <p:cNvSpPr/>
          <p:nvPr/>
        </p:nvSpPr>
        <p:spPr>
          <a:xfrm>
            <a:off x="5779008" y="2798064"/>
            <a:ext cx="411480" cy="201168"/>
          </a:xfrm>
          <a:prstGeom prst="rightArrow">
            <a:avLst/>
          </a:prstGeom>
          <a:solidFill>
            <a:srgbClr val="A78BFA"/>
          </a:solidFill>
          <a:ln/>
        </p:spPr>
        <p:txBody>
          <a:bodyPr/>
          <a:lstStyle/>
          <a:p>
            <a:endParaRPr lang="en-US"/>
          </a:p>
        </p:txBody>
      </p:sp>
      <p:sp>
        <p:nvSpPr>
          <p:cNvPr id="19" name="Shape 17"/>
          <p:cNvSpPr/>
          <p:nvPr/>
        </p:nvSpPr>
        <p:spPr>
          <a:xfrm>
            <a:off x="6309360" y="2331720"/>
            <a:ext cx="2468880" cy="1143000"/>
          </a:xfrm>
          <a:prstGeom prst="roundRect">
            <a:avLst>
              <a:gd name="adj" fmla="val 8000"/>
            </a:avLst>
          </a:prstGeom>
          <a:solidFill>
            <a:srgbClr val="1A1733"/>
          </a:solidFill>
          <a:ln w="19050">
            <a:solidFill>
              <a:srgbClr val="A78BFA"/>
            </a:solidFill>
            <a:prstDash val="solid"/>
          </a:ln>
          <a:effectLst>
            <a:outerShdw blurRad="177800" dist="38100" dir="5400000" algn="bl" rotWithShape="0">
              <a:srgbClr val="A78BFA">
                <a:alpha val="25000"/>
              </a:srgbClr>
            </a:outerShdw>
          </a:effectLst>
        </p:spPr>
        <p:txBody>
          <a:bodyPr/>
          <a:lstStyle/>
          <a:p>
            <a:endParaRPr lang="en-US"/>
          </a:p>
        </p:txBody>
      </p:sp>
      <p:sp>
        <p:nvSpPr>
          <p:cNvPr id="20" name="Shape 18"/>
          <p:cNvSpPr/>
          <p:nvPr/>
        </p:nvSpPr>
        <p:spPr>
          <a:xfrm>
            <a:off x="6473952" y="2542032"/>
            <a:ext cx="502920" cy="502920"/>
          </a:xfrm>
          <a:prstGeom prst="ellipse">
            <a:avLst/>
          </a:prstGeom>
          <a:solidFill>
            <a:srgbClr val="1B2540"/>
          </a:solidFill>
          <a:ln w="15875">
            <a:solidFill>
              <a:srgbClr val="A78BFA"/>
            </a:solidFill>
            <a:prstDash val="solid"/>
          </a:ln>
        </p:spPr>
        <p:txBody>
          <a:bodyPr/>
          <a:lstStyle/>
          <a:p>
            <a:endParaRPr lang="en-US"/>
          </a:p>
        </p:txBody>
      </p:sp>
      <p:pic>
        <p:nvPicPr>
          <p:cNvPr id="21" name="Image 0" descr="preencoded.png"/>
          <p:cNvPicPr>
            <a:picLocks noChangeAspect="1"/>
          </p:cNvPicPr>
          <p:nvPr/>
        </p:nvPicPr>
        <p:blipFill>
          <a:blip r:embed="rId3"/>
          <a:stretch>
            <a:fillRect/>
          </a:stretch>
        </p:blipFill>
        <p:spPr>
          <a:xfrm>
            <a:off x="6594653" y="2662733"/>
            <a:ext cx="261518" cy="261518"/>
          </a:xfrm>
          <a:prstGeom prst="rect">
            <a:avLst/>
          </a:prstGeom>
        </p:spPr>
      </p:pic>
      <p:sp>
        <p:nvSpPr>
          <p:cNvPr id="22" name="Text 19"/>
          <p:cNvSpPr/>
          <p:nvPr/>
        </p:nvSpPr>
        <p:spPr>
          <a:xfrm>
            <a:off x="7040880" y="2468880"/>
            <a:ext cx="164592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LSTM / RNN</a:t>
            </a:r>
            <a:endParaRPr lang="en-US" sz="1500" dirty="0"/>
          </a:p>
        </p:txBody>
      </p:sp>
      <p:sp>
        <p:nvSpPr>
          <p:cNvPr id="23" name="Text 20"/>
          <p:cNvSpPr/>
          <p:nvPr/>
        </p:nvSpPr>
        <p:spPr>
          <a:xfrm>
            <a:off x="7040880" y="2788920"/>
            <a:ext cx="1645920" cy="274320"/>
          </a:xfrm>
          <a:prstGeom prst="rect">
            <a:avLst/>
          </a:prstGeom>
          <a:noFill/>
          <a:ln/>
        </p:spPr>
        <p:txBody>
          <a:bodyPr wrap="square" lIns="0" tIns="0" rIns="0" bIns="0" rtlCol="0" anchor="ctr"/>
          <a:lstStyle/>
          <a:p>
            <a:pPr marL="0" indent="0">
              <a:buNone/>
            </a:pPr>
            <a:r>
              <a:rPr lang="en-US" sz="1100" dirty="0">
                <a:solidFill>
                  <a:srgbClr val="A78BFA"/>
                </a:solidFill>
                <a:latin typeface="Calibri" pitchFamily="34" charset="0"/>
                <a:ea typeface="Calibri" pitchFamily="34" charset="-122"/>
                <a:cs typeface="Calibri" pitchFamily="34" charset="-120"/>
              </a:rPr>
              <a:t>memory cell</a:t>
            </a:r>
            <a:endParaRPr lang="en-US" sz="1100" dirty="0"/>
          </a:p>
        </p:txBody>
      </p:sp>
      <p:sp>
        <p:nvSpPr>
          <p:cNvPr id="24" name="Text 21"/>
          <p:cNvSpPr/>
          <p:nvPr/>
        </p:nvSpPr>
        <p:spPr>
          <a:xfrm>
            <a:off x="6473952" y="3108960"/>
            <a:ext cx="2194560" cy="274320"/>
          </a:xfrm>
          <a:prstGeom prst="rect">
            <a:avLst/>
          </a:prstGeom>
          <a:noFill/>
          <a:ln/>
        </p:spPr>
        <p:txBody>
          <a:bodyPr wrap="square" lIns="0" tIns="0" rIns="0" bIns="0" rtlCol="0" anchor="ctr"/>
          <a:lstStyle/>
          <a:p>
            <a:pPr marL="0" indent="0">
              <a:buNone/>
            </a:pPr>
            <a:r>
              <a:rPr lang="en-US" sz="950" i="1" dirty="0">
                <a:solidFill>
                  <a:srgbClr val="8A98B5"/>
                </a:solidFill>
                <a:latin typeface="Calibri" pitchFamily="34" charset="0"/>
                <a:ea typeface="Calibri" pitchFamily="34" charset="-122"/>
                <a:cs typeface="Calibri" pitchFamily="34" charset="-120"/>
              </a:rPr>
              <a:t>carries context across the window</a:t>
            </a:r>
            <a:endParaRPr lang="en-US" sz="950" dirty="0"/>
          </a:p>
        </p:txBody>
      </p:sp>
      <p:sp>
        <p:nvSpPr>
          <p:cNvPr id="25" name="Shape 22"/>
          <p:cNvSpPr/>
          <p:nvPr/>
        </p:nvSpPr>
        <p:spPr>
          <a:xfrm>
            <a:off x="8887968" y="2798064"/>
            <a:ext cx="411480" cy="201168"/>
          </a:xfrm>
          <a:prstGeom prst="rightArrow">
            <a:avLst/>
          </a:prstGeom>
          <a:solidFill>
            <a:srgbClr val="10B981"/>
          </a:solidFill>
          <a:ln/>
        </p:spPr>
        <p:txBody>
          <a:bodyPr/>
          <a:lstStyle/>
          <a:p>
            <a:endParaRPr lang="en-US"/>
          </a:p>
        </p:txBody>
      </p:sp>
      <p:sp>
        <p:nvSpPr>
          <p:cNvPr id="26" name="Shape 23"/>
          <p:cNvSpPr/>
          <p:nvPr/>
        </p:nvSpPr>
        <p:spPr>
          <a:xfrm>
            <a:off x="9418320" y="2423160"/>
            <a:ext cx="1463040" cy="960120"/>
          </a:xfrm>
          <a:prstGeom prst="roundRect">
            <a:avLst>
              <a:gd name="adj" fmla="val 9524"/>
            </a:avLst>
          </a:prstGeom>
          <a:solidFill>
            <a:srgbClr val="0E1F1A"/>
          </a:solidFill>
          <a:ln w="19050">
            <a:solidFill>
              <a:srgbClr val="10B981"/>
            </a:solidFill>
            <a:prstDash val="solid"/>
          </a:ln>
        </p:spPr>
        <p:txBody>
          <a:bodyPr/>
          <a:lstStyle/>
          <a:p>
            <a:endParaRPr lang="en-US"/>
          </a:p>
        </p:txBody>
      </p:sp>
      <p:sp>
        <p:nvSpPr>
          <p:cNvPr id="27" name="Text 24"/>
          <p:cNvSpPr/>
          <p:nvPr/>
        </p:nvSpPr>
        <p:spPr>
          <a:xfrm>
            <a:off x="9418320" y="2505456"/>
            <a:ext cx="1463040" cy="457200"/>
          </a:xfrm>
          <a:prstGeom prst="rect">
            <a:avLst/>
          </a:prstGeom>
          <a:noFill/>
          <a:ln/>
        </p:spPr>
        <p:txBody>
          <a:bodyPr wrap="square" lIns="0" tIns="0" rIns="0" bIns="0" rtlCol="0" anchor="ctr"/>
          <a:lstStyle/>
          <a:p>
            <a:pPr marL="0" indent="0" algn="ctr">
              <a:buNone/>
            </a:pPr>
            <a:r>
              <a:rPr lang="en-US" sz="1100" dirty="0">
                <a:solidFill>
                  <a:srgbClr val="C7D2E4"/>
                </a:solidFill>
                <a:latin typeface="Calibri" pitchFamily="34" charset="0"/>
                <a:ea typeface="Calibri" pitchFamily="34" charset="-122"/>
                <a:cs typeface="Calibri" pitchFamily="34" charset="-120"/>
              </a:rPr>
              <a:t>Fraud</a:t>
            </a:r>
            <a:endParaRPr lang="en-US" sz="1100" dirty="0"/>
          </a:p>
          <a:p>
            <a:pPr marL="0" indent="0" algn="ctr">
              <a:buNone/>
            </a:pPr>
            <a:r>
              <a:rPr lang="en-US" sz="1100" dirty="0">
                <a:solidFill>
                  <a:srgbClr val="C7D2E4"/>
                </a:solidFill>
                <a:latin typeface="Calibri" pitchFamily="34" charset="0"/>
                <a:ea typeface="Calibri" pitchFamily="34" charset="-122"/>
                <a:cs typeface="Calibri" pitchFamily="34" charset="-120"/>
              </a:rPr>
              <a:t>Score</a:t>
            </a:r>
            <a:endParaRPr lang="en-US" sz="1100" dirty="0"/>
          </a:p>
        </p:txBody>
      </p:sp>
      <p:sp>
        <p:nvSpPr>
          <p:cNvPr id="28" name="Text 25"/>
          <p:cNvSpPr/>
          <p:nvPr/>
        </p:nvSpPr>
        <p:spPr>
          <a:xfrm>
            <a:off x="9418320" y="2907792"/>
            <a:ext cx="1463040" cy="411480"/>
          </a:xfrm>
          <a:prstGeom prst="rect">
            <a:avLst/>
          </a:prstGeom>
          <a:noFill/>
          <a:ln/>
        </p:spPr>
        <p:txBody>
          <a:bodyPr wrap="square" lIns="0" tIns="0" rIns="0" bIns="0" rtlCol="0" anchor="ctr"/>
          <a:lstStyle/>
          <a:p>
            <a:pPr marL="0" indent="0" algn="ctr">
              <a:buNone/>
            </a:pPr>
            <a:r>
              <a:rPr lang="en-US" sz="2200" b="1" dirty="0">
                <a:solidFill>
                  <a:srgbClr val="10B981"/>
                </a:solidFill>
                <a:latin typeface="Calibri" pitchFamily="34" charset="0"/>
                <a:ea typeface="Calibri" pitchFamily="34" charset="-122"/>
                <a:cs typeface="Calibri" pitchFamily="34" charset="-120"/>
              </a:rPr>
              <a:t>0–1</a:t>
            </a:r>
            <a:endParaRPr lang="en-US" sz="2200" dirty="0"/>
          </a:p>
        </p:txBody>
      </p:sp>
      <p:sp>
        <p:nvSpPr>
          <p:cNvPr id="29" name="Shape 26"/>
          <p:cNvSpPr/>
          <p:nvPr/>
        </p:nvSpPr>
        <p:spPr>
          <a:xfrm>
            <a:off x="548640" y="4434840"/>
            <a:ext cx="3611880" cy="1600200"/>
          </a:xfrm>
          <a:prstGeom prst="roundRect">
            <a:avLst>
              <a:gd name="adj" fmla="val 5143"/>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30" name="Text 27"/>
          <p:cNvSpPr/>
          <p:nvPr/>
        </p:nvSpPr>
        <p:spPr>
          <a:xfrm>
            <a:off x="804672" y="4617720"/>
            <a:ext cx="3154680" cy="365760"/>
          </a:xfrm>
          <a:prstGeom prst="rect">
            <a:avLst/>
          </a:prstGeom>
          <a:noFill/>
          <a:ln/>
        </p:spPr>
        <p:txBody>
          <a:bodyPr wrap="square" lIns="0" tIns="0" rIns="0" bIns="0" rtlCol="0" anchor="ctr"/>
          <a:lstStyle/>
          <a:p>
            <a:pPr marL="0" indent="0">
              <a:buNone/>
            </a:pPr>
            <a:r>
              <a:rPr lang="en-US" sz="1500" b="1" dirty="0">
                <a:solidFill>
                  <a:srgbClr val="22D3EE"/>
                </a:solidFill>
                <a:latin typeface="Calibri" pitchFamily="34" charset="0"/>
                <a:ea typeface="Calibri" pitchFamily="34" charset="-122"/>
                <a:cs typeface="Calibri" pitchFamily="34" charset="-120"/>
              </a:rPr>
              <a:t>Order is signal</a:t>
            </a:r>
            <a:endParaRPr lang="en-US" sz="1500" dirty="0"/>
          </a:p>
        </p:txBody>
      </p:sp>
      <p:sp>
        <p:nvSpPr>
          <p:cNvPr id="31" name="Text 28"/>
          <p:cNvSpPr/>
          <p:nvPr/>
        </p:nvSpPr>
        <p:spPr>
          <a:xfrm>
            <a:off x="804672" y="5029200"/>
            <a:ext cx="3154680" cy="914400"/>
          </a:xfrm>
          <a:prstGeom prst="rect">
            <a:avLst/>
          </a:prstGeom>
          <a:noFill/>
          <a:ln/>
        </p:spPr>
        <p:txBody>
          <a:bodyPr wrap="square" lIns="0" tIns="0" rIns="0" bIns="0" rtlCol="0" anchor="ctr"/>
          <a:lstStyle/>
          <a:p>
            <a:pPr marL="0" indent="0">
              <a:lnSpc>
                <a:spcPct val="112000"/>
              </a:lnSpc>
              <a:buNone/>
            </a:pPr>
            <a:r>
              <a:rPr lang="en-US" sz="1250" dirty="0">
                <a:solidFill>
                  <a:srgbClr val="C7D2E4"/>
                </a:solidFill>
                <a:latin typeface="Calibri" pitchFamily="34" charset="0"/>
                <a:ea typeface="Calibri" pitchFamily="34" charset="-122"/>
                <a:cs typeface="Calibri" pitchFamily="34" charset="-120"/>
              </a:rPr>
              <a:t>A spike after a calm history reads as risk; the same spike in a noisy account may not.</a:t>
            </a:r>
            <a:endParaRPr lang="en-US" sz="1250" dirty="0"/>
          </a:p>
        </p:txBody>
      </p:sp>
      <p:sp>
        <p:nvSpPr>
          <p:cNvPr id="32" name="Shape 29"/>
          <p:cNvSpPr/>
          <p:nvPr/>
        </p:nvSpPr>
        <p:spPr>
          <a:xfrm>
            <a:off x="4389120" y="4434840"/>
            <a:ext cx="3611880" cy="1600200"/>
          </a:xfrm>
          <a:prstGeom prst="roundRect">
            <a:avLst>
              <a:gd name="adj" fmla="val 5143"/>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33" name="Text 30"/>
          <p:cNvSpPr/>
          <p:nvPr/>
        </p:nvSpPr>
        <p:spPr>
          <a:xfrm>
            <a:off x="4645152" y="4617720"/>
            <a:ext cx="3154680" cy="365760"/>
          </a:xfrm>
          <a:prstGeom prst="rect">
            <a:avLst/>
          </a:prstGeom>
          <a:noFill/>
          <a:ln/>
        </p:spPr>
        <p:txBody>
          <a:bodyPr wrap="square" lIns="0" tIns="0" rIns="0" bIns="0" rtlCol="0" anchor="ctr"/>
          <a:lstStyle/>
          <a:p>
            <a:pPr marL="0" indent="0">
              <a:buNone/>
            </a:pPr>
            <a:r>
              <a:rPr lang="en-US" sz="1500" b="1" dirty="0">
                <a:solidFill>
                  <a:srgbClr val="22D3EE"/>
                </a:solidFill>
                <a:latin typeface="Calibri" pitchFamily="34" charset="0"/>
                <a:ea typeface="Calibri" pitchFamily="34" charset="-122"/>
                <a:cs typeface="Calibri" pitchFamily="34" charset="-120"/>
              </a:rPr>
              <a:t>Memory beats snapshots</a:t>
            </a:r>
            <a:endParaRPr lang="en-US" sz="1500" dirty="0"/>
          </a:p>
        </p:txBody>
      </p:sp>
      <p:sp>
        <p:nvSpPr>
          <p:cNvPr id="34" name="Text 31"/>
          <p:cNvSpPr/>
          <p:nvPr/>
        </p:nvSpPr>
        <p:spPr>
          <a:xfrm>
            <a:off x="4645152" y="5029200"/>
            <a:ext cx="3154680" cy="914400"/>
          </a:xfrm>
          <a:prstGeom prst="rect">
            <a:avLst/>
          </a:prstGeom>
          <a:noFill/>
          <a:ln/>
        </p:spPr>
        <p:txBody>
          <a:bodyPr wrap="square" lIns="0" tIns="0" rIns="0" bIns="0" rtlCol="0" anchor="ctr"/>
          <a:lstStyle/>
          <a:p>
            <a:pPr marL="0" indent="0">
              <a:lnSpc>
                <a:spcPct val="112000"/>
              </a:lnSpc>
              <a:buNone/>
            </a:pPr>
            <a:r>
              <a:rPr lang="en-US" sz="1250" dirty="0">
                <a:solidFill>
                  <a:srgbClr val="C7D2E4"/>
                </a:solidFill>
                <a:latin typeface="Calibri" pitchFamily="34" charset="0"/>
                <a:ea typeface="Calibri" pitchFamily="34" charset="-122"/>
                <a:cs typeface="Calibri" pitchFamily="34" charset="-120"/>
              </a:rPr>
              <a:t>Point models judge one transaction. The LSTM remembers the build-up.</a:t>
            </a:r>
            <a:endParaRPr lang="en-US" sz="1250" dirty="0"/>
          </a:p>
        </p:txBody>
      </p:sp>
      <p:sp>
        <p:nvSpPr>
          <p:cNvPr id="35" name="Shape 32"/>
          <p:cNvSpPr/>
          <p:nvPr/>
        </p:nvSpPr>
        <p:spPr>
          <a:xfrm>
            <a:off x="8229600" y="4434840"/>
            <a:ext cx="3611880" cy="1600200"/>
          </a:xfrm>
          <a:prstGeom prst="roundRect">
            <a:avLst>
              <a:gd name="adj" fmla="val 5143"/>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36" name="Text 33"/>
          <p:cNvSpPr/>
          <p:nvPr/>
        </p:nvSpPr>
        <p:spPr>
          <a:xfrm>
            <a:off x="8485632" y="4617720"/>
            <a:ext cx="3154680" cy="365760"/>
          </a:xfrm>
          <a:prstGeom prst="rect">
            <a:avLst/>
          </a:prstGeom>
          <a:noFill/>
          <a:ln/>
        </p:spPr>
        <p:txBody>
          <a:bodyPr wrap="square" lIns="0" tIns="0" rIns="0" bIns="0" rtlCol="0" anchor="ctr"/>
          <a:lstStyle/>
          <a:p>
            <a:pPr marL="0" indent="0">
              <a:buNone/>
            </a:pPr>
            <a:r>
              <a:rPr lang="en-US" sz="1500" b="1" dirty="0">
                <a:solidFill>
                  <a:srgbClr val="22D3EE"/>
                </a:solidFill>
                <a:latin typeface="Calibri" pitchFamily="34" charset="0"/>
                <a:ea typeface="Calibri" pitchFamily="34" charset="-122"/>
                <a:cs typeface="Calibri" pitchFamily="34" charset="-120"/>
              </a:rPr>
              <a:t>Honest with short histories</a:t>
            </a:r>
            <a:endParaRPr lang="en-US" sz="1500" dirty="0"/>
          </a:p>
        </p:txBody>
      </p:sp>
      <p:sp>
        <p:nvSpPr>
          <p:cNvPr id="37" name="Text 34"/>
          <p:cNvSpPr/>
          <p:nvPr/>
        </p:nvSpPr>
        <p:spPr>
          <a:xfrm>
            <a:off x="8485632" y="5029200"/>
            <a:ext cx="3154680" cy="914400"/>
          </a:xfrm>
          <a:prstGeom prst="rect">
            <a:avLst/>
          </a:prstGeom>
          <a:noFill/>
          <a:ln/>
        </p:spPr>
        <p:txBody>
          <a:bodyPr wrap="square" lIns="0" tIns="0" rIns="0" bIns="0" rtlCol="0" anchor="ctr"/>
          <a:lstStyle/>
          <a:p>
            <a:pPr marL="0" indent="0">
              <a:lnSpc>
                <a:spcPct val="112000"/>
              </a:lnSpc>
              <a:buNone/>
            </a:pPr>
            <a:r>
              <a:rPr lang="en-US" sz="1250" dirty="0">
                <a:solidFill>
                  <a:srgbClr val="C7D2E4"/>
                </a:solidFill>
                <a:latin typeface="Calibri" pitchFamily="34" charset="0"/>
                <a:ea typeface="Calibri" pitchFamily="34" charset="-122"/>
                <a:cs typeface="Calibri" pitchFamily="34" charset="-120"/>
              </a:rPr>
              <a:t>Masking + zero-padding handle accounts with few transactions — no data thrown away.</a:t>
            </a:r>
            <a:endParaRPr lang="en-US" sz="1250" dirty="0"/>
          </a:p>
        </p:txBody>
      </p:sp>
      <p:sp>
        <p:nvSpPr>
          <p:cNvPr id="39" name="Text 35"/>
          <p:cNvSpPr/>
          <p:nvPr/>
        </p:nvSpPr>
        <p:spPr>
          <a:xfrm>
            <a:off x="548640" y="6473952"/>
            <a:ext cx="8229600" cy="274320"/>
          </a:xfrm>
          <a:prstGeom prst="rect">
            <a:avLst/>
          </a:prstGeom>
          <a:noFill/>
          <a:ln/>
        </p:spPr>
        <p:txBody>
          <a:bodyPr wrap="square" lIns="0" tIns="0" rIns="0" bIns="0" rtlCol="0" anchor="ctr"/>
          <a:lstStyle/>
          <a:p>
            <a:pPr marL="0" indent="0" algn="l">
              <a:buNone/>
            </a:pPr>
            <a:r>
              <a:rPr lang="en-US" sz="900" dirty="0">
                <a:solidFill>
                  <a:srgbClr val="8A98B5"/>
                </a:solidFill>
                <a:latin typeface="Calibri" pitchFamily="34" charset="0"/>
                <a:ea typeface="Calibri" pitchFamily="34" charset="-122"/>
                <a:cs typeface="Calibri" pitchFamily="34" charset="-120"/>
              </a:rPr>
              <a:t>FraudShield AI  ·  Payment Fraud Sequence Detection (LSTM/RNN)</a:t>
            </a:r>
            <a:endParaRPr lang="en-US" sz="900" dirty="0"/>
          </a:p>
        </p:txBody>
      </p:sp>
      <p:sp>
        <p:nvSpPr>
          <p:cNvPr id="40" name="Text 36"/>
          <p:cNvSpPr/>
          <p:nvPr/>
        </p:nvSpPr>
        <p:spPr>
          <a:xfrm>
            <a:off x="10728655" y="6473952"/>
            <a:ext cx="914400" cy="274320"/>
          </a:xfrm>
          <a:prstGeom prst="rect">
            <a:avLst/>
          </a:prstGeom>
          <a:noFill/>
          <a:ln/>
        </p:spPr>
        <p:txBody>
          <a:bodyPr wrap="square" lIns="0" tIns="0" rIns="0" bIns="0" rtlCol="0" anchor="ctr"/>
          <a:lstStyle/>
          <a:p>
            <a:pPr marL="0" indent="0" algn="r">
              <a:buNone/>
            </a:pPr>
            <a:r>
              <a:rPr lang="en-US" sz="900" dirty="0">
                <a:solidFill>
                  <a:srgbClr val="8A98B5"/>
                </a:solidFill>
                <a:latin typeface="Calibri" pitchFamily="34" charset="0"/>
                <a:ea typeface="Calibri" pitchFamily="34" charset="-122"/>
                <a:cs typeface="Calibri" pitchFamily="34" charset="-120"/>
              </a:rPr>
              <a:t>5 / 15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marL="0" indent="0" algn="l">
              <a:buNone/>
            </a:pPr>
            <a:r>
              <a:rPr lang="en-US" sz="1200" b="1" kern="0" spc="300" dirty="0">
                <a:solidFill>
                  <a:srgbClr val="22D3EE"/>
                </a:solidFill>
                <a:latin typeface="Calibri" pitchFamily="34" charset="0"/>
                <a:ea typeface="Calibri" pitchFamily="34" charset="-122"/>
                <a:cs typeface="Calibri" pitchFamily="34" charset="-120"/>
              </a:rPr>
              <a:t>DATA HONESTY</a:t>
            </a:r>
            <a:endParaRPr lang="en-US" sz="1200" dirty="0"/>
          </a:p>
        </p:txBody>
      </p:sp>
      <p:sp>
        <p:nvSpPr>
          <p:cNvPr id="3" name="Text 1"/>
          <p:cNvSpPr/>
          <p:nvPr/>
        </p:nvSpPr>
        <p:spPr>
          <a:xfrm>
            <a:off x="548640" y="658368"/>
            <a:ext cx="8869680" cy="868680"/>
          </a:xfrm>
          <a:prstGeom prst="rect">
            <a:avLst/>
          </a:prstGeom>
          <a:noFill/>
          <a:ln/>
        </p:spPr>
        <p:txBody>
          <a:bodyPr wrap="square" lIns="0" tIns="0" rIns="0" bIns="0" rtlCol="0" anchor="t"/>
          <a:lstStyle/>
          <a:p>
            <a:pPr marL="0" indent="0" algn="l">
              <a:buNone/>
            </a:pPr>
            <a:r>
              <a:rPr lang="en-US" sz="3000" b="1" dirty="0">
                <a:solidFill>
                  <a:srgbClr val="FFFFFF"/>
                </a:solidFill>
                <a:latin typeface="Calibri" pitchFamily="34" charset="0"/>
                <a:ea typeface="Calibri" pitchFamily="34" charset="-122"/>
                <a:cs typeface="Calibri" pitchFamily="34" charset="-120"/>
              </a:rPr>
              <a:t>Demo data proves workflow — temporal evaluation proves credibility</a:t>
            </a:r>
            <a:endParaRPr lang="en-US" sz="3000" dirty="0"/>
          </a:p>
        </p:txBody>
      </p:sp>
      <p:sp>
        <p:nvSpPr>
          <p:cNvPr id="5" name="Text 3"/>
          <p:cNvSpPr/>
          <p:nvPr/>
        </p:nvSpPr>
        <p:spPr>
          <a:xfrm>
            <a:off x="8945575" y="457200"/>
            <a:ext cx="2697480" cy="457200"/>
          </a:xfrm>
          <a:prstGeom prst="rect">
            <a:avLst/>
          </a:prstGeom>
          <a:noFill/>
          <a:ln/>
        </p:spPr>
        <p:txBody>
          <a:bodyPr wrap="square" lIns="0" tIns="0" rIns="0" bIns="0" rtlCol="0" anchor="ctr"/>
          <a:lstStyle/>
          <a:p>
            <a:pPr marL="0" indent="0" algn="ctr">
              <a:buNone/>
            </a:pPr>
            <a:endParaRPr lang="en-US" sz="900" dirty="0"/>
          </a:p>
        </p:txBody>
      </p:sp>
      <p:sp>
        <p:nvSpPr>
          <p:cNvPr id="6" name="Shape 4"/>
          <p:cNvSpPr/>
          <p:nvPr/>
        </p:nvSpPr>
        <p:spPr>
          <a:xfrm>
            <a:off x="548640" y="1828800"/>
            <a:ext cx="2567864" cy="1554480"/>
          </a:xfrm>
          <a:prstGeom prst="roundRect">
            <a:avLst>
              <a:gd name="adj" fmla="val 5294"/>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7" name="Text 5"/>
          <p:cNvSpPr/>
          <p:nvPr/>
        </p:nvSpPr>
        <p:spPr>
          <a:xfrm>
            <a:off x="731520" y="2057400"/>
            <a:ext cx="2202104" cy="685800"/>
          </a:xfrm>
          <a:prstGeom prst="rect">
            <a:avLst/>
          </a:prstGeom>
          <a:noFill/>
          <a:ln/>
        </p:spPr>
        <p:txBody>
          <a:bodyPr wrap="square" lIns="0" tIns="0" rIns="0" bIns="0" rtlCol="0" anchor="ctr"/>
          <a:lstStyle/>
          <a:p>
            <a:pPr marL="0" indent="0" algn="l">
              <a:buNone/>
            </a:pPr>
            <a:r>
              <a:rPr lang="en-US" sz="3400" b="1" dirty="0">
                <a:solidFill>
                  <a:srgbClr val="22D3EE"/>
                </a:solidFill>
                <a:latin typeface="Calibri" pitchFamily="34" charset="0"/>
                <a:ea typeface="Calibri" pitchFamily="34" charset="-122"/>
                <a:cs typeface="Calibri" pitchFamily="34" charset="-120"/>
              </a:rPr>
              <a:t>PaySim</a:t>
            </a:r>
            <a:endParaRPr lang="en-US" sz="3400" dirty="0"/>
          </a:p>
        </p:txBody>
      </p:sp>
      <p:sp>
        <p:nvSpPr>
          <p:cNvPr id="8" name="Text 6"/>
          <p:cNvSpPr/>
          <p:nvPr/>
        </p:nvSpPr>
        <p:spPr>
          <a:xfrm>
            <a:off x="731520" y="2788920"/>
            <a:ext cx="2202104" cy="502920"/>
          </a:xfrm>
          <a:prstGeom prst="rect">
            <a:avLst/>
          </a:prstGeom>
          <a:noFill/>
          <a:ln/>
        </p:spPr>
        <p:txBody>
          <a:bodyPr wrap="square" lIns="0" tIns="0" rIns="0" bIns="0" rtlCol="0" anchor="ctr"/>
          <a:lstStyle/>
          <a:p>
            <a:pPr marL="0" indent="0">
              <a:lnSpc>
                <a:spcPct val="105000"/>
              </a:lnSpc>
              <a:buNone/>
            </a:pPr>
            <a:r>
              <a:rPr lang="en-US" sz="1200" dirty="0">
                <a:solidFill>
                  <a:srgbClr val="C7D2E4"/>
                </a:solidFill>
                <a:latin typeface="Calibri" pitchFamily="34" charset="0"/>
                <a:ea typeface="Calibri" pitchFamily="34" charset="-122"/>
                <a:cs typeface="Calibri" pitchFamily="34" charset="-120"/>
              </a:rPr>
              <a:t>Synthetic mobile-money dataset</a:t>
            </a:r>
            <a:endParaRPr lang="en-US" sz="1200" dirty="0"/>
          </a:p>
        </p:txBody>
      </p:sp>
      <p:sp>
        <p:nvSpPr>
          <p:cNvPr id="9" name="Shape 7"/>
          <p:cNvSpPr/>
          <p:nvPr/>
        </p:nvSpPr>
        <p:spPr>
          <a:xfrm>
            <a:off x="3390824" y="1828800"/>
            <a:ext cx="2567864" cy="1554480"/>
          </a:xfrm>
          <a:prstGeom prst="roundRect">
            <a:avLst>
              <a:gd name="adj" fmla="val 5294"/>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10" name="Text 8"/>
          <p:cNvSpPr/>
          <p:nvPr/>
        </p:nvSpPr>
        <p:spPr>
          <a:xfrm>
            <a:off x="3573704" y="2057400"/>
            <a:ext cx="2202104" cy="685800"/>
          </a:xfrm>
          <a:prstGeom prst="rect">
            <a:avLst/>
          </a:prstGeom>
          <a:noFill/>
          <a:ln/>
        </p:spPr>
        <p:txBody>
          <a:bodyPr wrap="square" lIns="0" tIns="0" rIns="0" bIns="0" rtlCol="0" anchor="ctr"/>
          <a:lstStyle/>
          <a:p>
            <a:pPr marL="0" indent="0" algn="l">
              <a:buNone/>
            </a:pPr>
            <a:r>
              <a:rPr lang="en-US" sz="3400" b="1" dirty="0">
                <a:solidFill>
                  <a:srgbClr val="A78BFA"/>
                </a:solidFill>
                <a:latin typeface="Calibri" pitchFamily="34" charset="0"/>
                <a:ea typeface="Calibri" pitchFamily="34" charset="-122"/>
                <a:cs typeface="Calibri" pitchFamily="34" charset="-120"/>
              </a:rPr>
              <a:t>499,756</a:t>
            </a:r>
            <a:endParaRPr lang="en-US" sz="3400" dirty="0"/>
          </a:p>
        </p:txBody>
      </p:sp>
      <p:sp>
        <p:nvSpPr>
          <p:cNvPr id="11" name="Text 9"/>
          <p:cNvSpPr/>
          <p:nvPr/>
        </p:nvSpPr>
        <p:spPr>
          <a:xfrm>
            <a:off x="3573704" y="2788920"/>
            <a:ext cx="2202104" cy="502920"/>
          </a:xfrm>
          <a:prstGeom prst="rect">
            <a:avLst/>
          </a:prstGeom>
          <a:noFill/>
          <a:ln/>
        </p:spPr>
        <p:txBody>
          <a:bodyPr wrap="square" lIns="0" tIns="0" rIns="0" bIns="0" rtlCol="0" anchor="ctr"/>
          <a:lstStyle/>
          <a:p>
            <a:pPr marL="0" indent="0">
              <a:lnSpc>
                <a:spcPct val="105000"/>
              </a:lnSpc>
              <a:buNone/>
            </a:pPr>
            <a:r>
              <a:rPr lang="en-US" sz="1200" dirty="0">
                <a:solidFill>
                  <a:srgbClr val="C7D2E4"/>
                </a:solidFill>
                <a:latin typeface="Calibri" pitchFamily="34" charset="0"/>
                <a:ea typeface="Calibri" pitchFamily="34" charset="-122"/>
                <a:cs typeface="Calibri" pitchFamily="34" charset="-120"/>
              </a:rPr>
              <a:t>Rows used for training</a:t>
            </a:r>
            <a:endParaRPr lang="en-US" sz="1200" dirty="0"/>
          </a:p>
        </p:txBody>
      </p:sp>
      <p:sp>
        <p:nvSpPr>
          <p:cNvPr id="12" name="Shape 10"/>
          <p:cNvSpPr/>
          <p:nvPr/>
        </p:nvSpPr>
        <p:spPr>
          <a:xfrm>
            <a:off x="6233008" y="1828800"/>
            <a:ext cx="2567864" cy="1554480"/>
          </a:xfrm>
          <a:prstGeom prst="roundRect">
            <a:avLst>
              <a:gd name="adj" fmla="val 5294"/>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13" name="Text 11"/>
          <p:cNvSpPr/>
          <p:nvPr/>
        </p:nvSpPr>
        <p:spPr>
          <a:xfrm>
            <a:off x="6415888" y="2057400"/>
            <a:ext cx="2202104" cy="685800"/>
          </a:xfrm>
          <a:prstGeom prst="rect">
            <a:avLst/>
          </a:prstGeom>
          <a:noFill/>
          <a:ln/>
        </p:spPr>
        <p:txBody>
          <a:bodyPr wrap="square" lIns="0" tIns="0" rIns="0" bIns="0" rtlCol="0" anchor="ctr"/>
          <a:lstStyle/>
          <a:p>
            <a:pPr marL="0" indent="0" algn="l">
              <a:buNone/>
            </a:pPr>
            <a:r>
              <a:rPr lang="en-US" sz="3400" b="1" dirty="0">
                <a:solidFill>
                  <a:srgbClr val="F59E0B"/>
                </a:solidFill>
                <a:latin typeface="Calibri" pitchFamily="34" charset="0"/>
                <a:ea typeface="Calibri" pitchFamily="34" charset="-122"/>
                <a:cs typeface="Calibri" pitchFamily="34" charset="-120"/>
              </a:rPr>
              <a:t>30,000</a:t>
            </a:r>
            <a:endParaRPr lang="en-US" sz="3400" dirty="0"/>
          </a:p>
        </p:txBody>
      </p:sp>
      <p:sp>
        <p:nvSpPr>
          <p:cNvPr id="14" name="Text 12"/>
          <p:cNvSpPr/>
          <p:nvPr/>
        </p:nvSpPr>
        <p:spPr>
          <a:xfrm>
            <a:off x="6415888" y="2788920"/>
            <a:ext cx="2202104" cy="502920"/>
          </a:xfrm>
          <a:prstGeom prst="rect">
            <a:avLst/>
          </a:prstGeom>
          <a:noFill/>
          <a:ln/>
        </p:spPr>
        <p:txBody>
          <a:bodyPr wrap="square" lIns="0" tIns="0" rIns="0" bIns="0" rtlCol="0" anchor="ctr"/>
          <a:lstStyle/>
          <a:p>
            <a:pPr marL="0" indent="0">
              <a:lnSpc>
                <a:spcPct val="105000"/>
              </a:lnSpc>
              <a:buNone/>
            </a:pPr>
            <a:r>
              <a:rPr lang="en-US" sz="1200" dirty="0">
                <a:solidFill>
                  <a:srgbClr val="C7D2E4"/>
                </a:solidFill>
                <a:latin typeface="Calibri" pitchFamily="34" charset="0"/>
                <a:ea typeface="Calibri" pitchFamily="34" charset="-122"/>
                <a:cs typeface="Calibri" pitchFamily="34" charset="-120"/>
              </a:rPr>
              <a:t>Unseen test sequences</a:t>
            </a:r>
            <a:endParaRPr lang="en-US" sz="1200" dirty="0"/>
          </a:p>
        </p:txBody>
      </p:sp>
      <p:sp>
        <p:nvSpPr>
          <p:cNvPr id="15" name="Shape 13"/>
          <p:cNvSpPr/>
          <p:nvPr/>
        </p:nvSpPr>
        <p:spPr>
          <a:xfrm>
            <a:off x="9075191" y="1828800"/>
            <a:ext cx="2567864" cy="1554480"/>
          </a:xfrm>
          <a:prstGeom prst="roundRect">
            <a:avLst>
              <a:gd name="adj" fmla="val 5294"/>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16" name="Text 14"/>
          <p:cNvSpPr/>
          <p:nvPr/>
        </p:nvSpPr>
        <p:spPr>
          <a:xfrm>
            <a:off x="9258071" y="2057400"/>
            <a:ext cx="2202104" cy="685800"/>
          </a:xfrm>
          <a:prstGeom prst="rect">
            <a:avLst/>
          </a:prstGeom>
          <a:noFill/>
          <a:ln/>
        </p:spPr>
        <p:txBody>
          <a:bodyPr wrap="square" lIns="0" tIns="0" rIns="0" bIns="0" rtlCol="0" anchor="ctr"/>
          <a:lstStyle/>
          <a:p>
            <a:pPr marL="0" indent="0" algn="l">
              <a:buNone/>
            </a:pPr>
            <a:r>
              <a:rPr lang="en-US" sz="3400" b="1" dirty="0">
                <a:solidFill>
                  <a:srgbClr val="10B981"/>
                </a:solidFill>
                <a:latin typeface="Calibri" pitchFamily="34" charset="0"/>
                <a:ea typeface="Calibri" pitchFamily="34" charset="-122"/>
                <a:cs typeface="Calibri" pitchFamily="34" charset="-120"/>
              </a:rPr>
              <a:t>0.974</a:t>
            </a:r>
            <a:endParaRPr lang="en-US" sz="3400" dirty="0"/>
          </a:p>
        </p:txBody>
      </p:sp>
      <p:sp>
        <p:nvSpPr>
          <p:cNvPr id="17" name="Text 15"/>
          <p:cNvSpPr/>
          <p:nvPr/>
        </p:nvSpPr>
        <p:spPr>
          <a:xfrm>
            <a:off x="9258071" y="2788920"/>
            <a:ext cx="2202104" cy="502920"/>
          </a:xfrm>
          <a:prstGeom prst="rect">
            <a:avLst/>
          </a:prstGeom>
          <a:noFill/>
          <a:ln/>
        </p:spPr>
        <p:txBody>
          <a:bodyPr wrap="square" lIns="0" tIns="0" rIns="0" bIns="0" rtlCol="0" anchor="ctr"/>
          <a:lstStyle/>
          <a:p>
            <a:pPr marL="0" indent="0">
              <a:lnSpc>
                <a:spcPct val="105000"/>
              </a:lnSpc>
              <a:buNone/>
            </a:pPr>
            <a:r>
              <a:rPr lang="en-US" sz="1200" dirty="0">
                <a:solidFill>
                  <a:srgbClr val="C7D2E4"/>
                </a:solidFill>
                <a:latin typeface="Calibri" pitchFamily="34" charset="0"/>
                <a:ea typeface="Calibri" pitchFamily="34" charset="-122"/>
                <a:cs typeface="Calibri" pitchFamily="34" charset="-120"/>
              </a:rPr>
              <a:t>PR-AUC on the test set</a:t>
            </a:r>
            <a:endParaRPr lang="en-US" sz="1200" dirty="0"/>
          </a:p>
        </p:txBody>
      </p:sp>
      <p:sp>
        <p:nvSpPr>
          <p:cNvPr id="18" name="Shape 16"/>
          <p:cNvSpPr/>
          <p:nvPr/>
        </p:nvSpPr>
        <p:spPr>
          <a:xfrm>
            <a:off x="548640" y="3611880"/>
            <a:ext cx="5394960" cy="2331720"/>
          </a:xfrm>
          <a:prstGeom prst="roundRect">
            <a:avLst>
              <a:gd name="adj" fmla="val 3529"/>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19" name="Text 17"/>
          <p:cNvSpPr/>
          <p:nvPr/>
        </p:nvSpPr>
        <p:spPr>
          <a:xfrm>
            <a:off x="777240" y="3794760"/>
            <a:ext cx="4937760" cy="274320"/>
          </a:xfrm>
          <a:prstGeom prst="rect">
            <a:avLst/>
          </a:prstGeom>
          <a:noFill/>
          <a:ln/>
        </p:spPr>
        <p:txBody>
          <a:bodyPr wrap="square" lIns="0" tIns="0" rIns="0" bIns="0" rtlCol="0" anchor="ctr"/>
          <a:lstStyle/>
          <a:p>
            <a:pPr marL="0" indent="0">
              <a:buNone/>
            </a:pPr>
            <a:r>
              <a:rPr lang="en-US" sz="1200" b="1" kern="0" spc="100" dirty="0">
                <a:solidFill>
                  <a:srgbClr val="F59E0B"/>
                </a:solidFill>
                <a:latin typeface="Calibri" pitchFamily="34" charset="0"/>
                <a:ea typeface="Calibri" pitchFamily="34" charset="-122"/>
                <a:cs typeface="Calibri" pitchFamily="34" charset="-120"/>
              </a:rPr>
              <a:t>WHAT DEMO DATA PROVES</a:t>
            </a:r>
            <a:endParaRPr lang="en-US" sz="1200" dirty="0"/>
          </a:p>
        </p:txBody>
      </p:sp>
      <p:sp>
        <p:nvSpPr>
          <p:cNvPr id="20" name="Text 18"/>
          <p:cNvSpPr/>
          <p:nvPr/>
        </p:nvSpPr>
        <p:spPr>
          <a:xfrm>
            <a:off x="822960" y="4160520"/>
            <a:ext cx="4937760" cy="1645920"/>
          </a:xfrm>
          <a:prstGeom prst="rect">
            <a:avLst/>
          </a:prstGeom>
          <a:noFill/>
          <a:ln/>
        </p:spPr>
        <p:txBody>
          <a:bodyPr wrap="square" lIns="0" tIns="0" rIns="0" bIns="0" rtlCol="0" anchor="ctr"/>
          <a:lstStyle/>
          <a:p>
            <a:pPr marL="177800" indent="-177800">
              <a:lnSpc>
                <a:spcPct val="108000"/>
              </a:lnSpc>
              <a:spcAft>
                <a:spcPts val="900"/>
              </a:spcAft>
              <a:buSzPct val="100000"/>
              <a:buChar char="•"/>
            </a:pPr>
            <a:r>
              <a:rPr lang="en-US" sz="1250" dirty="0">
                <a:solidFill>
                  <a:srgbClr val="C7D2E4"/>
                </a:solidFill>
                <a:latin typeface="Calibri" pitchFamily="34" charset="0"/>
                <a:ea typeface="Calibri" pitchFamily="34" charset="-122"/>
                <a:cs typeface="Calibri" pitchFamily="34" charset="-120"/>
              </a:rPr>
              <a:t>PaySim is synthetic — it is not real bank behaviour</a:t>
            </a:r>
            <a:endParaRPr lang="en-US" sz="1250" dirty="0"/>
          </a:p>
          <a:p>
            <a:pPr marL="177800" indent="-177800">
              <a:lnSpc>
                <a:spcPct val="108000"/>
              </a:lnSpc>
              <a:spcAft>
                <a:spcPts val="900"/>
              </a:spcAft>
              <a:buSzPct val="100000"/>
              <a:buChar char="•"/>
            </a:pPr>
            <a:r>
              <a:rPr lang="en-US" sz="1250" dirty="0">
                <a:solidFill>
                  <a:srgbClr val="C7D2E4"/>
                </a:solidFill>
                <a:latin typeface="Calibri" pitchFamily="34" charset="0"/>
                <a:ea typeface="Calibri" pitchFamily="34" charset="-122"/>
                <a:cs typeface="Calibri" pitchFamily="34" charset="-120"/>
              </a:rPr>
              <a:t>It proves the pipeline runs end-to-end</a:t>
            </a:r>
            <a:endParaRPr lang="en-US" sz="1250" dirty="0"/>
          </a:p>
          <a:p>
            <a:pPr marL="177800" indent="-177800">
              <a:lnSpc>
                <a:spcPct val="108000"/>
              </a:lnSpc>
              <a:spcAft>
                <a:spcPts val="900"/>
              </a:spcAft>
              <a:buSzPct val="100000"/>
              <a:buChar char="•"/>
            </a:pPr>
            <a:r>
              <a:rPr lang="en-US" sz="1250" dirty="0">
                <a:solidFill>
                  <a:srgbClr val="C7D2E4"/>
                </a:solidFill>
                <a:latin typeface="Calibri" pitchFamily="34" charset="0"/>
                <a:ea typeface="Calibri" pitchFamily="34" charset="-122"/>
                <a:cs typeface="Calibri" pitchFamily="34" charset="-120"/>
              </a:rPr>
              <a:t>It does NOT prove production performance</a:t>
            </a:r>
            <a:endParaRPr lang="en-US" sz="1250" dirty="0"/>
          </a:p>
        </p:txBody>
      </p:sp>
      <p:sp>
        <p:nvSpPr>
          <p:cNvPr id="21" name="Shape 19"/>
          <p:cNvSpPr/>
          <p:nvPr/>
        </p:nvSpPr>
        <p:spPr>
          <a:xfrm>
            <a:off x="6263640" y="3611880"/>
            <a:ext cx="5394960" cy="2331720"/>
          </a:xfrm>
          <a:prstGeom prst="roundRect">
            <a:avLst>
              <a:gd name="adj" fmla="val 3529"/>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22" name="Text 20"/>
          <p:cNvSpPr/>
          <p:nvPr/>
        </p:nvSpPr>
        <p:spPr>
          <a:xfrm>
            <a:off x="6492240" y="3794760"/>
            <a:ext cx="4937760" cy="274320"/>
          </a:xfrm>
          <a:prstGeom prst="rect">
            <a:avLst/>
          </a:prstGeom>
          <a:noFill/>
          <a:ln/>
        </p:spPr>
        <p:txBody>
          <a:bodyPr wrap="square" lIns="0" tIns="0" rIns="0" bIns="0" rtlCol="0" anchor="ctr"/>
          <a:lstStyle/>
          <a:p>
            <a:pPr marL="0" indent="0">
              <a:buNone/>
            </a:pPr>
            <a:r>
              <a:rPr lang="en-US" sz="1200" b="1" kern="0" spc="100" dirty="0">
                <a:solidFill>
                  <a:srgbClr val="10B981"/>
                </a:solidFill>
                <a:latin typeface="Calibri" pitchFamily="34" charset="0"/>
                <a:ea typeface="Calibri" pitchFamily="34" charset="-122"/>
                <a:cs typeface="Calibri" pitchFamily="34" charset="-120"/>
              </a:rPr>
              <a:t>WHAT CREDIBILITY NEEDS</a:t>
            </a:r>
            <a:endParaRPr lang="en-US" sz="1200" dirty="0"/>
          </a:p>
        </p:txBody>
      </p:sp>
      <p:sp>
        <p:nvSpPr>
          <p:cNvPr id="23" name="Text 21"/>
          <p:cNvSpPr/>
          <p:nvPr/>
        </p:nvSpPr>
        <p:spPr>
          <a:xfrm>
            <a:off x="6537960" y="4160520"/>
            <a:ext cx="4937760" cy="1645920"/>
          </a:xfrm>
          <a:prstGeom prst="rect">
            <a:avLst/>
          </a:prstGeom>
          <a:noFill/>
          <a:ln/>
        </p:spPr>
        <p:txBody>
          <a:bodyPr wrap="square" lIns="0" tIns="0" rIns="0" bIns="0" rtlCol="0" anchor="ctr"/>
          <a:lstStyle/>
          <a:p>
            <a:pPr marL="177800" indent="-177800">
              <a:lnSpc>
                <a:spcPct val="108000"/>
              </a:lnSpc>
              <a:spcAft>
                <a:spcPts val="900"/>
              </a:spcAft>
              <a:buSzPct val="100000"/>
              <a:buChar char="•"/>
            </a:pPr>
            <a:r>
              <a:rPr lang="en-US" sz="1250" dirty="0">
                <a:solidFill>
                  <a:srgbClr val="C7D2E4"/>
                </a:solidFill>
                <a:latin typeface="Calibri" pitchFamily="34" charset="0"/>
                <a:ea typeface="Calibri" pitchFamily="34" charset="-122"/>
                <a:cs typeface="Calibri" pitchFamily="34" charset="-120"/>
              </a:rPr>
              <a:t>Temporal split — train on the past, test on the future</a:t>
            </a:r>
            <a:endParaRPr lang="en-US" sz="1250" dirty="0"/>
          </a:p>
          <a:p>
            <a:pPr marL="177800" indent="-177800">
              <a:lnSpc>
                <a:spcPct val="108000"/>
              </a:lnSpc>
              <a:spcAft>
                <a:spcPts val="900"/>
              </a:spcAft>
              <a:buSzPct val="100000"/>
              <a:buChar char="•"/>
            </a:pPr>
            <a:r>
              <a:rPr lang="en-US" sz="1250" dirty="0">
                <a:solidFill>
                  <a:srgbClr val="C7D2E4"/>
                </a:solidFill>
                <a:latin typeface="Calibri" pitchFamily="34" charset="0"/>
                <a:ea typeface="Calibri" pitchFamily="34" charset="-122"/>
                <a:cs typeface="Calibri" pitchFamily="34" charset="-120"/>
              </a:rPr>
              <a:t>Probability calibration — so 0.30 / 0.70 bands mean something</a:t>
            </a:r>
            <a:endParaRPr lang="en-US" sz="1250" dirty="0"/>
          </a:p>
          <a:p>
            <a:pPr marL="177800" indent="-177800">
              <a:lnSpc>
                <a:spcPct val="108000"/>
              </a:lnSpc>
              <a:spcAft>
                <a:spcPts val="900"/>
              </a:spcAft>
              <a:buSzPct val="100000"/>
              <a:buChar char="•"/>
            </a:pPr>
            <a:r>
              <a:rPr lang="en-US" sz="1250" dirty="0">
                <a:solidFill>
                  <a:srgbClr val="C7D2E4"/>
                </a:solidFill>
                <a:latin typeface="Calibri" pitchFamily="34" charset="0"/>
                <a:ea typeface="Calibri" pitchFamily="34" charset="-122"/>
                <a:cs typeface="Calibri" pitchFamily="34" charset="-120"/>
              </a:rPr>
              <a:t>Realistic numbers, not a suspicious perfect score</a:t>
            </a:r>
            <a:endParaRPr lang="en-US" sz="1250" dirty="0"/>
          </a:p>
        </p:txBody>
      </p:sp>
      <p:sp>
        <p:nvSpPr>
          <p:cNvPr id="24" name="Text 22"/>
          <p:cNvSpPr/>
          <p:nvPr/>
        </p:nvSpPr>
        <p:spPr>
          <a:xfrm>
            <a:off x="548640" y="6080760"/>
            <a:ext cx="1106424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Next validation gate:  </a:t>
            </a:r>
            <a:r>
              <a:rPr lang="en-US" sz="1300" dirty="0">
                <a:solidFill>
                  <a:srgbClr val="C7D2E4"/>
                </a:solidFill>
                <a:latin typeface="Calibri" pitchFamily="34" charset="0"/>
                <a:ea typeface="Calibri" pitchFamily="34" charset="-122"/>
                <a:cs typeface="Calibri" pitchFamily="34" charset="-120"/>
              </a:rPr>
              <a:t>real PaySim or institution data, evaluated temporally with ongoing drift monitoring.</a:t>
            </a:r>
            <a:endParaRPr lang="en-US" sz="1300" dirty="0"/>
          </a:p>
        </p:txBody>
      </p:sp>
      <p:sp>
        <p:nvSpPr>
          <p:cNvPr id="26" name="Text 23"/>
          <p:cNvSpPr/>
          <p:nvPr/>
        </p:nvSpPr>
        <p:spPr>
          <a:xfrm>
            <a:off x="548640" y="6473952"/>
            <a:ext cx="8229600" cy="274320"/>
          </a:xfrm>
          <a:prstGeom prst="rect">
            <a:avLst/>
          </a:prstGeom>
          <a:noFill/>
          <a:ln/>
        </p:spPr>
        <p:txBody>
          <a:bodyPr wrap="square" lIns="0" tIns="0" rIns="0" bIns="0" rtlCol="0" anchor="ctr"/>
          <a:lstStyle/>
          <a:p>
            <a:pPr marL="0" indent="0" algn="l">
              <a:buNone/>
            </a:pPr>
            <a:r>
              <a:rPr lang="en-US" sz="900" dirty="0">
                <a:solidFill>
                  <a:srgbClr val="8A98B5"/>
                </a:solidFill>
                <a:latin typeface="Calibri" pitchFamily="34" charset="0"/>
                <a:ea typeface="Calibri" pitchFamily="34" charset="-122"/>
                <a:cs typeface="Calibri" pitchFamily="34" charset="-120"/>
              </a:rPr>
              <a:t>FraudShield AI  ·  Payment Fraud Sequence Detection (LSTM/RNN)</a:t>
            </a:r>
            <a:endParaRPr lang="en-US" sz="900" dirty="0"/>
          </a:p>
        </p:txBody>
      </p:sp>
      <p:sp>
        <p:nvSpPr>
          <p:cNvPr id="27" name="Text 24"/>
          <p:cNvSpPr/>
          <p:nvPr/>
        </p:nvSpPr>
        <p:spPr>
          <a:xfrm>
            <a:off x="10728655" y="6473952"/>
            <a:ext cx="914400" cy="274320"/>
          </a:xfrm>
          <a:prstGeom prst="rect">
            <a:avLst/>
          </a:prstGeom>
          <a:noFill/>
          <a:ln/>
        </p:spPr>
        <p:txBody>
          <a:bodyPr wrap="square" lIns="0" tIns="0" rIns="0" bIns="0" rtlCol="0" anchor="ctr"/>
          <a:lstStyle/>
          <a:p>
            <a:pPr marL="0" indent="0" algn="r">
              <a:buNone/>
            </a:pPr>
            <a:r>
              <a:rPr lang="en-US" sz="900" dirty="0">
                <a:solidFill>
                  <a:srgbClr val="8A98B5"/>
                </a:solidFill>
                <a:latin typeface="Calibri" pitchFamily="34" charset="0"/>
                <a:ea typeface="Calibri" pitchFamily="34" charset="-122"/>
                <a:cs typeface="Calibri" pitchFamily="34" charset="-120"/>
              </a:rPr>
              <a:t>6 / 15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marL="0" indent="0" algn="l">
              <a:buNone/>
            </a:pPr>
            <a:r>
              <a:rPr lang="en-US" sz="1200" b="1" kern="0" spc="300" dirty="0">
                <a:solidFill>
                  <a:srgbClr val="22D3EE"/>
                </a:solidFill>
                <a:latin typeface="Calibri" pitchFamily="34" charset="0"/>
                <a:ea typeface="Calibri" pitchFamily="34" charset="-122"/>
                <a:cs typeface="Calibri" pitchFamily="34" charset="-120"/>
              </a:rPr>
              <a:t>ENTERPRISE ARCHITECTURE</a:t>
            </a:r>
            <a:endParaRPr lang="en-US" sz="1200" dirty="0"/>
          </a:p>
        </p:txBody>
      </p:sp>
      <p:sp>
        <p:nvSpPr>
          <p:cNvPr id="3" name="Text 1"/>
          <p:cNvSpPr/>
          <p:nvPr/>
        </p:nvSpPr>
        <p:spPr>
          <a:xfrm>
            <a:off x="548640" y="658368"/>
            <a:ext cx="8869680" cy="868680"/>
          </a:xfrm>
          <a:prstGeom prst="rect">
            <a:avLst/>
          </a:prstGeom>
          <a:noFill/>
          <a:ln/>
        </p:spPr>
        <p:txBody>
          <a:bodyPr wrap="square" lIns="0" tIns="0" rIns="0" bIns="0" rtlCol="0" anchor="t"/>
          <a:lstStyle/>
          <a:p>
            <a:pPr marL="0" indent="0" algn="l">
              <a:buNone/>
            </a:pPr>
            <a:r>
              <a:rPr lang="en-US" sz="3000" b="1" dirty="0">
                <a:solidFill>
                  <a:srgbClr val="FFFFFF"/>
                </a:solidFill>
                <a:latin typeface="Calibri" pitchFamily="34" charset="0"/>
                <a:ea typeface="Calibri" pitchFamily="34" charset="-122"/>
                <a:cs typeface="Calibri" pitchFamily="34" charset="-120"/>
              </a:rPr>
              <a:t>From data pipeline to a governed scoring service</a:t>
            </a:r>
            <a:endParaRPr lang="en-US" sz="3000" dirty="0"/>
          </a:p>
        </p:txBody>
      </p:sp>
      <p:sp>
        <p:nvSpPr>
          <p:cNvPr id="5" name="Text 3"/>
          <p:cNvSpPr/>
          <p:nvPr/>
        </p:nvSpPr>
        <p:spPr>
          <a:xfrm>
            <a:off x="8945575" y="457200"/>
            <a:ext cx="2697480" cy="457200"/>
          </a:xfrm>
          <a:prstGeom prst="rect">
            <a:avLst/>
          </a:prstGeom>
          <a:noFill/>
          <a:ln/>
        </p:spPr>
        <p:txBody>
          <a:bodyPr wrap="square" lIns="0" tIns="0" rIns="0" bIns="0" rtlCol="0" anchor="ctr"/>
          <a:lstStyle/>
          <a:p>
            <a:pPr marL="0" indent="0" algn="ctr">
              <a:buNone/>
            </a:pPr>
            <a:endParaRPr lang="en-US" sz="900" dirty="0"/>
          </a:p>
        </p:txBody>
      </p:sp>
      <p:sp>
        <p:nvSpPr>
          <p:cNvPr id="6" name="Shape 4"/>
          <p:cNvSpPr/>
          <p:nvPr/>
        </p:nvSpPr>
        <p:spPr>
          <a:xfrm>
            <a:off x="737464" y="1920240"/>
            <a:ext cx="1572768" cy="1051560"/>
          </a:xfrm>
          <a:prstGeom prst="roundRect">
            <a:avLst>
              <a:gd name="adj" fmla="val 7826"/>
            </a:avLst>
          </a:prstGeom>
          <a:solidFill>
            <a:srgbClr val="1B2540"/>
          </a:solidFill>
          <a:ln w="17780">
            <a:solidFill>
              <a:srgbClr val="22D3EE"/>
            </a:solidFill>
            <a:prstDash val="solid"/>
          </a:ln>
          <a:effectLst>
            <a:outerShdw blurRad="101600" dist="38100" dir="5400000" algn="bl" rotWithShape="0">
              <a:srgbClr val="000000">
                <a:alpha val="25000"/>
              </a:srgbClr>
            </a:outerShdw>
          </a:effectLst>
        </p:spPr>
        <p:txBody>
          <a:bodyPr/>
          <a:lstStyle/>
          <a:p>
            <a:endParaRPr lang="en-US"/>
          </a:p>
        </p:txBody>
      </p:sp>
      <p:sp>
        <p:nvSpPr>
          <p:cNvPr id="7" name="Text 5"/>
          <p:cNvSpPr/>
          <p:nvPr/>
        </p:nvSpPr>
        <p:spPr>
          <a:xfrm>
            <a:off x="737464" y="1920240"/>
            <a:ext cx="1572768" cy="10515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Transactions</a:t>
            </a:r>
            <a:endParaRPr lang="en-US" sz="1400" dirty="0"/>
          </a:p>
        </p:txBody>
      </p:sp>
      <p:sp>
        <p:nvSpPr>
          <p:cNvPr id="8" name="Shape 6"/>
          <p:cNvSpPr/>
          <p:nvPr/>
        </p:nvSpPr>
        <p:spPr>
          <a:xfrm>
            <a:off x="2319376" y="2340864"/>
            <a:ext cx="274320" cy="201168"/>
          </a:xfrm>
          <a:prstGeom prst="rightArrow">
            <a:avLst/>
          </a:prstGeom>
          <a:solidFill>
            <a:srgbClr val="8A98B5"/>
          </a:solidFill>
          <a:ln/>
        </p:spPr>
        <p:txBody>
          <a:bodyPr/>
          <a:lstStyle/>
          <a:p>
            <a:endParaRPr lang="en-US"/>
          </a:p>
        </p:txBody>
      </p:sp>
      <p:sp>
        <p:nvSpPr>
          <p:cNvPr id="9" name="Shape 7"/>
          <p:cNvSpPr/>
          <p:nvPr/>
        </p:nvSpPr>
        <p:spPr>
          <a:xfrm>
            <a:off x="2566264" y="1920240"/>
            <a:ext cx="1572768" cy="1051560"/>
          </a:xfrm>
          <a:prstGeom prst="roundRect">
            <a:avLst>
              <a:gd name="adj" fmla="val 7826"/>
            </a:avLst>
          </a:prstGeom>
          <a:solidFill>
            <a:srgbClr val="1B2540"/>
          </a:solidFill>
          <a:ln w="17780">
            <a:solidFill>
              <a:srgbClr val="22D3EE"/>
            </a:solidFill>
            <a:prstDash val="solid"/>
          </a:ln>
          <a:effectLst>
            <a:outerShdw blurRad="101600" dist="38100" dir="5400000" algn="bl" rotWithShape="0">
              <a:srgbClr val="000000">
                <a:alpha val="25000"/>
              </a:srgbClr>
            </a:outerShdw>
          </a:effectLst>
        </p:spPr>
        <p:txBody>
          <a:bodyPr/>
          <a:lstStyle/>
          <a:p>
            <a:endParaRPr lang="en-US"/>
          </a:p>
        </p:txBody>
      </p:sp>
      <p:sp>
        <p:nvSpPr>
          <p:cNvPr id="10" name="Text 8"/>
          <p:cNvSpPr/>
          <p:nvPr/>
        </p:nvSpPr>
        <p:spPr>
          <a:xfrm>
            <a:off x="2566264" y="1920240"/>
            <a:ext cx="1572768" cy="10515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Feature</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Engineering</a:t>
            </a:r>
            <a:endParaRPr lang="en-US" sz="1400" dirty="0"/>
          </a:p>
        </p:txBody>
      </p:sp>
      <p:sp>
        <p:nvSpPr>
          <p:cNvPr id="11" name="Shape 9"/>
          <p:cNvSpPr/>
          <p:nvPr/>
        </p:nvSpPr>
        <p:spPr>
          <a:xfrm>
            <a:off x="4148176" y="2340864"/>
            <a:ext cx="274320" cy="201168"/>
          </a:xfrm>
          <a:prstGeom prst="rightArrow">
            <a:avLst/>
          </a:prstGeom>
          <a:solidFill>
            <a:srgbClr val="8A98B5"/>
          </a:solidFill>
          <a:ln/>
        </p:spPr>
        <p:txBody>
          <a:bodyPr/>
          <a:lstStyle/>
          <a:p>
            <a:endParaRPr lang="en-US"/>
          </a:p>
        </p:txBody>
      </p:sp>
      <p:sp>
        <p:nvSpPr>
          <p:cNvPr id="12" name="Shape 10"/>
          <p:cNvSpPr/>
          <p:nvPr/>
        </p:nvSpPr>
        <p:spPr>
          <a:xfrm>
            <a:off x="4395064" y="1920240"/>
            <a:ext cx="1572768" cy="1051560"/>
          </a:xfrm>
          <a:prstGeom prst="roundRect">
            <a:avLst>
              <a:gd name="adj" fmla="val 7826"/>
            </a:avLst>
          </a:prstGeom>
          <a:solidFill>
            <a:srgbClr val="1B2540"/>
          </a:solidFill>
          <a:ln w="17780">
            <a:solidFill>
              <a:srgbClr val="A78BFA"/>
            </a:solidFill>
            <a:prstDash val="solid"/>
          </a:ln>
          <a:effectLst>
            <a:outerShdw blurRad="101600" dist="38100" dir="5400000" algn="bl" rotWithShape="0">
              <a:srgbClr val="000000">
                <a:alpha val="25000"/>
              </a:srgbClr>
            </a:outerShdw>
          </a:effectLst>
        </p:spPr>
        <p:txBody>
          <a:bodyPr/>
          <a:lstStyle/>
          <a:p>
            <a:endParaRPr lang="en-US"/>
          </a:p>
        </p:txBody>
      </p:sp>
      <p:sp>
        <p:nvSpPr>
          <p:cNvPr id="13" name="Text 11"/>
          <p:cNvSpPr/>
          <p:nvPr/>
        </p:nvSpPr>
        <p:spPr>
          <a:xfrm>
            <a:off x="4395064" y="1920240"/>
            <a:ext cx="1572768" cy="10515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Sequence</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Builder</a:t>
            </a:r>
            <a:endParaRPr lang="en-US" sz="1400" dirty="0"/>
          </a:p>
        </p:txBody>
      </p:sp>
      <p:sp>
        <p:nvSpPr>
          <p:cNvPr id="14" name="Shape 12"/>
          <p:cNvSpPr/>
          <p:nvPr/>
        </p:nvSpPr>
        <p:spPr>
          <a:xfrm>
            <a:off x="5976976" y="2340864"/>
            <a:ext cx="274320" cy="201168"/>
          </a:xfrm>
          <a:prstGeom prst="rightArrow">
            <a:avLst/>
          </a:prstGeom>
          <a:solidFill>
            <a:srgbClr val="8A98B5"/>
          </a:solidFill>
          <a:ln/>
        </p:spPr>
        <p:txBody>
          <a:bodyPr/>
          <a:lstStyle/>
          <a:p>
            <a:endParaRPr lang="en-US"/>
          </a:p>
        </p:txBody>
      </p:sp>
      <p:sp>
        <p:nvSpPr>
          <p:cNvPr id="15" name="Shape 13"/>
          <p:cNvSpPr/>
          <p:nvPr/>
        </p:nvSpPr>
        <p:spPr>
          <a:xfrm>
            <a:off x="6223864" y="1920240"/>
            <a:ext cx="1572768" cy="1051560"/>
          </a:xfrm>
          <a:prstGeom prst="roundRect">
            <a:avLst>
              <a:gd name="adj" fmla="val 7826"/>
            </a:avLst>
          </a:prstGeom>
          <a:solidFill>
            <a:srgbClr val="1B2540"/>
          </a:solidFill>
          <a:ln w="17780">
            <a:solidFill>
              <a:srgbClr val="A78BFA"/>
            </a:solidFill>
            <a:prstDash val="solid"/>
          </a:ln>
          <a:effectLst>
            <a:outerShdw blurRad="101600" dist="38100" dir="5400000" algn="bl" rotWithShape="0">
              <a:srgbClr val="000000">
                <a:alpha val="25000"/>
              </a:srgbClr>
            </a:outerShdw>
          </a:effectLst>
        </p:spPr>
        <p:txBody>
          <a:bodyPr/>
          <a:lstStyle/>
          <a:p>
            <a:endParaRPr lang="en-US"/>
          </a:p>
        </p:txBody>
      </p:sp>
      <p:sp>
        <p:nvSpPr>
          <p:cNvPr id="16" name="Text 14"/>
          <p:cNvSpPr/>
          <p:nvPr/>
        </p:nvSpPr>
        <p:spPr>
          <a:xfrm>
            <a:off x="6223864" y="1920240"/>
            <a:ext cx="1572768" cy="10515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PyTorch</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Models</a:t>
            </a:r>
            <a:endParaRPr lang="en-US" sz="1400" dirty="0"/>
          </a:p>
        </p:txBody>
      </p:sp>
      <p:sp>
        <p:nvSpPr>
          <p:cNvPr id="17" name="Shape 15"/>
          <p:cNvSpPr/>
          <p:nvPr/>
        </p:nvSpPr>
        <p:spPr>
          <a:xfrm>
            <a:off x="7805776" y="2340864"/>
            <a:ext cx="274320" cy="201168"/>
          </a:xfrm>
          <a:prstGeom prst="rightArrow">
            <a:avLst/>
          </a:prstGeom>
          <a:solidFill>
            <a:srgbClr val="8A98B5"/>
          </a:solidFill>
          <a:ln/>
        </p:spPr>
        <p:txBody>
          <a:bodyPr/>
          <a:lstStyle/>
          <a:p>
            <a:endParaRPr lang="en-US"/>
          </a:p>
        </p:txBody>
      </p:sp>
      <p:sp>
        <p:nvSpPr>
          <p:cNvPr id="18" name="Shape 16"/>
          <p:cNvSpPr/>
          <p:nvPr/>
        </p:nvSpPr>
        <p:spPr>
          <a:xfrm>
            <a:off x="8052664" y="1920240"/>
            <a:ext cx="1572768" cy="1051560"/>
          </a:xfrm>
          <a:prstGeom prst="roundRect">
            <a:avLst>
              <a:gd name="adj" fmla="val 7826"/>
            </a:avLst>
          </a:prstGeom>
          <a:solidFill>
            <a:srgbClr val="1B2540"/>
          </a:solidFill>
          <a:ln w="17780">
            <a:solidFill>
              <a:srgbClr val="10B981"/>
            </a:solidFill>
            <a:prstDash val="solid"/>
          </a:ln>
          <a:effectLst>
            <a:outerShdw blurRad="101600" dist="38100" dir="5400000" algn="bl" rotWithShape="0">
              <a:srgbClr val="000000">
                <a:alpha val="25000"/>
              </a:srgbClr>
            </a:outerShdw>
          </a:effectLst>
        </p:spPr>
        <p:txBody>
          <a:bodyPr/>
          <a:lstStyle/>
          <a:p>
            <a:endParaRPr lang="en-US"/>
          </a:p>
        </p:txBody>
      </p:sp>
      <p:sp>
        <p:nvSpPr>
          <p:cNvPr id="19" name="Text 17"/>
          <p:cNvSpPr/>
          <p:nvPr/>
        </p:nvSpPr>
        <p:spPr>
          <a:xfrm>
            <a:off x="8052664" y="1920240"/>
            <a:ext cx="1572768" cy="10515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FastAPI</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Scoring</a:t>
            </a:r>
            <a:endParaRPr lang="en-US" sz="1400" dirty="0"/>
          </a:p>
        </p:txBody>
      </p:sp>
      <p:sp>
        <p:nvSpPr>
          <p:cNvPr id="20" name="Shape 18"/>
          <p:cNvSpPr/>
          <p:nvPr/>
        </p:nvSpPr>
        <p:spPr>
          <a:xfrm>
            <a:off x="9634576" y="2340864"/>
            <a:ext cx="274320" cy="201168"/>
          </a:xfrm>
          <a:prstGeom prst="rightArrow">
            <a:avLst/>
          </a:prstGeom>
          <a:solidFill>
            <a:srgbClr val="8A98B5"/>
          </a:solidFill>
          <a:ln/>
        </p:spPr>
        <p:txBody>
          <a:bodyPr/>
          <a:lstStyle/>
          <a:p>
            <a:endParaRPr lang="en-US"/>
          </a:p>
        </p:txBody>
      </p:sp>
      <p:sp>
        <p:nvSpPr>
          <p:cNvPr id="21" name="Shape 19"/>
          <p:cNvSpPr/>
          <p:nvPr/>
        </p:nvSpPr>
        <p:spPr>
          <a:xfrm>
            <a:off x="9881464" y="1920240"/>
            <a:ext cx="1572768" cy="1051560"/>
          </a:xfrm>
          <a:prstGeom prst="roundRect">
            <a:avLst>
              <a:gd name="adj" fmla="val 7826"/>
            </a:avLst>
          </a:prstGeom>
          <a:solidFill>
            <a:srgbClr val="1B2540"/>
          </a:solidFill>
          <a:ln w="17780">
            <a:solidFill>
              <a:srgbClr val="10B981"/>
            </a:solidFill>
            <a:prstDash val="solid"/>
          </a:ln>
          <a:effectLst>
            <a:outerShdw blurRad="101600" dist="38100" dir="5400000" algn="bl" rotWithShape="0">
              <a:srgbClr val="000000">
                <a:alpha val="25000"/>
              </a:srgbClr>
            </a:outerShdw>
          </a:effectLst>
        </p:spPr>
        <p:txBody>
          <a:bodyPr/>
          <a:lstStyle/>
          <a:p>
            <a:endParaRPr lang="en-US"/>
          </a:p>
        </p:txBody>
      </p:sp>
      <p:sp>
        <p:nvSpPr>
          <p:cNvPr id="22" name="Text 20"/>
          <p:cNvSpPr/>
          <p:nvPr/>
        </p:nvSpPr>
        <p:spPr>
          <a:xfrm>
            <a:off x="9881464" y="1920240"/>
            <a:ext cx="1572768" cy="10515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Action</a:t>
            </a:r>
            <a:endParaRPr lang="en-US" sz="1400" dirty="0"/>
          </a:p>
        </p:txBody>
      </p:sp>
      <p:sp>
        <p:nvSpPr>
          <p:cNvPr id="23" name="Text 21"/>
          <p:cNvSpPr/>
          <p:nvPr/>
        </p:nvSpPr>
        <p:spPr>
          <a:xfrm>
            <a:off x="548640" y="3063240"/>
            <a:ext cx="10972800" cy="274320"/>
          </a:xfrm>
          <a:prstGeom prst="rect">
            <a:avLst/>
          </a:prstGeom>
          <a:noFill/>
          <a:ln/>
        </p:spPr>
        <p:txBody>
          <a:bodyPr wrap="square" lIns="0" tIns="0" rIns="0" bIns="0" rtlCol="0" anchor="ctr"/>
          <a:lstStyle/>
          <a:p>
            <a:pPr marL="0" indent="0" algn="ctr">
              <a:buNone/>
            </a:pPr>
            <a:r>
              <a:rPr lang="en-US" sz="1100" i="1" dirty="0">
                <a:solidFill>
                  <a:srgbClr val="8A98B5"/>
                </a:solidFill>
                <a:latin typeface="Calibri" pitchFamily="34" charset="0"/>
                <a:ea typeface="Calibri" pitchFamily="34" charset="-122"/>
                <a:cs typeface="Calibri" pitchFamily="34" charset="-120"/>
              </a:rPr>
              <a:t>Core pipeline (built today)</a:t>
            </a:r>
            <a:endParaRPr lang="en-US" sz="1100" dirty="0"/>
          </a:p>
        </p:txBody>
      </p:sp>
      <p:sp>
        <p:nvSpPr>
          <p:cNvPr id="24" name="Text 22"/>
          <p:cNvSpPr/>
          <p:nvPr/>
        </p:nvSpPr>
        <p:spPr>
          <a:xfrm>
            <a:off x="548640" y="3520440"/>
            <a:ext cx="5486400" cy="274320"/>
          </a:xfrm>
          <a:prstGeom prst="rect">
            <a:avLst/>
          </a:prstGeom>
          <a:noFill/>
          <a:ln/>
        </p:spPr>
        <p:txBody>
          <a:bodyPr wrap="square" lIns="0" tIns="0" rIns="0" bIns="0" rtlCol="0" anchor="ctr"/>
          <a:lstStyle/>
          <a:p>
            <a:pPr marL="0" indent="0">
              <a:buNone/>
            </a:pPr>
            <a:r>
              <a:rPr lang="en-US" sz="1100" b="1" kern="0" spc="100" dirty="0">
                <a:solidFill>
                  <a:srgbClr val="22D3EE"/>
                </a:solidFill>
                <a:latin typeface="Calibri" pitchFamily="34" charset="0"/>
                <a:ea typeface="Calibri" pitchFamily="34" charset="-122"/>
                <a:cs typeface="Calibri" pitchFamily="34" charset="-120"/>
              </a:rPr>
              <a:t>KEY ENGINEERED FEATURES</a:t>
            </a:r>
            <a:endParaRPr lang="en-US" sz="1100" dirty="0"/>
          </a:p>
        </p:txBody>
      </p:sp>
      <p:sp>
        <p:nvSpPr>
          <p:cNvPr id="25" name="Shape 23"/>
          <p:cNvSpPr/>
          <p:nvPr/>
        </p:nvSpPr>
        <p:spPr>
          <a:xfrm>
            <a:off x="548640" y="3840480"/>
            <a:ext cx="1543507" cy="384048"/>
          </a:xfrm>
          <a:prstGeom prst="roundRect">
            <a:avLst>
              <a:gd name="adj" fmla="val 47619"/>
            </a:avLst>
          </a:prstGeom>
          <a:solidFill>
            <a:srgbClr val="151D33"/>
          </a:solidFill>
          <a:ln w="12700">
            <a:solidFill>
              <a:srgbClr val="2A3550"/>
            </a:solidFill>
            <a:prstDash val="solid"/>
          </a:ln>
        </p:spPr>
        <p:txBody>
          <a:bodyPr/>
          <a:lstStyle/>
          <a:p>
            <a:endParaRPr lang="en-US"/>
          </a:p>
        </p:txBody>
      </p:sp>
      <p:sp>
        <p:nvSpPr>
          <p:cNvPr id="26" name="Text 24"/>
          <p:cNvSpPr/>
          <p:nvPr/>
        </p:nvSpPr>
        <p:spPr>
          <a:xfrm>
            <a:off x="548640" y="3840480"/>
            <a:ext cx="1543507" cy="384048"/>
          </a:xfrm>
          <a:prstGeom prst="rect">
            <a:avLst/>
          </a:prstGeom>
          <a:noFill/>
          <a:ln/>
        </p:spPr>
        <p:txBody>
          <a:bodyPr wrap="square" lIns="0" tIns="0" rIns="0" bIns="0" rtlCol="0" anchor="ctr"/>
          <a:lstStyle/>
          <a:p>
            <a:pPr marL="0" indent="0" algn="ctr">
              <a:buNone/>
            </a:pPr>
            <a:r>
              <a:rPr lang="en-US" sz="1100" dirty="0">
                <a:solidFill>
                  <a:srgbClr val="C7D2E4"/>
                </a:solidFill>
                <a:latin typeface="Calibri" pitchFamily="34" charset="0"/>
                <a:ea typeface="Calibri" pitchFamily="34" charset="-122"/>
                <a:cs typeface="Calibri" pitchFamily="34" charset="-120"/>
              </a:rPr>
              <a:t>Balance deltas</a:t>
            </a:r>
            <a:endParaRPr lang="en-US" sz="1100" dirty="0"/>
          </a:p>
        </p:txBody>
      </p:sp>
      <p:sp>
        <p:nvSpPr>
          <p:cNvPr id="27" name="Shape 25"/>
          <p:cNvSpPr/>
          <p:nvPr/>
        </p:nvSpPr>
        <p:spPr>
          <a:xfrm>
            <a:off x="2275027" y="3840480"/>
            <a:ext cx="2300630" cy="384048"/>
          </a:xfrm>
          <a:prstGeom prst="roundRect">
            <a:avLst>
              <a:gd name="adj" fmla="val 47619"/>
            </a:avLst>
          </a:prstGeom>
          <a:solidFill>
            <a:srgbClr val="151D33"/>
          </a:solidFill>
          <a:ln w="12700">
            <a:solidFill>
              <a:srgbClr val="2A3550"/>
            </a:solidFill>
            <a:prstDash val="solid"/>
          </a:ln>
        </p:spPr>
        <p:txBody>
          <a:bodyPr/>
          <a:lstStyle/>
          <a:p>
            <a:endParaRPr lang="en-US"/>
          </a:p>
        </p:txBody>
      </p:sp>
      <p:sp>
        <p:nvSpPr>
          <p:cNvPr id="28" name="Text 26"/>
          <p:cNvSpPr/>
          <p:nvPr/>
        </p:nvSpPr>
        <p:spPr>
          <a:xfrm>
            <a:off x="2275027" y="3840480"/>
            <a:ext cx="2300630" cy="384048"/>
          </a:xfrm>
          <a:prstGeom prst="rect">
            <a:avLst/>
          </a:prstGeom>
          <a:noFill/>
          <a:ln/>
        </p:spPr>
        <p:txBody>
          <a:bodyPr wrap="square" lIns="0" tIns="0" rIns="0" bIns="0" rtlCol="0" anchor="ctr"/>
          <a:lstStyle/>
          <a:p>
            <a:pPr marL="0" indent="0" algn="ctr">
              <a:buNone/>
            </a:pPr>
            <a:r>
              <a:rPr lang="en-US" sz="1100" dirty="0">
                <a:solidFill>
                  <a:srgbClr val="C7D2E4"/>
                </a:solidFill>
                <a:latin typeface="Calibri" pitchFamily="34" charset="0"/>
                <a:ea typeface="Calibri" pitchFamily="34" charset="-122"/>
                <a:cs typeface="Calibri" pitchFamily="34" charset="-120"/>
              </a:rPr>
              <a:t>Amount-to-balance ratio</a:t>
            </a:r>
            <a:endParaRPr lang="en-US" sz="1100" dirty="0"/>
          </a:p>
        </p:txBody>
      </p:sp>
      <p:sp>
        <p:nvSpPr>
          <p:cNvPr id="29" name="Shape 27"/>
          <p:cNvSpPr/>
          <p:nvPr/>
        </p:nvSpPr>
        <p:spPr>
          <a:xfrm>
            <a:off x="4758538" y="3840480"/>
            <a:ext cx="2384755" cy="384048"/>
          </a:xfrm>
          <a:prstGeom prst="roundRect">
            <a:avLst>
              <a:gd name="adj" fmla="val 47619"/>
            </a:avLst>
          </a:prstGeom>
          <a:solidFill>
            <a:srgbClr val="151D33"/>
          </a:solidFill>
          <a:ln w="12700">
            <a:solidFill>
              <a:srgbClr val="2A3550"/>
            </a:solidFill>
            <a:prstDash val="solid"/>
          </a:ln>
        </p:spPr>
        <p:txBody>
          <a:bodyPr/>
          <a:lstStyle/>
          <a:p>
            <a:endParaRPr lang="en-US"/>
          </a:p>
        </p:txBody>
      </p:sp>
      <p:sp>
        <p:nvSpPr>
          <p:cNvPr id="30" name="Text 28"/>
          <p:cNvSpPr/>
          <p:nvPr/>
        </p:nvSpPr>
        <p:spPr>
          <a:xfrm>
            <a:off x="4758538" y="3840480"/>
            <a:ext cx="2384755" cy="384048"/>
          </a:xfrm>
          <a:prstGeom prst="rect">
            <a:avLst/>
          </a:prstGeom>
          <a:noFill/>
          <a:ln/>
        </p:spPr>
        <p:txBody>
          <a:bodyPr wrap="square" lIns="0" tIns="0" rIns="0" bIns="0" rtlCol="0" anchor="ctr"/>
          <a:lstStyle/>
          <a:p>
            <a:pPr marL="0" indent="0" algn="ctr">
              <a:buNone/>
            </a:pPr>
            <a:r>
              <a:rPr lang="en-US" sz="1100" dirty="0">
                <a:solidFill>
                  <a:srgbClr val="C7D2E4"/>
                </a:solidFill>
                <a:latin typeface="Calibri" pitchFamily="34" charset="0"/>
                <a:ea typeface="Calibri" pitchFamily="34" charset="-122"/>
                <a:cs typeface="Calibri" pitchFamily="34" charset="-120"/>
              </a:rPr>
              <a:t>Zero / high-amount flags</a:t>
            </a:r>
            <a:endParaRPr lang="en-US" sz="1100" dirty="0"/>
          </a:p>
        </p:txBody>
      </p:sp>
      <p:sp>
        <p:nvSpPr>
          <p:cNvPr id="31" name="Shape 29"/>
          <p:cNvSpPr/>
          <p:nvPr/>
        </p:nvSpPr>
        <p:spPr>
          <a:xfrm>
            <a:off x="7326173" y="3840480"/>
            <a:ext cx="2216506" cy="384048"/>
          </a:xfrm>
          <a:prstGeom prst="roundRect">
            <a:avLst>
              <a:gd name="adj" fmla="val 47619"/>
            </a:avLst>
          </a:prstGeom>
          <a:solidFill>
            <a:srgbClr val="151D33"/>
          </a:solidFill>
          <a:ln w="12700">
            <a:solidFill>
              <a:srgbClr val="2A3550"/>
            </a:solidFill>
            <a:prstDash val="solid"/>
          </a:ln>
        </p:spPr>
        <p:txBody>
          <a:bodyPr/>
          <a:lstStyle/>
          <a:p>
            <a:endParaRPr lang="en-US"/>
          </a:p>
        </p:txBody>
      </p:sp>
      <p:sp>
        <p:nvSpPr>
          <p:cNvPr id="32" name="Text 30"/>
          <p:cNvSpPr/>
          <p:nvPr/>
        </p:nvSpPr>
        <p:spPr>
          <a:xfrm>
            <a:off x="7326173" y="3840480"/>
            <a:ext cx="2216506" cy="384048"/>
          </a:xfrm>
          <a:prstGeom prst="rect">
            <a:avLst/>
          </a:prstGeom>
          <a:noFill/>
          <a:ln/>
        </p:spPr>
        <p:txBody>
          <a:bodyPr wrap="square" lIns="0" tIns="0" rIns="0" bIns="0" rtlCol="0" anchor="ctr"/>
          <a:lstStyle/>
          <a:p>
            <a:pPr marL="0" indent="0" algn="ctr">
              <a:buNone/>
            </a:pPr>
            <a:r>
              <a:rPr lang="en-US" sz="1100" dirty="0">
                <a:solidFill>
                  <a:srgbClr val="C7D2E4"/>
                </a:solidFill>
                <a:latin typeface="Calibri" pitchFamily="34" charset="0"/>
                <a:ea typeface="Calibri" pitchFamily="34" charset="-122"/>
                <a:cs typeface="Calibri" pitchFamily="34" charset="-120"/>
              </a:rPr>
              <a:t>Txn count per customer</a:t>
            </a:r>
            <a:endParaRPr lang="en-US" sz="1100" dirty="0"/>
          </a:p>
        </p:txBody>
      </p:sp>
      <p:sp>
        <p:nvSpPr>
          <p:cNvPr id="33" name="Shape 31"/>
          <p:cNvSpPr/>
          <p:nvPr/>
        </p:nvSpPr>
        <p:spPr>
          <a:xfrm>
            <a:off x="9725558" y="3840480"/>
            <a:ext cx="1459382" cy="384048"/>
          </a:xfrm>
          <a:prstGeom prst="roundRect">
            <a:avLst>
              <a:gd name="adj" fmla="val 47619"/>
            </a:avLst>
          </a:prstGeom>
          <a:solidFill>
            <a:srgbClr val="151D33"/>
          </a:solidFill>
          <a:ln w="12700">
            <a:solidFill>
              <a:srgbClr val="2A3550"/>
            </a:solidFill>
            <a:prstDash val="solid"/>
          </a:ln>
        </p:spPr>
        <p:txBody>
          <a:bodyPr/>
          <a:lstStyle/>
          <a:p>
            <a:endParaRPr lang="en-US"/>
          </a:p>
        </p:txBody>
      </p:sp>
      <p:sp>
        <p:nvSpPr>
          <p:cNvPr id="34" name="Text 32"/>
          <p:cNvSpPr/>
          <p:nvPr/>
        </p:nvSpPr>
        <p:spPr>
          <a:xfrm>
            <a:off x="9725558" y="3840480"/>
            <a:ext cx="1459382" cy="384048"/>
          </a:xfrm>
          <a:prstGeom prst="rect">
            <a:avLst/>
          </a:prstGeom>
          <a:noFill/>
          <a:ln/>
        </p:spPr>
        <p:txBody>
          <a:bodyPr wrap="square" lIns="0" tIns="0" rIns="0" bIns="0" rtlCol="0" anchor="ctr"/>
          <a:lstStyle/>
          <a:p>
            <a:pPr marL="0" indent="0" algn="ctr">
              <a:buNone/>
            </a:pPr>
            <a:r>
              <a:rPr lang="en-US" sz="1100" dirty="0">
                <a:solidFill>
                  <a:srgbClr val="C7D2E4"/>
                </a:solidFill>
                <a:latin typeface="Calibri" pitchFamily="34" charset="0"/>
                <a:ea typeface="Calibri" pitchFamily="34" charset="-122"/>
                <a:cs typeface="Calibri" pitchFamily="34" charset="-120"/>
              </a:rPr>
              <a:t>Type encoding</a:t>
            </a:r>
            <a:endParaRPr lang="en-US" sz="1100" dirty="0"/>
          </a:p>
        </p:txBody>
      </p:sp>
      <p:sp>
        <p:nvSpPr>
          <p:cNvPr id="35" name="Shape 33"/>
          <p:cNvSpPr/>
          <p:nvPr/>
        </p:nvSpPr>
        <p:spPr>
          <a:xfrm>
            <a:off x="548640" y="4343400"/>
            <a:ext cx="2721254" cy="384048"/>
          </a:xfrm>
          <a:prstGeom prst="roundRect">
            <a:avLst>
              <a:gd name="adj" fmla="val 47619"/>
            </a:avLst>
          </a:prstGeom>
          <a:solidFill>
            <a:srgbClr val="151D33"/>
          </a:solidFill>
          <a:ln w="12700">
            <a:solidFill>
              <a:srgbClr val="2A3550"/>
            </a:solidFill>
            <a:prstDash val="solid"/>
          </a:ln>
        </p:spPr>
        <p:txBody>
          <a:bodyPr/>
          <a:lstStyle/>
          <a:p>
            <a:endParaRPr lang="en-US"/>
          </a:p>
        </p:txBody>
      </p:sp>
      <p:sp>
        <p:nvSpPr>
          <p:cNvPr id="36" name="Text 34"/>
          <p:cNvSpPr/>
          <p:nvPr/>
        </p:nvSpPr>
        <p:spPr>
          <a:xfrm>
            <a:off x="548640" y="4343400"/>
            <a:ext cx="2721254" cy="384048"/>
          </a:xfrm>
          <a:prstGeom prst="rect">
            <a:avLst/>
          </a:prstGeom>
          <a:noFill/>
          <a:ln/>
        </p:spPr>
        <p:txBody>
          <a:bodyPr wrap="square" lIns="0" tIns="0" rIns="0" bIns="0" rtlCol="0" anchor="ctr"/>
          <a:lstStyle/>
          <a:p>
            <a:pPr marL="0" indent="0" algn="ctr">
              <a:buNone/>
            </a:pPr>
            <a:r>
              <a:rPr lang="en-US" sz="1100" dirty="0">
                <a:solidFill>
                  <a:srgbClr val="C7D2E4"/>
                </a:solidFill>
                <a:latin typeface="Calibri" pitchFamily="34" charset="0"/>
                <a:ea typeface="Calibri" pitchFamily="34" charset="-122"/>
                <a:cs typeface="Calibri" pitchFamily="34" charset="-120"/>
              </a:rPr>
              <a:t>PaySim balance-error signals</a:t>
            </a:r>
            <a:endParaRPr lang="en-US" sz="1100" dirty="0"/>
          </a:p>
        </p:txBody>
      </p:sp>
      <p:sp>
        <p:nvSpPr>
          <p:cNvPr id="37" name="Text 35"/>
          <p:cNvSpPr/>
          <p:nvPr/>
        </p:nvSpPr>
        <p:spPr>
          <a:xfrm>
            <a:off x="548640" y="4892040"/>
            <a:ext cx="7315200" cy="274320"/>
          </a:xfrm>
          <a:prstGeom prst="rect">
            <a:avLst/>
          </a:prstGeom>
          <a:noFill/>
          <a:ln/>
        </p:spPr>
        <p:txBody>
          <a:bodyPr wrap="square" lIns="0" tIns="0" rIns="0" bIns="0" rtlCol="0" anchor="ctr"/>
          <a:lstStyle/>
          <a:p>
            <a:pPr marL="0" indent="0">
              <a:buNone/>
            </a:pPr>
            <a:r>
              <a:rPr lang="en-US" sz="1100" b="1" kern="0" spc="100" dirty="0">
                <a:solidFill>
                  <a:srgbClr val="A78BFA"/>
                </a:solidFill>
                <a:latin typeface="Calibri" pitchFamily="34" charset="0"/>
                <a:ea typeface="Calibri" pitchFamily="34" charset="-122"/>
                <a:cs typeface="Calibri" pitchFamily="34" charset="-120"/>
              </a:rPr>
              <a:t>TARGET ENTERPRISE COMPONENTS</a:t>
            </a:r>
            <a:endParaRPr lang="en-US" sz="1100" dirty="0"/>
          </a:p>
        </p:txBody>
      </p:sp>
      <p:sp>
        <p:nvSpPr>
          <p:cNvPr id="38" name="Shape 36"/>
          <p:cNvSpPr/>
          <p:nvPr/>
        </p:nvSpPr>
        <p:spPr>
          <a:xfrm>
            <a:off x="548640" y="5230368"/>
            <a:ext cx="1658569" cy="777240"/>
          </a:xfrm>
          <a:prstGeom prst="roundRect">
            <a:avLst>
              <a:gd name="adj" fmla="val 9412"/>
            </a:avLst>
          </a:prstGeom>
          <a:solidFill>
            <a:srgbClr val="151D33"/>
          </a:solidFill>
          <a:ln w="12700">
            <a:solidFill>
              <a:srgbClr val="2A3550"/>
            </a:solidFill>
            <a:prstDash val="solid"/>
          </a:ln>
        </p:spPr>
        <p:txBody>
          <a:bodyPr/>
          <a:lstStyle/>
          <a:p>
            <a:endParaRPr lang="en-US"/>
          </a:p>
        </p:txBody>
      </p:sp>
      <p:pic>
        <p:nvPicPr>
          <p:cNvPr id="39" name="Image 0" descr="preencoded.png"/>
          <p:cNvPicPr>
            <a:picLocks noChangeAspect="1"/>
          </p:cNvPicPr>
          <p:nvPr/>
        </p:nvPicPr>
        <p:blipFill>
          <a:blip r:embed="rId3"/>
          <a:stretch>
            <a:fillRect/>
          </a:stretch>
        </p:blipFill>
        <p:spPr>
          <a:xfrm>
            <a:off x="1213333" y="5349240"/>
            <a:ext cx="329184" cy="329184"/>
          </a:xfrm>
          <a:prstGeom prst="rect">
            <a:avLst/>
          </a:prstGeom>
        </p:spPr>
      </p:pic>
      <p:sp>
        <p:nvSpPr>
          <p:cNvPr id="40" name="Text 37"/>
          <p:cNvSpPr/>
          <p:nvPr/>
        </p:nvSpPr>
        <p:spPr>
          <a:xfrm>
            <a:off x="548640" y="5687568"/>
            <a:ext cx="1658569" cy="274320"/>
          </a:xfrm>
          <a:prstGeom prst="rect">
            <a:avLst/>
          </a:prstGeom>
          <a:noFill/>
          <a:ln/>
        </p:spPr>
        <p:txBody>
          <a:bodyPr wrap="square" lIns="0" tIns="0" rIns="0" bIns="0" rtlCol="0" anchor="ctr"/>
          <a:lstStyle/>
          <a:p>
            <a:pPr marL="0" indent="0" algn="ctr">
              <a:buNone/>
            </a:pPr>
            <a:r>
              <a:rPr lang="en-US" sz="1050" b="1" dirty="0">
                <a:solidFill>
                  <a:srgbClr val="C7D2E4"/>
                </a:solidFill>
                <a:latin typeface="Calibri" pitchFamily="34" charset="0"/>
                <a:ea typeface="Calibri" pitchFamily="34" charset="-122"/>
                <a:cs typeface="Calibri" pitchFamily="34" charset="-120"/>
              </a:rPr>
              <a:t>API Gateway</a:t>
            </a:r>
            <a:endParaRPr lang="en-US" sz="1050" dirty="0"/>
          </a:p>
        </p:txBody>
      </p:sp>
      <p:sp>
        <p:nvSpPr>
          <p:cNvPr id="41" name="Shape 38"/>
          <p:cNvSpPr/>
          <p:nvPr/>
        </p:nvSpPr>
        <p:spPr>
          <a:xfrm>
            <a:off x="2435809" y="5230368"/>
            <a:ext cx="1658569" cy="777240"/>
          </a:xfrm>
          <a:prstGeom prst="roundRect">
            <a:avLst>
              <a:gd name="adj" fmla="val 9412"/>
            </a:avLst>
          </a:prstGeom>
          <a:solidFill>
            <a:srgbClr val="151D33"/>
          </a:solidFill>
          <a:ln w="12700">
            <a:solidFill>
              <a:srgbClr val="2A3550"/>
            </a:solidFill>
            <a:prstDash val="solid"/>
          </a:ln>
        </p:spPr>
        <p:txBody>
          <a:bodyPr/>
          <a:lstStyle/>
          <a:p>
            <a:endParaRPr lang="en-US"/>
          </a:p>
        </p:txBody>
      </p:sp>
      <p:pic>
        <p:nvPicPr>
          <p:cNvPr id="42" name="Image 1" descr="preencoded.png"/>
          <p:cNvPicPr>
            <a:picLocks noChangeAspect="1"/>
          </p:cNvPicPr>
          <p:nvPr/>
        </p:nvPicPr>
        <p:blipFill>
          <a:blip r:embed="rId4"/>
          <a:stretch>
            <a:fillRect/>
          </a:stretch>
        </p:blipFill>
        <p:spPr>
          <a:xfrm>
            <a:off x="3100502" y="5349240"/>
            <a:ext cx="329184" cy="329184"/>
          </a:xfrm>
          <a:prstGeom prst="rect">
            <a:avLst/>
          </a:prstGeom>
        </p:spPr>
      </p:pic>
      <p:sp>
        <p:nvSpPr>
          <p:cNvPr id="43" name="Text 39"/>
          <p:cNvSpPr/>
          <p:nvPr/>
        </p:nvSpPr>
        <p:spPr>
          <a:xfrm>
            <a:off x="2435809" y="5687568"/>
            <a:ext cx="1658569" cy="274320"/>
          </a:xfrm>
          <a:prstGeom prst="rect">
            <a:avLst/>
          </a:prstGeom>
          <a:noFill/>
          <a:ln/>
        </p:spPr>
        <p:txBody>
          <a:bodyPr wrap="square" lIns="0" tIns="0" rIns="0" bIns="0" rtlCol="0" anchor="ctr"/>
          <a:lstStyle/>
          <a:p>
            <a:pPr marL="0" indent="0" algn="ctr">
              <a:buNone/>
            </a:pPr>
            <a:r>
              <a:rPr lang="en-US" sz="1050" b="1" dirty="0">
                <a:solidFill>
                  <a:srgbClr val="C7D2E4"/>
                </a:solidFill>
                <a:latin typeface="Calibri" pitchFamily="34" charset="0"/>
                <a:ea typeface="Calibri" pitchFamily="34" charset="-122"/>
                <a:cs typeface="Calibri" pitchFamily="34" charset="-120"/>
              </a:rPr>
              <a:t>Feature Store</a:t>
            </a:r>
            <a:endParaRPr lang="en-US" sz="1050" dirty="0"/>
          </a:p>
        </p:txBody>
      </p:sp>
      <p:sp>
        <p:nvSpPr>
          <p:cNvPr id="44" name="Shape 40"/>
          <p:cNvSpPr/>
          <p:nvPr/>
        </p:nvSpPr>
        <p:spPr>
          <a:xfrm>
            <a:off x="4322978" y="5230368"/>
            <a:ext cx="1658569" cy="777240"/>
          </a:xfrm>
          <a:prstGeom prst="roundRect">
            <a:avLst>
              <a:gd name="adj" fmla="val 9412"/>
            </a:avLst>
          </a:prstGeom>
          <a:solidFill>
            <a:srgbClr val="151D33"/>
          </a:solidFill>
          <a:ln w="12700">
            <a:solidFill>
              <a:srgbClr val="2A3550"/>
            </a:solidFill>
            <a:prstDash val="solid"/>
          </a:ln>
        </p:spPr>
        <p:txBody>
          <a:bodyPr/>
          <a:lstStyle/>
          <a:p>
            <a:endParaRPr lang="en-US"/>
          </a:p>
        </p:txBody>
      </p:sp>
      <p:pic>
        <p:nvPicPr>
          <p:cNvPr id="45" name="Image 2" descr="preencoded.png"/>
          <p:cNvPicPr>
            <a:picLocks noChangeAspect="1"/>
          </p:cNvPicPr>
          <p:nvPr/>
        </p:nvPicPr>
        <p:blipFill>
          <a:blip r:embed="rId5"/>
          <a:stretch>
            <a:fillRect/>
          </a:stretch>
        </p:blipFill>
        <p:spPr>
          <a:xfrm>
            <a:off x="4987671" y="5349240"/>
            <a:ext cx="329184" cy="329184"/>
          </a:xfrm>
          <a:prstGeom prst="rect">
            <a:avLst/>
          </a:prstGeom>
        </p:spPr>
      </p:pic>
      <p:sp>
        <p:nvSpPr>
          <p:cNvPr id="46" name="Text 41"/>
          <p:cNvSpPr/>
          <p:nvPr/>
        </p:nvSpPr>
        <p:spPr>
          <a:xfrm>
            <a:off x="4322978" y="5687568"/>
            <a:ext cx="1658569" cy="274320"/>
          </a:xfrm>
          <a:prstGeom prst="rect">
            <a:avLst/>
          </a:prstGeom>
          <a:noFill/>
          <a:ln/>
        </p:spPr>
        <p:txBody>
          <a:bodyPr wrap="square" lIns="0" tIns="0" rIns="0" bIns="0" rtlCol="0" anchor="ctr"/>
          <a:lstStyle/>
          <a:p>
            <a:pPr marL="0" indent="0" algn="ctr">
              <a:buNone/>
            </a:pPr>
            <a:r>
              <a:rPr lang="en-US" sz="1050" b="1" dirty="0">
                <a:solidFill>
                  <a:srgbClr val="C7D2E4"/>
                </a:solidFill>
                <a:latin typeface="Calibri" pitchFamily="34" charset="0"/>
                <a:ea typeface="Calibri" pitchFamily="34" charset="-122"/>
                <a:cs typeface="Calibri" pitchFamily="34" charset="-120"/>
              </a:rPr>
              <a:t>Model Registry</a:t>
            </a:r>
            <a:endParaRPr lang="en-US" sz="1050" dirty="0"/>
          </a:p>
        </p:txBody>
      </p:sp>
      <p:sp>
        <p:nvSpPr>
          <p:cNvPr id="47" name="Shape 42"/>
          <p:cNvSpPr/>
          <p:nvPr/>
        </p:nvSpPr>
        <p:spPr>
          <a:xfrm>
            <a:off x="6210148" y="5230368"/>
            <a:ext cx="1658569" cy="777240"/>
          </a:xfrm>
          <a:prstGeom prst="roundRect">
            <a:avLst>
              <a:gd name="adj" fmla="val 9412"/>
            </a:avLst>
          </a:prstGeom>
          <a:solidFill>
            <a:srgbClr val="151D33"/>
          </a:solidFill>
          <a:ln w="12700">
            <a:solidFill>
              <a:srgbClr val="2A3550"/>
            </a:solidFill>
            <a:prstDash val="solid"/>
          </a:ln>
        </p:spPr>
        <p:txBody>
          <a:bodyPr/>
          <a:lstStyle/>
          <a:p>
            <a:endParaRPr lang="en-US"/>
          </a:p>
        </p:txBody>
      </p:sp>
      <p:pic>
        <p:nvPicPr>
          <p:cNvPr id="48" name="Image 3" descr="preencoded.png"/>
          <p:cNvPicPr>
            <a:picLocks noChangeAspect="1"/>
          </p:cNvPicPr>
          <p:nvPr/>
        </p:nvPicPr>
        <p:blipFill>
          <a:blip r:embed="rId6"/>
          <a:stretch>
            <a:fillRect/>
          </a:stretch>
        </p:blipFill>
        <p:spPr>
          <a:xfrm>
            <a:off x="6874840" y="5349240"/>
            <a:ext cx="329184" cy="329184"/>
          </a:xfrm>
          <a:prstGeom prst="rect">
            <a:avLst/>
          </a:prstGeom>
        </p:spPr>
      </p:pic>
      <p:sp>
        <p:nvSpPr>
          <p:cNvPr id="49" name="Text 43"/>
          <p:cNvSpPr/>
          <p:nvPr/>
        </p:nvSpPr>
        <p:spPr>
          <a:xfrm>
            <a:off x="6210148" y="5687568"/>
            <a:ext cx="1658569" cy="274320"/>
          </a:xfrm>
          <a:prstGeom prst="rect">
            <a:avLst/>
          </a:prstGeom>
          <a:noFill/>
          <a:ln/>
        </p:spPr>
        <p:txBody>
          <a:bodyPr wrap="square" lIns="0" tIns="0" rIns="0" bIns="0" rtlCol="0" anchor="ctr"/>
          <a:lstStyle/>
          <a:p>
            <a:pPr marL="0" indent="0" algn="ctr">
              <a:buNone/>
            </a:pPr>
            <a:r>
              <a:rPr lang="en-US" sz="1050" b="1" dirty="0">
                <a:solidFill>
                  <a:srgbClr val="C7D2E4"/>
                </a:solidFill>
                <a:latin typeface="Calibri" pitchFamily="34" charset="0"/>
                <a:ea typeface="Calibri" pitchFamily="34" charset="-122"/>
                <a:cs typeface="Calibri" pitchFamily="34" charset="-120"/>
              </a:rPr>
              <a:t>Event Bus</a:t>
            </a:r>
            <a:endParaRPr lang="en-US" sz="1050" dirty="0"/>
          </a:p>
        </p:txBody>
      </p:sp>
      <p:sp>
        <p:nvSpPr>
          <p:cNvPr id="50" name="Shape 44"/>
          <p:cNvSpPr/>
          <p:nvPr/>
        </p:nvSpPr>
        <p:spPr>
          <a:xfrm>
            <a:off x="8097317" y="5230368"/>
            <a:ext cx="1658569" cy="777240"/>
          </a:xfrm>
          <a:prstGeom prst="roundRect">
            <a:avLst>
              <a:gd name="adj" fmla="val 9412"/>
            </a:avLst>
          </a:prstGeom>
          <a:solidFill>
            <a:srgbClr val="151D33"/>
          </a:solidFill>
          <a:ln w="12700">
            <a:solidFill>
              <a:srgbClr val="2A3550"/>
            </a:solidFill>
            <a:prstDash val="solid"/>
          </a:ln>
        </p:spPr>
        <p:txBody>
          <a:bodyPr/>
          <a:lstStyle/>
          <a:p>
            <a:endParaRPr lang="en-US"/>
          </a:p>
        </p:txBody>
      </p:sp>
      <p:pic>
        <p:nvPicPr>
          <p:cNvPr id="51" name="Image 4" descr="preencoded.png"/>
          <p:cNvPicPr>
            <a:picLocks noChangeAspect="1"/>
          </p:cNvPicPr>
          <p:nvPr/>
        </p:nvPicPr>
        <p:blipFill>
          <a:blip r:embed="rId7"/>
          <a:stretch>
            <a:fillRect/>
          </a:stretch>
        </p:blipFill>
        <p:spPr>
          <a:xfrm>
            <a:off x="8762009" y="5349240"/>
            <a:ext cx="329184" cy="329184"/>
          </a:xfrm>
          <a:prstGeom prst="rect">
            <a:avLst/>
          </a:prstGeom>
        </p:spPr>
      </p:pic>
      <p:sp>
        <p:nvSpPr>
          <p:cNvPr id="52" name="Text 45"/>
          <p:cNvSpPr/>
          <p:nvPr/>
        </p:nvSpPr>
        <p:spPr>
          <a:xfrm>
            <a:off x="8097317" y="5687568"/>
            <a:ext cx="1658569" cy="274320"/>
          </a:xfrm>
          <a:prstGeom prst="rect">
            <a:avLst/>
          </a:prstGeom>
          <a:noFill/>
          <a:ln/>
        </p:spPr>
        <p:txBody>
          <a:bodyPr wrap="square" lIns="0" tIns="0" rIns="0" bIns="0" rtlCol="0" anchor="ctr"/>
          <a:lstStyle/>
          <a:p>
            <a:pPr marL="0" indent="0" algn="ctr">
              <a:buNone/>
            </a:pPr>
            <a:r>
              <a:rPr lang="en-US" sz="1050" b="1" dirty="0">
                <a:solidFill>
                  <a:srgbClr val="C7D2E4"/>
                </a:solidFill>
                <a:latin typeface="Calibri" pitchFamily="34" charset="0"/>
                <a:ea typeface="Calibri" pitchFamily="34" charset="-122"/>
                <a:cs typeface="Calibri" pitchFamily="34" charset="-120"/>
              </a:rPr>
              <a:t>Audit Log</a:t>
            </a:r>
            <a:endParaRPr lang="en-US" sz="1050" dirty="0"/>
          </a:p>
        </p:txBody>
      </p:sp>
      <p:sp>
        <p:nvSpPr>
          <p:cNvPr id="53" name="Shape 46"/>
          <p:cNvSpPr/>
          <p:nvPr/>
        </p:nvSpPr>
        <p:spPr>
          <a:xfrm>
            <a:off x="9984486" y="5230368"/>
            <a:ext cx="1658569" cy="777240"/>
          </a:xfrm>
          <a:prstGeom prst="roundRect">
            <a:avLst>
              <a:gd name="adj" fmla="val 9412"/>
            </a:avLst>
          </a:prstGeom>
          <a:solidFill>
            <a:srgbClr val="151D33"/>
          </a:solidFill>
          <a:ln w="12700">
            <a:solidFill>
              <a:srgbClr val="2A3550"/>
            </a:solidFill>
            <a:prstDash val="solid"/>
          </a:ln>
        </p:spPr>
        <p:txBody>
          <a:bodyPr/>
          <a:lstStyle/>
          <a:p>
            <a:endParaRPr lang="en-US"/>
          </a:p>
        </p:txBody>
      </p:sp>
      <p:pic>
        <p:nvPicPr>
          <p:cNvPr id="54" name="Image 5" descr="preencoded.png"/>
          <p:cNvPicPr>
            <a:picLocks noChangeAspect="1"/>
          </p:cNvPicPr>
          <p:nvPr/>
        </p:nvPicPr>
        <p:blipFill>
          <a:blip r:embed="rId8"/>
          <a:stretch>
            <a:fillRect/>
          </a:stretch>
        </p:blipFill>
        <p:spPr>
          <a:xfrm>
            <a:off x="10649179" y="5349240"/>
            <a:ext cx="329184" cy="329184"/>
          </a:xfrm>
          <a:prstGeom prst="rect">
            <a:avLst/>
          </a:prstGeom>
        </p:spPr>
      </p:pic>
      <p:sp>
        <p:nvSpPr>
          <p:cNvPr id="55" name="Text 47"/>
          <p:cNvSpPr/>
          <p:nvPr/>
        </p:nvSpPr>
        <p:spPr>
          <a:xfrm>
            <a:off x="9984486" y="5687568"/>
            <a:ext cx="1658569" cy="274320"/>
          </a:xfrm>
          <a:prstGeom prst="rect">
            <a:avLst/>
          </a:prstGeom>
          <a:noFill/>
          <a:ln/>
        </p:spPr>
        <p:txBody>
          <a:bodyPr wrap="square" lIns="0" tIns="0" rIns="0" bIns="0" rtlCol="0" anchor="ctr"/>
          <a:lstStyle/>
          <a:p>
            <a:pPr marL="0" indent="0" algn="ctr">
              <a:buNone/>
            </a:pPr>
            <a:r>
              <a:rPr lang="en-US" sz="1050" b="1" dirty="0">
                <a:solidFill>
                  <a:srgbClr val="C7D2E4"/>
                </a:solidFill>
                <a:latin typeface="Calibri" pitchFamily="34" charset="0"/>
                <a:ea typeface="Calibri" pitchFamily="34" charset="-122"/>
                <a:cs typeface="Calibri" pitchFamily="34" charset="-120"/>
              </a:rPr>
              <a:t>Observability</a:t>
            </a:r>
            <a:endParaRPr lang="en-US" sz="1050" dirty="0"/>
          </a:p>
        </p:txBody>
      </p:sp>
      <p:sp>
        <p:nvSpPr>
          <p:cNvPr id="57" name="Text 48"/>
          <p:cNvSpPr/>
          <p:nvPr/>
        </p:nvSpPr>
        <p:spPr>
          <a:xfrm>
            <a:off x="548640" y="6473952"/>
            <a:ext cx="8229600" cy="274320"/>
          </a:xfrm>
          <a:prstGeom prst="rect">
            <a:avLst/>
          </a:prstGeom>
          <a:noFill/>
          <a:ln/>
        </p:spPr>
        <p:txBody>
          <a:bodyPr wrap="square" lIns="0" tIns="0" rIns="0" bIns="0" rtlCol="0" anchor="ctr"/>
          <a:lstStyle/>
          <a:p>
            <a:pPr marL="0" indent="0" algn="l">
              <a:buNone/>
            </a:pPr>
            <a:r>
              <a:rPr lang="en-US" sz="900" dirty="0">
                <a:solidFill>
                  <a:srgbClr val="8A98B5"/>
                </a:solidFill>
                <a:latin typeface="Calibri" pitchFamily="34" charset="0"/>
                <a:ea typeface="Calibri" pitchFamily="34" charset="-122"/>
                <a:cs typeface="Calibri" pitchFamily="34" charset="-120"/>
              </a:rPr>
              <a:t>FraudShield AI  ·  Payment Fraud Sequence Detection (LSTM/RNN)</a:t>
            </a:r>
            <a:endParaRPr lang="en-US" sz="900" dirty="0"/>
          </a:p>
        </p:txBody>
      </p:sp>
      <p:sp>
        <p:nvSpPr>
          <p:cNvPr id="58" name="Text 49"/>
          <p:cNvSpPr/>
          <p:nvPr/>
        </p:nvSpPr>
        <p:spPr>
          <a:xfrm>
            <a:off x="10728655" y="6473952"/>
            <a:ext cx="914400" cy="274320"/>
          </a:xfrm>
          <a:prstGeom prst="rect">
            <a:avLst/>
          </a:prstGeom>
          <a:noFill/>
          <a:ln/>
        </p:spPr>
        <p:txBody>
          <a:bodyPr wrap="square" lIns="0" tIns="0" rIns="0" bIns="0" rtlCol="0" anchor="ctr"/>
          <a:lstStyle/>
          <a:p>
            <a:pPr marL="0" indent="0" algn="r">
              <a:buNone/>
            </a:pPr>
            <a:r>
              <a:rPr lang="en-US" sz="900" dirty="0">
                <a:solidFill>
                  <a:srgbClr val="8A98B5"/>
                </a:solidFill>
                <a:latin typeface="Calibri" pitchFamily="34" charset="0"/>
                <a:ea typeface="Calibri" pitchFamily="34" charset="-122"/>
                <a:cs typeface="Calibri" pitchFamily="34" charset="-120"/>
              </a:rPr>
              <a:t>7 / 15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marL="0" indent="0" algn="l">
              <a:buNone/>
            </a:pPr>
            <a:r>
              <a:rPr lang="en-US" sz="1200" b="1" kern="0" spc="300" dirty="0">
                <a:solidFill>
                  <a:srgbClr val="22D3EE"/>
                </a:solidFill>
                <a:latin typeface="Calibri" pitchFamily="34" charset="0"/>
                <a:ea typeface="Calibri" pitchFamily="34" charset="-122"/>
                <a:cs typeface="Calibri" pitchFamily="34" charset="-120"/>
              </a:rPr>
              <a:t>MODEL PORTFOLIO</a:t>
            </a:r>
            <a:endParaRPr lang="en-US" sz="1200" dirty="0"/>
          </a:p>
        </p:txBody>
      </p:sp>
      <p:sp>
        <p:nvSpPr>
          <p:cNvPr id="3" name="Text 1"/>
          <p:cNvSpPr/>
          <p:nvPr/>
        </p:nvSpPr>
        <p:spPr>
          <a:xfrm>
            <a:off x="548640" y="658368"/>
            <a:ext cx="8869680" cy="868680"/>
          </a:xfrm>
          <a:prstGeom prst="rect">
            <a:avLst/>
          </a:prstGeom>
          <a:noFill/>
          <a:ln/>
        </p:spPr>
        <p:txBody>
          <a:bodyPr wrap="square" lIns="0" tIns="0" rIns="0" bIns="0" rtlCol="0" anchor="t"/>
          <a:lstStyle/>
          <a:p>
            <a:pPr marL="0" indent="0" algn="l">
              <a:buNone/>
            </a:pPr>
            <a:r>
              <a:rPr lang="en-US" sz="3000" b="1" dirty="0">
                <a:solidFill>
                  <a:srgbClr val="FFFFFF"/>
                </a:solidFill>
                <a:latin typeface="Calibri" pitchFamily="34" charset="0"/>
                <a:ea typeface="Calibri" pitchFamily="34" charset="-122"/>
                <a:cs typeface="Calibri" pitchFamily="34" charset="-120"/>
              </a:rPr>
              <a:t>Sequence models outperform the order-blind baseline</a:t>
            </a:r>
            <a:endParaRPr lang="en-US" sz="3000" dirty="0"/>
          </a:p>
        </p:txBody>
      </p:sp>
      <p:sp>
        <p:nvSpPr>
          <p:cNvPr id="5" name="Text 3"/>
          <p:cNvSpPr/>
          <p:nvPr/>
        </p:nvSpPr>
        <p:spPr>
          <a:xfrm>
            <a:off x="8945575" y="457200"/>
            <a:ext cx="2697480" cy="457200"/>
          </a:xfrm>
          <a:prstGeom prst="rect">
            <a:avLst/>
          </a:prstGeom>
          <a:noFill/>
          <a:ln/>
        </p:spPr>
        <p:txBody>
          <a:bodyPr wrap="square" lIns="0" tIns="0" rIns="0" bIns="0" rtlCol="0" anchor="ctr"/>
          <a:lstStyle/>
          <a:p>
            <a:pPr marL="0" indent="0" algn="ctr">
              <a:buNone/>
            </a:pPr>
            <a:endParaRPr lang="en-US" sz="900" dirty="0"/>
          </a:p>
        </p:txBody>
      </p:sp>
      <p:sp>
        <p:nvSpPr>
          <p:cNvPr id="6" name="Shape 4"/>
          <p:cNvSpPr/>
          <p:nvPr/>
        </p:nvSpPr>
        <p:spPr>
          <a:xfrm>
            <a:off x="548640" y="1783080"/>
            <a:ext cx="6949440" cy="4343400"/>
          </a:xfrm>
          <a:prstGeom prst="roundRect">
            <a:avLst>
              <a:gd name="adj" fmla="val 1895"/>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7" name="Text 5"/>
          <p:cNvSpPr/>
          <p:nvPr/>
        </p:nvSpPr>
        <p:spPr>
          <a:xfrm>
            <a:off x="777240" y="1938528"/>
            <a:ext cx="6492240" cy="274320"/>
          </a:xfrm>
          <a:prstGeom prst="rect">
            <a:avLst/>
          </a:prstGeom>
          <a:noFill/>
          <a:ln/>
        </p:spPr>
        <p:txBody>
          <a:bodyPr wrap="square" lIns="0" tIns="0" rIns="0" bIns="0" rtlCol="0" anchor="ctr"/>
          <a:lstStyle/>
          <a:p>
            <a:pPr marL="0" indent="0">
              <a:buNone/>
            </a:pPr>
            <a:r>
              <a:rPr lang="en-US" sz="1200" b="1" kern="0" spc="100" dirty="0">
                <a:solidFill>
                  <a:srgbClr val="22D3EE"/>
                </a:solidFill>
                <a:latin typeface="Calibri" pitchFamily="34" charset="0"/>
                <a:ea typeface="Calibri" pitchFamily="34" charset="-122"/>
                <a:cs typeface="Calibri" pitchFamily="34" charset="-120"/>
              </a:rPr>
              <a:t>PR-AUC BY MODEL  (higher is better)</a:t>
            </a:r>
            <a:endParaRPr lang="en-US" sz="1200" dirty="0"/>
          </a:p>
        </p:txBody>
      </p:sp>
      <p:graphicFrame>
        <p:nvGraphicFramePr>
          <p:cNvPr id="8" name="Chart 0"/>
          <p:cNvGraphicFramePr/>
          <p:nvPr/>
        </p:nvGraphicFramePr>
        <p:xfrm>
          <a:off x="640080" y="2286000"/>
          <a:ext cx="676656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7680960" y="1783080"/>
            <a:ext cx="3977640" cy="1874520"/>
          </a:xfrm>
          <a:prstGeom prst="roundRect">
            <a:avLst>
              <a:gd name="adj" fmla="val 4390"/>
            </a:avLst>
          </a:prstGeom>
          <a:solidFill>
            <a:srgbClr val="1B2540"/>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10" name="Text 7"/>
          <p:cNvSpPr/>
          <p:nvPr/>
        </p:nvSpPr>
        <p:spPr>
          <a:xfrm>
            <a:off x="7909560" y="1938528"/>
            <a:ext cx="3566160" cy="274320"/>
          </a:xfrm>
          <a:prstGeom prst="rect">
            <a:avLst/>
          </a:prstGeom>
          <a:noFill/>
          <a:ln/>
        </p:spPr>
        <p:txBody>
          <a:bodyPr wrap="square" lIns="0" tIns="0" rIns="0" bIns="0" rtlCol="0" anchor="ctr"/>
          <a:lstStyle/>
          <a:p>
            <a:pPr marL="0" indent="0">
              <a:buNone/>
            </a:pPr>
            <a:r>
              <a:rPr lang="en-US" sz="1100" b="1" kern="0" spc="100" dirty="0">
                <a:solidFill>
                  <a:srgbClr val="10B981"/>
                </a:solidFill>
                <a:latin typeface="Calibri" pitchFamily="34" charset="0"/>
                <a:ea typeface="Calibri" pitchFamily="34" charset="-122"/>
                <a:cs typeface="Calibri" pitchFamily="34" charset="-120"/>
              </a:rPr>
              <a:t>PRIMARY MODEL</a:t>
            </a:r>
            <a:endParaRPr lang="en-US" sz="1100" dirty="0"/>
          </a:p>
        </p:txBody>
      </p:sp>
      <p:sp>
        <p:nvSpPr>
          <p:cNvPr id="11" name="Text 8"/>
          <p:cNvSpPr/>
          <p:nvPr/>
        </p:nvSpPr>
        <p:spPr>
          <a:xfrm>
            <a:off x="7909560" y="2194560"/>
            <a:ext cx="1828800" cy="54864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GRU</a:t>
            </a:r>
            <a:endParaRPr lang="en-US" sz="3000" dirty="0"/>
          </a:p>
        </p:txBody>
      </p:sp>
      <p:sp>
        <p:nvSpPr>
          <p:cNvPr id="12" name="Text 9"/>
          <p:cNvSpPr/>
          <p:nvPr/>
        </p:nvSpPr>
        <p:spPr>
          <a:xfrm>
            <a:off x="9601200" y="2212848"/>
            <a:ext cx="1874520" cy="640080"/>
          </a:xfrm>
          <a:prstGeom prst="rect">
            <a:avLst/>
          </a:prstGeom>
          <a:noFill/>
          <a:ln/>
        </p:spPr>
        <p:txBody>
          <a:bodyPr wrap="square" lIns="0" tIns="0" rIns="0" bIns="0" rtlCol="0" anchor="ctr"/>
          <a:lstStyle/>
          <a:p>
            <a:pPr marL="0" indent="0">
              <a:buNone/>
            </a:pPr>
            <a:r>
              <a:rPr lang="en-US" sz="1100" dirty="0">
                <a:solidFill>
                  <a:srgbClr val="C7D2E4"/>
                </a:solidFill>
                <a:latin typeface="Calibri" pitchFamily="34" charset="0"/>
                <a:ea typeface="Calibri" pitchFamily="34" charset="-122"/>
                <a:cs typeface="Calibri" pitchFamily="34" charset="-120"/>
              </a:rPr>
              <a:t>LSTM is the hero concept;</a:t>
            </a:r>
            <a:endParaRPr lang="en-US" sz="1100" dirty="0"/>
          </a:p>
          <a:p>
            <a:pPr marL="0" indent="0">
              <a:buNone/>
            </a:pPr>
            <a:r>
              <a:rPr lang="en-US" sz="1100" dirty="0">
                <a:solidFill>
                  <a:srgbClr val="C7D2E4"/>
                </a:solidFill>
                <a:latin typeface="Calibri" pitchFamily="34" charset="0"/>
                <a:ea typeface="Calibri" pitchFamily="34" charset="-122"/>
                <a:cs typeface="Calibri" pitchFamily="34" charset="-120"/>
              </a:rPr>
              <a:t>GRU wins on PR-AUC.</a:t>
            </a:r>
            <a:endParaRPr lang="en-US" sz="1100" dirty="0"/>
          </a:p>
        </p:txBody>
      </p:sp>
      <p:sp>
        <p:nvSpPr>
          <p:cNvPr id="13" name="Text 10"/>
          <p:cNvSpPr/>
          <p:nvPr/>
        </p:nvSpPr>
        <p:spPr>
          <a:xfrm>
            <a:off x="7909560" y="2834640"/>
            <a:ext cx="1143000" cy="411480"/>
          </a:xfrm>
          <a:prstGeom prst="rect">
            <a:avLst/>
          </a:prstGeom>
          <a:noFill/>
          <a:ln/>
        </p:spPr>
        <p:txBody>
          <a:bodyPr wrap="square" lIns="0" tIns="0" rIns="0" bIns="0" rtlCol="0" anchor="ctr"/>
          <a:lstStyle/>
          <a:p>
            <a:pPr marL="0" indent="0" algn="l">
              <a:buNone/>
            </a:pPr>
            <a:r>
              <a:rPr lang="en-US" sz="2000" b="1" dirty="0">
                <a:solidFill>
                  <a:srgbClr val="10B981"/>
                </a:solidFill>
                <a:latin typeface="Calibri" pitchFamily="34" charset="0"/>
                <a:ea typeface="Calibri" pitchFamily="34" charset="-122"/>
                <a:cs typeface="Calibri" pitchFamily="34" charset="-120"/>
              </a:rPr>
              <a:t>0.994</a:t>
            </a:r>
            <a:endParaRPr lang="en-US" sz="2000" dirty="0"/>
          </a:p>
        </p:txBody>
      </p:sp>
      <p:sp>
        <p:nvSpPr>
          <p:cNvPr id="14" name="Text 11"/>
          <p:cNvSpPr/>
          <p:nvPr/>
        </p:nvSpPr>
        <p:spPr>
          <a:xfrm>
            <a:off x="7909560" y="3246120"/>
            <a:ext cx="1143000" cy="274320"/>
          </a:xfrm>
          <a:prstGeom prst="rect">
            <a:avLst/>
          </a:prstGeom>
          <a:noFill/>
          <a:ln/>
        </p:spPr>
        <p:txBody>
          <a:bodyPr wrap="square" lIns="0" tIns="0" rIns="0" bIns="0" rtlCol="0" anchor="ctr"/>
          <a:lstStyle/>
          <a:p>
            <a:pPr marL="0" indent="0" algn="l">
              <a:buNone/>
            </a:pPr>
            <a:r>
              <a:rPr lang="en-US" sz="1000" dirty="0">
                <a:solidFill>
                  <a:srgbClr val="8A98B5"/>
                </a:solidFill>
                <a:latin typeface="Calibri" pitchFamily="34" charset="0"/>
                <a:ea typeface="Calibri" pitchFamily="34" charset="-122"/>
                <a:cs typeface="Calibri" pitchFamily="34" charset="-120"/>
              </a:rPr>
              <a:t>Recall</a:t>
            </a:r>
            <a:endParaRPr lang="en-US" sz="1000" dirty="0"/>
          </a:p>
        </p:txBody>
      </p:sp>
      <p:sp>
        <p:nvSpPr>
          <p:cNvPr id="15" name="Text 12"/>
          <p:cNvSpPr/>
          <p:nvPr/>
        </p:nvSpPr>
        <p:spPr>
          <a:xfrm>
            <a:off x="9098280" y="2834640"/>
            <a:ext cx="1143000" cy="411480"/>
          </a:xfrm>
          <a:prstGeom prst="rect">
            <a:avLst/>
          </a:prstGeom>
          <a:noFill/>
          <a:ln/>
        </p:spPr>
        <p:txBody>
          <a:bodyPr wrap="square" lIns="0" tIns="0" rIns="0" bIns="0" rtlCol="0" anchor="ctr"/>
          <a:lstStyle/>
          <a:p>
            <a:pPr marL="0" indent="0" algn="l">
              <a:buNone/>
            </a:pPr>
            <a:r>
              <a:rPr lang="en-US" sz="2000" b="1" dirty="0">
                <a:solidFill>
                  <a:srgbClr val="22D3EE"/>
                </a:solidFill>
                <a:latin typeface="Calibri" pitchFamily="34" charset="0"/>
                <a:ea typeface="Calibri" pitchFamily="34" charset="-122"/>
                <a:cs typeface="Calibri" pitchFamily="34" charset="-120"/>
              </a:rPr>
              <a:t>0.981</a:t>
            </a:r>
            <a:endParaRPr lang="en-US" sz="2000" dirty="0"/>
          </a:p>
        </p:txBody>
      </p:sp>
      <p:sp>
        <p:nvSpPr>
          <p:cNvPr id="16" name="Text 13"/>
          <p:cNvSpPr/>
          <p:nvPr/>
        </p:nvSpPr>
        <p:spPr>
          <a:xfrm>
            <a:off x="9098280" y="3246120"/>
            <a:ext cx="1143000" cy="274320"/>
          </a:xfrm>
          <a:prstGeom prst="rect">
            <a:avLst/>
          </a:prstGeom>
          <a:noFill/>
          <a:ln/>
        </p:spPr>
        <p:txBody>
          <a:bodyPr wrap="square" lIns="0" tIns="0" rIns="0" bIns="0" rtlCol="0" anchor="ctr"/>
          <a:lstStyle/>
          <a:p>
            <a:pPr marL="0" indent="0" algn="l">
              <a:buNone/>
            </a:pPr>
            <a:r>
              <a:rPr lang="en-US" sz="1000" dirty="0">
                <a:solidFill>
                  <a:srgbClr val="8A98B5"/>
                </a:solidFill>
                <a:latin typeface="Calibri" pitchFamily="34" charset="0"/>
                <a:ea typeface="Calibri" pitchFamily="34" charset="-122"/>
                <a:cs typeface="Calibri" pitchFamily="34" charset="-120"/>
              </a:rPr>
              <a:t>Precision</a:t>
            </a:r>
            <a:endParaRPr lang="en-US" sz="1000" dirty="0"/>
          </a:p>
        </p:txBody>
      </p:sp>
      <p:sp>
        <p:nvSpPr>
          <p:cNvPr id="17" name="Text 14"/>
          <p:cNvSpPr/>
          <p:nvPr/>
        </p:nvSpPr>
        <p:spPr>
          <a:xfrm>
            <a:off x="10287000" y="2834640"/>
            <a:ext cx="1143000" cy="411480"/>
          </a:xfrm>
          <a:prstGeom prst="rect">
            <a:avLst/>
          </a:prstGeom>
          <a:noFill/>
          <a:ln/>
        </p:spPr>
        <p:txBody>
          <a:bodyPr wrap="square" lIns="0" tIns="0" rIns="0" bIns="0" rtlCol="0" anchor="ctr"/>
          <a:lstStyle/>
          <a:p>
            <a:pPr marL="0" indent="0" algn="l">
              <a:buNone/>
            </a:pPr>
            <a:r>
              <a:rPr lang="en-US" sz="2000" b="1" dirty="0">
                <a:solidFill>
                  <a:srgbClr val="A78BFA"/>
                </a:solidFill>
                <a:latin typeface="Calibri" pitchFamily="34" charset="0"/>
                <a:ea typeface="Calibri" pitchFamily="34" charset="-122"/>
                <a:cs typeface="Calibri" pitchFamily="34" charset="-120"/>
              </a:rPr>
              <a:t>0.994</a:t>
            </a:r>
            <a:endParaRPr lang="en-US" sz="2000" dirty="0"/>
          </a:p>
        </p:txBody>
      </p:sp>
      <p:sp>
        <p:nvSpPr>
          <p:cNvPr id="18" name="Text 15"/>
          <p:cNvSpPr/>
          <p:nvPr/>
        </p:nvSpPr>
        <p:spPr>
          <a:xfrm>
            <a:off x="10287000" y="3246120"/>
            <a:ext cx="1143000" cy="274320"/>
          </a:xfrm>
          <a:prstGeom prst="rect">
            <a:avLst/>
          </a:prstGeom>
          <a:noFill/>
          <a:ln/>
        </p:spPr>
        <p:txBody>
          <a:bodyPr wrap="square" lIns="0" tIns="0" rIns="0" bIns="0" rtlCol="0" anchor="ctr"/>
          <a:lstStyle/>
          <a:p>
            <a:pPr marL="0" indent="0" algn="l">
              <a:buNone/>
            </a:pPr>
            <a:r>
              <a:rPr lang="en-US" sz="1000" dirty="0">
                <a:solidFill>
                  <a:srgbClr val="8A98B5"/>
                </a:solidFill>
                <a:latin typeface="Calibri" pitchFamily="34" charset="0"/>
                <a:ea typeface="Calibri" pitchFamily="34" charset="-122"/>
                <a:cs typeface="Calibri" pitchFamily="34" charset="-120"/>
              </a:rPr>
              <a:t>Recall@P90</a:t>
            </a:r>
            <a:endParaRPr lang="en-US" sz="1000" dirty="0"/>
          </a:p>
        </p:txBody>
      </p:sp>
      <p:sp>
        <p:nvSpPr>
          <p:cNvPr id="19" name="Shape 16"/>
          <p:cNvSpPr/>
          <p:nvPr/>
        </p:nvSpPr>
        <p:spPr>
          <a:xfrm>
            <a:off x="7680960" y="3840480"/>
            <a:ext cx="3977640" cy="2286000"/>
          </a:xfrm>
          <a:prstGeom prst="roundRect">
            <a:avLst>
              <a:gd name="adj" fmla="val 3600"/>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20" name="Text 17"/>
          <p:cNvSpPr/>
          <p:nvPr/>
        </p:nvSpPr>
        <p:spPr>
          <a:xfrm>
            <a:off x="7909560" y="4005072"/>
            <a:ext cx="3566160" cy="274320"/>
          </a:xfrm>
          <a:prstGeom prst="rect">
            <a:avLst/>
          </a:prstGeom>
          <a:noFill/>
          <a:ln/>
        </p:spPr>
        <p:txBody>
          <a:bodyPr wrap="square" lIns="0" tIns="0" rIns="0" bIns="0" rtlCol="0" anchor="ctr"/>
          <a:lstStyle/>
          <a:p>
            <a:pPr marL="0" indent="0">
              <a:buNone/>
            </a:pPr>
            <a:r>
              <a:rPr lang="en-US" sz="1100" b="1" kern="0" spc="50" dirty="0">
                <a:solidFill>
                  <a:srgbClr val="22D3EE"/>
                </a:solidFill>
                <a:latin typeface="Calibri" pitchFamily="34" charset="0"/>
                <a:ea typeface="Calibri" pitchFamily="34" charset="-122"/>
                <a:cs typeface="Calibri" pitchFamily="34" charset="-120"/>
              </a:rPr>
              <a:t>WHY PR-AUC &amp; RECALL — NOT ACCURACY</a:t>
            </a:r>
            <a:endParaRPr lang="en-US" sz="1100" dirty="0"/>
          </a:p>
        </p:txBody>
      </p:sp>
      <p:sp>
        <p:nvSpPr>
          <p:cNvPr id="21" name="Text 18"/>
          <p:cNvSpPr/>
          <p:nvPr/>
        </p:nvSpPr>
        <p:spPr>
          <a:xfrm>
            <a:off x="7955280" y="4370832"/>
            <a:ext cx="3520440" cy="1645920"/>
          </a:xfrm>
          <a:prstGeom prst="rect">
            <a:avLst/>
          </a:prstGeom>
          <a:noFill/>
          <a:ln/>
        </p:spPr>
        <p:txBody>
          <a:bodyPr wrap="square" lIns="0" tIns="0" rIns="0" bIns="0" rtlCol="0" anchor="ctr"/>
          <a:lstStyle/>
          <a:p>
            <a:pPr marL="177800" indent="-177800">
              <a:lnSpc>
                <a:spcPct val="108000"/>
              </a:lnSpc>
              <a:spcAft>
                <a:spcPts val="900"/>
              </a:spcAft>
              <a:buSzPct val="100000"/>
              <a:buChar char="•"/>
            </a:pPr>
            <a:r>
              <a:rPr lang="en-US" sz="1100" dirty="0">
                <a:solidFill>
                  <a:srgbClr val="C7D2E4"/>
                </a:solidFill>
                <a:latin typeface="Calibri" pitchFamily="34" charset="0"/>
                <a:ea typeface="Calibri" pitchFamily="34" charset="-122"/>
                <a:cs typeface="Calibri" pitchFamily="34" charset="-120"/>
              </a:rPr>
              <a:t>At &lt;1% fraud, a model that approves everything is 99% accurate yet catches nothing.</a:t>
            </a:r>
            <a:endParaRPr lang="en-US" sz="1100" dirty="0"/>
          </a:p>
          <a:p>
            <a:pPr marL="177800" indent="-177800">
              <a:lnSpc>
                <a:spcPct val="108000"/>
              </a:lnSpc>
              <a:spcAft>
                <a:spcPts val="900"/>
              </a:spcAft>
              <a:buSzPct val="100000"/>
              <a:buChar char="•"/>
            </a:pPr>
            <a:r>
              <a:rPr lang="en-US" sz="1100" dirty="0">
                <a:solidFill>
                  <a:srgbClr val="C7D2E4"/>
                </a:solidFill>
                <a:latin typeface="Calibri" pitchFamily="34" charset="0"/>
                <a:ea typeface="Calibri" pitchFamily="34" charset="-122"/>
                <a:cs typeface="Calibri" pitchFamily="34" charset="-120"/>
              </a:rPr>
              <a:t>PR-AUC rewards finding rare positives.</a:t>
            </a:r>
            <a:endParaRPr lang="en-US" sz="1100" dirty="0"/>
          </a:p>
          <a:p>
            <a:pPr marL="177800" indent="-177800">
              <a:lnSpc>
                <a:spcPct val="108000"/>
              </a:lnSpc>
              <a:spcAft>
                <a:spcPts val="900"/>
              </a:spcAft>
              <a:buSzPct val="100000"/>
              <a:buChar char="•"/>
            </a:pPr>
            <a:r>
              <a:rPr lang="en-US" sz="1100" dirty="0">
                <a:solidFill>
                  <a:srgbClr val="C7D2E4"/>
                </a:solidFill>
                <a:latin typeface="Calibri" pitchFamily="34" charset="0"/>
                <a:ea typeface="Calibri" pitchFamily="34" charset="-122"/>
                <a:cs typeface="Calibri" pitchFamily="34" charset="-120"/>
              </a:rPr>
              <a:t>Recall is the operational priority — missing fraud is costly.</a:t>
            </a:r>
            <a:endParaRPr lang="en-US" sz="1100" dirty="0"/>
          </a:p>
        </p:txBody>
      </p:sp>
      <p:sp>
        <p:nvSpPr>
          <p:cNvPr id="22" name="Text 19"/>
          <p:cNvSpPr/>
          <p:nvPr/>
        </p:nvSpPr>
        <p:spPr>
          <a:xfrm>
            <a:off x="548640" y="6199632"/>
            <a:ext cx="6949440" cy="320040"/>
          </a:xfrm>
          <a:prstGeom prst="rect">
            <a:avLst/>
          </a:prstGeom>
          <a:noFill/>
          <a:ln/>
        </p:spPr>
        <p:txBody>
          <a:bodyPr wrap="square" lIns="0" tIns="0" rIns="0" bIns="0" rtlCol="0" anchor="ctr"/>
          <a:lstStyle/>
          <a:p>
            <a:pPr marL="0" indent="0" algn="ctr">
              <a:buNone/>
            </a:pPr>
            <a:r>
              <a:rPr lang="en-US" sz="1200" i="1" dirty="0">
                <a:solidFill>
                  <a:srgbClr val="8A98B5"/>
                </a:solidFill>
                <a:latin typeface="Calibri" pitchFamily="34" charset="0"/>
                <a:ea typeface="Calibri" pitchFamily="34" charset="-122"/>
                <a:cs typeface="Calibri" pitchFamily="34" charset="-120"/>
              </a:rPr>
              <a:t>Sequence memory adds the value: GRU/LSTM 0.974 vs order-blind Dense 0.900.</a:t>
            </a:r>
            <a:endParaRPr lang="en-US" sz="1200" dirty="0"/>
          </a:p>
        </p:txBody>
      </p:sp>
      <p:sp>
        <p:nvSpPr>
          <p:cNvPr id="24" name="Text 20"/>
          <p:cNvSpPr/>
          <p:nvPr/>
        </p:nvSpPr>
        <p:spPr>
          <a:xfrm>
            <a:off x="548640" y="6473952"/>
            <a:ext cx="8229600" cy="274320"/>
          </a:xfrm>
          <a:prstGeom prst="rect">
            <a:avLst/>
          </a:prstGeom>
          <a:noFill/>
          <a:ln/>
        </p:spPr>
        <p:txBody>
          <a:bodyPr wrap="square" lIns="0" tIns="0" rIns="0" bIns="0" rtlCol="0" anchor="ctr"/>
          <a:lstStyle/>
          <a:p>
            <a:pPr marL="0" indent="0" algn="l">
              <a:buNone/>
            </a:pPr>
            <a:r>
              <a:rPr lang="en-US" sz="900" dirty="0">
                <a:solidFill>
                  <a:srgbClr val="8A98B5"/>
                </a:solidFill>
                <a:latin typeface="Calibri" pitchFamily="34" charset="0"/>
                <a:ea typeface="Calibri" pitchFamily="34" charset="-122"/>
                <a:cs typeface="Calibri" pitchFamily="34" charset="-120"/>
              </a:rPr>
              <a:t>FraudShield AI  ·  Payment Fraud Sequence Detection (LSTM/RNN)</a:t>
            </a:r>
            <a:endParaRPr lang="en-US" sz="900" dirty="0"/>
          </a:p>
        </p:txBody>
      </p:sp>
      <p:sp>
        <p:nvSpPr>
          <p:cNvPr id="25" name="Text 21"/>
          <p:cNvSpPr/>
          <p:nvPr/>
        </p:nvSpPr>
        <p:spPr>
          <a:xfrm>
            <a:off x="10728655" y="6473952"/>
            <a:ext cx="914400" cy="274320"/>
          </a:xfrm>
          <a:prstGeom prst="rect">
            <a:avLst/>
          </a:prstGeom>
          <a:noFill/>
          <a:ln/>
        </p:spPr>
        <p:txBody>
          <a:bodyPr wrap="square" lIns="0" tIns="0" rIns="0" bIns="0" rtlCol="0" anchor="ctr"/>
          <a:lstStyle/>
          <a:p>
            <a:pPr marL="0" indent="0" algn="r">
              <a:buNone/>
            </a:pPr>
            <a:r>
              <a:rPr lang="en-US" sz="900" dirty="0">
                <a:solidFill>
                  <a:srgbClr val="8A98B5"/>
                </a:solidFill>
                <a:latin typeface="Calibri" pitchFamily="34" charset="0"/>
                <a:ea typeface="Calibri" pitchFamily="34" charset="-122"/>
                <a:cs typeface="Calibri" pitchFamily="34" charset="-120"/>
              </a:rPr>
              <a:t>8 / 15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marL="0" indent="0" algn="l">
              <a:buNone/>
            </a:pPr>
            <a:r>
              <a:rPr lang="en-US" sz="1200" b="1" kern="0" spc="300" dirty="0">
                <a:solidFill>
                  <a:srgbClr val="22D3EE"/>
                </a:solidFill>
                <a:latin typeface="Calibri" pitchFamily="34" charset="0"/>
                <a:ea typeface="Calibri" pitchFamily="34" charset="-122"/>
                <a:cs typeface="Calibri" pitchFamily="34" charset="-120"/>
              </a:rPr>
              <a:t>DECISIONING</a:t>
            </a:r>
            <a:endParaRPr lang="en-US" sz="1200" dirty="0"/>
          </a:p>
        </p:txBody>
      </p:sp>
      <p:sp>
        <p:nvSpPr>
          <p:cNvPr id="3" name="Text 1"/>
          <p:cNvSpPr/>
          <p:nvPr/>
        </p:nvSpPr>
        <p:spPr>
          <a:xfrm>
            <a:off x="312268" y="708660"/>
            <a:ext cx="8869680" cy="868680"/>
          </a:xfrm>
          <a:prstGeom prst="rect">
            <a:avLst/>
          </a:prstGeom>
          <a:noFill/>
          <a:ln/>
        </p:spPr>
        <p:txBody>
          <a:bodyPr wrap="square" lIns="0" tIns="0" rIns="0" bIns="0" rtlCol="0" anchor="t"/>
          <a:lstStyle/>
          <a:p>
            <a:pPr marL="0" indent="0" algn="l">
              <a:buNone/>
            </a:pPr>
            <a:r>
              <a:rPr lang="en-US" sz="3000" b="1" dirty="0">
                <a:solidFill>
                  <a:srgbClr val="FFFFFF"/>
                </a:solidFill>
                <a:latin typeface="Calibri" pitchFamily="34" charset="0"/>
                <a:ea typeface="Calibri" pitchFamily="34" charset="-122"/>
                <a:cs typeface="Calibri" pitchFamily="34" charset="-120"/>
              </a:rPr>
              <a:t>Translate model probability into business action bands</a:t>
            </a:r>
            <a:endParaRPr lang="en-US" sz="3000" dirty="0"/>
          </a:p>
        </p:txBody>
      </p:sp>
      <p:sp>
        <p:nvSpPr>
          <p:cNvPr id="5" name="Text 3"/>
          <p:cNvSpPr/>
          <p:nvPr/>
        </p:nvSpPr>
        <p:spPr>
          <a:xfrm>
            <a:off x="8945575" y="457200"/>
            <a:ext cx="2697480" cy="457200"/>
          </a:xfrm>
          <a:prstGeom prst="rect">
            <a:avLst/>
          </a:prstGeom>
          <a:noFill/>
          <a:ln/>
        </p:spPr>
        <p:txBody>
          <a:bodyPr wrap="square" lIns="0" tIns="0" rIns="0" bIns="0" rtlCol="0" anchor="ctr"/>
          <a:lstStyle/>
          <a:p>
            <a:pPr marL="0" indent="0" algn="ctr">
              <a:buNone/>
            </a:pPr>
            <a:endParaRPr lang="en-US" sz="900" dirty="0"/>
          </a:p>
        </p:txBody>
      </p:sp>
      <p:sp>
        <p:nvSpPr>
          <p:cNvPr id="6" name="Shape 4"/>
          <p:cNvSpPr/>
          <p:nvPr/>
        </p:nvSpPr>
        <p:spPr>
          <a:xfrm>
            <a:off x="731520" y="2331720"/>
            <a:ext cx="3154680" cy="1051560"/>
          </a:xfrm>
          <a:prstGeom prst="roundRect">
            <a:avLst>
              <a:gd name="adj" fmla="val 6087"/>
            </a:avLst>
          </a:prstGeom>
          <a:solidFill>
            <a:srgbClr val="10B981"/>
          </a:solidFill>
          <a:ln/>
        </p:spPr>
        <p:txBody>
          <a:bodyPr/>
          <a:lstStyle/>
          <a:p>
            <a:endParaRPr lang="en-US"/>
          </a:p>
        </p:txBody>
      </p:sp>
      <p:sp>
        <p:nvSpPr>
          <p:cNvPr id="7" name="Text 5"/>
          <p:cNvSpPr/>
          <p:nvPr/>
        </p:nvSpPr>
        <p:spPr>
          <a:xfrm>
            <a:off x="731520" y="2468880"/>
            <a:ext cx="3154680" cy="411480"/>
          </a:xfrm>
          <a:prstGeom prst="rect">
            <a:avLst/>
          </a:prstGeom>
          <a:noFill/>
          <a:ln/>
        </p:spPr>
        <p:txBody>
          <a:bodyPr wrap="square" lIns="0" tIns="0" rIns="0" bIns="0" rtlCol="0" anchor="ctr"/>
          <a:lstStyle/>
          <a:p>
            <a:pPr marL="0" indent="0" algn="ctr">
              <a:buNone/>
            </a:pPr>
            <a:r>
              <a:rPr lang="en-US" sz="2200" b="1" dirty="0">
                <a:solidFill>
                  <a:srgbClr val="0A0E1A"/>
                </a:solidFill>
                <a:latin typeface="Calibri" pitchFamily="34" charset="0"/>
                <a:ea typeface="Calibri" pitchFamily="34" charset="-122"/>
                <a:cs typeface="Calibri" pitchFamily="34" charset="-120"/>
              </a:rPr>
              <a:t>LOW</a:t>
            </a:r>
            <a:endParaRPr lang="en-US" sz="2200" dirty="0"/>
          </a:p>
        </p:txBody>
      </p:sp>
      <p:sp>
        <p:nvSpPr>
          <p:cNvPr id="8" name="Text 6"/>
          <p:cNvSpPr/>
          <p:nvPr/>
        </p:nvSpPr>
        <p:spPr>
          <a:xfrm>
            <a:off x="731520" y="2898648"/>
            <a:ext cx="3154680" cy="365760"/>
          </a:xfrm>
          <a:prstGeom prst="rect">
            <a:avLst/>
          </a:prstGeom>
          <a:noFill/>
          <a:ln/>
        </p:spPr>
        <p:txBody>
          <a:bodyPr wrap="square" lIns="0" tIns="0" rIns="0" bIns="0" rtlCol="0" anchor="ctr"/>
          <a:lstStyle/>
          <a:p>
            <a:pPr marL="0" indent="0" algn="ctr">
              <a:buNone/>
            </a:pPr>
            <a:r>
              <a:rPr lang="en-US" sz="1300" b="1" dirty="0">
                <a:solidFill>
                  <a:srgbClr val="0A0E1A"/>
                </a:solidFill>
                <a:latin typeface="Calibri" pitchFamily="34" charset="0"/>
                <a:ea typeface="Calibri" pitchFamily="34" charset="-122"/>
                <a:cs typeface="Calibri" pitchFamily="34" charset="-120"/>
              </a:rPr>
              <a:t>Approve</a:t>
            </a:r>
            <a:endParaRPr lang="en-US" sz="1300" dirty="0"/>
          </a:p>
        </p:txBody>
      </p:sp>
      <p:sp>
        <p:nvSpPr>
          <p:cNvPr id="9" name="Shape 7"/>
          <p:cNvSpPr/>
          <p:nvPr/>
        </p:nvSpPr>
        <p:spPr>
          <a:xfrm>
            <a:off x="3941064" y="2331720"/>
            <a:ext cx="4224528" cy="1051560"/>
          </a:xfrm>
          <a:prstGeom prst="roundRect">
            <a:avLst>
              <a:gd name="adj" fmla="val 6087"/>
            </a:avLst>
          </a:prstGeom>
          <a:solidFill>
            <a:srgbClr val="F59E0B"/>
          </a:solidFill>
          <a:ln/>
        </p:spPr>
        <p:txBody>
          <a:bodyPr/>
          <a:lstStyle/>
          <a:p>
            <a:endParaRPr lang="en-US"/>
          </a:p>
        </p:txBody>
      </p:sp>
      <p:sp>
        <p:nvSpPr>
          <p:cNvPr id="10" name="Text 8"/>
          <p:cNvSpPr/>
          <p:nvPr/>
        </p:nvSpPr>
        <p:spPr>
          <a:xfrm>
            <a:off x="3941064" y="2468880"/>
            <a:ext cx="4224528" cy="411480"/>
          </a:xfrm>
          <a:prstGeom prst="rect">
            <a:avLst/>
          </a:prstGeom>
          <a:noFill/>
          <a:ln/>
        </p:spPr>
        <p:txBody>
          <a:bodyPr wrap="square" lIns="0" tIns="0" rIns="0" bIns="0" rtlCol="0" anchor="ctr"/>
          <a:lstStyle/>
          <a:p>
            <a:pPr marL="0" indent="0" algn="ctr">
              <a:buNone/>
            </a:pPr>
            <a:r>
              <a:rPr lang="en-US" sz="2200" b="1" dirty="0">
                <a:solidFill>
                  <a:srgbClr val="0A0E1A"/>
                </a:solidFill>
                <a:latin typeface="Calibri" pitchFamily="34" charset="0"/>
                <a:ea typeface="Calibri" pitchFamily="34" charset="-122"/>
                <a:cs typeface="Calibri" pitchFamily="34" charset="-120"/>
              </a:rPr>
              <a:t>MEDIUM</a:t>
            </a:r>
            <a:endParaRPr lang="en-US" sz="2200" dirty="0"/>
          </a:p>
        </p:txBody>
      </p:sp>
      <p:sp>
        <p:nvSpPr>
          <p:cNvPr id="11" name="Text 9"/>
          <p:cNvSpPr/>
          <p:nvPr/>
        </p:nvSpPr>
        <p:spPr>
          <a:xfrm>
            <a:off x="3941064" y="2898648"/>
            <a:ext cx="4224528" cy="365760"/>
          </a:xfrm>
          <a:prstGeom prst="rect">
            <a:avLst/>
          </a:prstGeom>
          <a:noFill/>
          <a:ln/>
        </p:spPr>
        <p:txBody>
          <a:bodyPr wrap="square" lIns="0" tIns="0" rIns="0" bIns="0" rtlCol="0" anchor="ctr"/>
          <a:lstStyle/>
          <a:p>
            <a:pPr marL="0" indent="0" algn="ctr">
              <a:buNone/>
            </a:pPr>
            <a:r>
              <a:rPr lang="en-US" sz="1300" b="1" dirty="0">
                <a:solidFill>
                  <a:srgbClr val="0A0E1A"/>
                </a:solidFill>
                <a:latin typeface="Calibri" pitchFamily="34" charset="0"/>
                <a:ea typeface="Calibri" pitchFamily="34" charset="-122"/>
                <a:cs typeface="Calibri" pitchFamily="34" charset="-120"/>
              </a:rPr>
              <a:t>Manual Review / OTP</a:t>
            </a:r>
            <a:endParaRPr lang="en-US" sz="1300" dirty="0"/>
          </a:p>
        </p:txBody>
      </p:sp>
      <p:sp>
        <p:nvSpPr>
          <p:cNvPr id="12" name="Shape 10"/>
          <p:cNvSpPr/>
          <p:nvPr/>
        </p:nvSpPr>
        <p:spPr>
          <a:xfrm>
            <a:off x="8220456" y="2331720"/>
            <a:ext cx="3154680" cy="1051560"/>
          </a:xfrm>
          <a:prstGeom prst="roundRect">
            <a:avLst>
              <a:gd name="adj" fmla="val 6087"/>
            </a:avLst>
          </a:prstGeom>
          <a:solidFill>
            <a:srgbClr val="F43F5E"/>
          </a:solidFill>
          <a:ln/>
        </p:spPr>
        <p:txBody>
          <a:bodyPr/>
          <a:lstStyle/>
          <a:p>
            <a:endParaRPr lang="en-US"/>
          </a:p>
        </p:txBody>
      </p:sp>
      <p:sp>
        <p:nvSpPr>
          <p:cNvPr id="13" name="Text 11"/>
          <p:cNvSpPr/>
          <p:nvPr/>
        </p:nvSpPr>
        <p:spPr>
          <a:xfrm>
            <a:off x="8220456" y="2468880"/>
            <a:ext cx="3154680" cy="411480"/>
          </a:xfrm>
          <a:prstGeom prst="rect">
            <a:avLst/>
          </a:prstGeom>
          <a:noFill/>
          <a:ln/>
        </p:spPr>
        <p:txBody>
          <a:bodyPr wrap="square" lIns="0" tIns="0" rIns="0" bIns="0" rtlCol="0" anchor="ctr"/>
          <a:lstStyle/>
          <a:p>
            <a:pPr marL="0" indent="0" algn="ctr">
              <a:buNone/>
            </a:pPr>
            <a:r>
              <a:rPr lang="en-US" sz="2200" b="1" dirty="0">
                <a:solidFill>
                  <a:srgbClr val="0A0E1A"/>
                </a:solidFill>
                <a:latin typeface="Calibri" pitchFamily="34" charset="0"/>
                <a:ea typeface="Calibri" pitchFamily="34" charset="-122"/>
                <a:cs typeface="Calibri" pitchFamily="34" charset="-120"/>
              </a:rPr>
              <a:t>HIGH</a:t>
            </a:r>
            <a:endParaRPr lang="en-US" sz="2200" dirty="0"/>
          </a:p>
        </p:txBody>
      </p:sp>
      <p:sp>
        <p:nvSpPr>
          <p:cNvPr id="14" name="Text 12"/>
          <p:cNvSpPr/>
          <p:nvPr/>
        </p:nvSpPr>
        <p:spPr>
          <a:xfrm>
            <a:off x="8220456" y="2898648"/>
            <a:ext cx="3154680" cy="365760"/>
          </a:xfrm>
          <a:prstGeom prst="rect">
            <a:avLst/>
          </a:prstGeom>
          <a:noFill/>
          <a:ln/>
        </p:spPr>
        <p:txBody>
          <a:bodyPr wrap="square" lIns="0" tIns="0" rIns="0" bIns="0" rtlCol="0" anchor="ctr"/>
          <a:lstStyle/>
          <a:p>
            <a:pPr marL="0" indent="0" algn="ctr">
              <a:buNone/>
            </a:pPr>
            <a:r>
              <a:rPr lang="en-US" sz="1300" b="1" dirty="0">
                <a:solidFill>
                  <a:srgbClr val="0A0E1A"/>
                </a:solidFill>
                <a:latin typeface="Calibri" pitchFamily="34" charset="0"/>
                <a:ea typeface="Calibri" pitchFamily="34" charset="-122"/>
                <a:cs typeface="Calibri" pitchFamily="34" charset="-120"/>
              </a:rPr>
              <a:t>Block / Alert Fraud Team</a:t>
            </a:r>
            <a:endParaRPr lang="en-US" sz="1300" dirty="0"/>
          </a:p>
        </p:txBody>
      </p:sp>
      <p:sp>
        <p:nvSpPr>
          <p:cNvPr id="15" name="Text 13"/>
          <p:cNvSpPr/>
          <p:nvPr/>
        </p:nvSpPr>
        <p:spPr>
          <a:xfrm>
            <a:off x="365760" y="3429000"/>
            <a:ext cx="731520" cy="274320"/>
          </a:xfrm>
          <a:prstGeom prst="rect">
            <a:avLst/>
          </a:prstGeom>
          <a:noFill/>
          <a:ln/>
        </p:spPr>
        <p:txBody>
          <a:bodyPr wrap="square" lIns="0" tIns="0" rIns="0" bIns="0" rtlCol="0" anchor="ctr"/>
          <a:lstStyle/>
          <a:p>
            <a:pPr marL="0" indent="0" algn="ctr">
              <a:buNone/>
            </a:pPr>
            <a:r>
              <a:rPr lang="en-US" sz="1100" dirty="0">
                <a:solidFill>
                  <a:srgbClr val="8A98B5"/>
                </a:solidFill>
                <a:latin typeface="Calibri" pitchFamily="34" charset="0"/>
                <a:ea typeface="Calibri" pitchFamily="34" charset="-122"/>
                <a:cs typeface="Calibri" pitchFamily="34" charset="-120"/>
              </a:rPr>
              <a:t>0.00</a:t>
            </a:r>
            <a:endParaRPr lang="en-US" sz="1100" dirty="0"/>
          </a:p>
        </p:txBody>
      </p:sp>
      <p:sp>
        <p:nvSpPr>
          <p:cNvPr id="16" name="Text 14"/>
          <p:cNvSpPr/>
          <p:nvPr/>
        </p:nvSpPr>
        <p:spPr>
          <a:xfrm>
            <a:off x="3575304" y="3429000"/>
            <a:ext cx="731520" cy="274320"/>
          </a:xfrm>
          <a:prstGeom prst="rect">
            <a:avLst/>
          </a:prstGeom>
          <a:noFill/>
          <a:ln/>
        </p:spPr>
        <p:txBody>
          <a:bodyPr wrap="square" lIns="0" tIns="0" rIns="0" bIns="0" rtlCol="0" anchor="ctr"/>
          <a:lstStyle/>
          <a:p>
            <a:pPr marL="0" indent="0" algn="ctr">
              <a:buNone/>
            </a:pPr>
            <a:r>
              <a:rPr lang="en-US" sz="1100" dirty="0">
                <a:solidFill>
                  <a:srgbClr val="8A98B5"/>
                </a:solidFill>
                <a:latin typeface="Calibri" pitchFamily="34" charset="0"/>
                <a:ea typeface="Calibri" pitchFamily="34" charset="-122"/>
                <a:cs typeface="Calibri" pitchFamily="34" charset="-120"/>
              </a:rPr>
              <a:t>0.30</a:t>
            </a:r>
            <a:endParaRPr lang="en-US" sz="1100" dirty="0"/>
          </a:p>
        </p:txBody>
      </p:sp>
      <p:sp>
        <p:nvSpPr>
          <p:cNvPr id="17" name="Text 15"/>
          <p:cNvSpPr/>
          <p:nvPr/>
        </p:nvSpPr>
        <p:spPr>
          <a:xfrm>
            <a:off x="7854696" y="3429000"/>
            <a:ext cx="731520" cy="274320"/>
          </a:xfrm>
          <a:prstGeom prst="rect">
            <a:avLst/>
          </a:prstGeom>
          <a:noFill/>
          <a:ln/>
        </p:spPr>
        <p:txBody>
          <a:bodyPr wrap="square" lIns="0" tIns="0" rIns="0" bIns="0" rtlCol="0" anchor="ctr"/>
          <a:lstStyle/>
          <a:p>
            <a:pPr marL="0" indent="0" algn="ctr">
              <a:buNone/>
            </a:pPr>
            <a:r>
              <a:rPr lang="en-US" sz="1100" dirty="0">
                <a:solidFill>
                  <a:srgbClr val="8A98B5"/>
                </a:solidFill>
                <a:latin typeface="Calibri" pitchFamily="34" charset="0"/>
                <a:ea typeface="Calibri" pitchFamily="34" charset="-122"/>
                <a:cs typeface="Calibri" pitchFamily="34" charset="-120"/>
              </a:rPr>
              <a:t>0.70</a:t>
            </a:r>
            <a:endParaRPr lang="en-US" sz="1100" dirty="0"/>
          </a:p>
        </p:txBody>
      </p:sp>
      <p:sp>
        <p:nvSpPr>
          <p:cNvPr id="18" name="Text 16"/>
          <p:cNvSpPr/>
          <p:nvPr/>
        </p:nvSpPr>
        <p:spPr>
          <a:xfrm>
            <a:off x="11064240" y="3429000"/>
            <a:ext cx="731520" cy="274320"/>
          </a:xfrm>
          <a:prstGeom prst="rect">
            <a:avLst/>
          </a:prstGeom>
          <a:noFill/>
          <a:ln/>
        </p:spPr>
        <p:txBody>
          <a:bodyPr wrap="square" lIns="0" tIns="0" rIns="0" bIns="0" rtlCol="0" anchor="ctr"/>
          <a:lstStyle/>
          <a:p>
            <a:pPr marL="0" indent="0" algn="ctr">
              <a:buNone/>
            </a:pPr>
            <a:r>
              <a:rPr lang="en-US" sz="1100" dirty="0">
                <a:solidFill>
                  <a:srgbClr val="8A98B5"/>
                </a:solidFill>
                <a:latin typeface="Calibri" pitchFamily="34" charset="0"/>
                <a:ea typeface="Calibri" pitchFamily="34" charset="-122"/>
                <a:cs typeface="Calibri" pitchFamily="34" charset="-120"/>
              </a:rPr>
              <a:t>1.00</a:t>
            </a:r>
            <a:endParaRPr lang="en-US" sz="1100" dirty="0"/>
          </a:p>
        </p:txBody>
      </p:sp>
      <p:sp>
        <p:nvSpPr>
          <p:cNvPr id="19" name="Shape 17"/>
          <p:cNvSpPr/>
          <p:nvPr/>
        </p:nvSpPr>
        <p:spPr>
          <a:xfrm>
            <a:off x="548640" y="3977640"/>
            <a:ext cx="3611880" cy="1417320"/>
          </a:xfrm>
          <a:prstGeom prst="roundRect">
            <a:avLst>
              <a:gd name="adj" fmla="val 5806"/>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20" name="Shape 18"/>
          <p:cNvSpPr/>
          <p:nvPr/>
        </p:nvSpPr>
        <p:spPr>
          <a:xfrm>
            <a:off x="777240" y="4224528"/>
            <a:ext cx="512064" cy="512064"/>
          </a:xfrm>
          <a:prstGeom prst="ellipse">
            <a:avLst/>
          </a:prstGeom>
          <a:solidFill>
            <a:srgbClr val="1B2540"/>
          </a:solidFill>
          <a:ln w="15875">
            <a:solidFill>
              <a:srgbClr val="10B981"/>
            </a:solidFill>
            <a:prstDash val="solid"/>
          </a:ln>
        </p:spPr>
        <p:txBody>
          <a:bodyPr/>
          <a:lstStyle/>
          <a:p>
            <a:endParaRPr lang="en-US"/>
          </a:p>
        </p:txBody>
      </p:sp>
      <p:pic>
        <p:nvPicPr>
          <p:cNvPr id="21" name="Image 0" descr="preencoded.png"/>
          <p:cNvPicPr>
            <a:picLocks noChangeAspect="1"/>
          </p:cNvPicPr>
          <p:nvPr/>
        </p:nvPicPr>
        <p:blipFill>
          <a:blip r:embed="rId3"/>
          <a:stretch>
            <a:fillRect/>
          </a:stretch>
        </p:blipFill>
        <p:spPr>
          <a:xfrm>
            <a:off x="900135" y="4347423"/>
            <a:ext cx="266273" cy="266273"/>
          </a:xfrm>
          <a:prstGeom prst="rect">
            <a:avLst/>
          </a:prstGeom>
        </p:spPr>
      </p:pic>
      <p:sp>
        <p:nvSpPr>
          <p:cNvPr id="22" name="Text 19"/>
          <p:cNvSpPr/>
          <p:nvPr/>
        </p:nvSpPr>
        <p:spPr>
          <a:xfrm>
            <a:off x="1463040" y="4160520"/>
            <a:ext cx="256032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Low → Approve</a:t>
            </a:r>
            <a:endParaRPr lang="en-US" sz="1500" dirty="0"/>
          </a:p>
        </p:txBody>
      </p:sp>
      <p:sp>
        <p:nvSpPr>
          <p:cNvPr id="23" name="Text 20"/>
          <p:cNvSpPr/>
          <p:nvPr/>
        </p:nvSpPr>
        <p:spPr>
          <a:xfrm>
            <a:off x="1463040" y="4498848"/>
            <a:ext cx="2560320" cy="777240"/>
          </a:xfrm>
          <a:prstGeom prst="rect">
            <a:avLst/>
          </a:prstGeom>
          <a:noFill/>
          <a:ln/>
        </p:spPr>
        <p:txBody>
          <a:bodyPr wrap="square" lIns="0" tIns="0" rIns="0" bIns="0" rtlCol="0" anchor="ctr"/>
          <a:lstStyle/>
          <a:p>
            <a:pPr marL="0" indent="0">
              <a:lnSpc>
                <a:spcPct val="108000"/>
              </a:lnSpc>
              <a:buNone/>
            </a:pPr>
            <a:r>
              <a:rPr lang="en-US" sz="1150" dirty="0">
                <a:solidFill>
                  <a:srgbClr val="C7D2E4"/>
                </a:solidFill>
                <a:latin typeface="Calibri" pitchFamily="34" charset="0"/>
                <a:ea typeface="Calibri" pitchFamily="34" charset="-122"/>
                <a:cs typeface="Calibri" pitchFamily="34" charset="-120"/>
              </a:rPr>
              <a:t>Let the customer through with no friction. The vast majority of traffic.</a:t>
            </a:r>
            <a:endParaRPr lang="en-US" sz="1150" dirty="0"/>
          </a:p>
        </p:txBody>
      </p:sp>
      <p:sp>
        <p:nvSpPr>
          <p:cNvPr id="24" name="Shape 21"/>
          <p:cNvSpPr/>
          <p:nvPr/>
        </p:nvSpPr>
        <p:spPr>
          <a:xfrm>
            <a:off x="4389120" y="3977640"/>
            <a:ext cx="3611880" cy="1417320"/>
          </a:xfrm>
          <a:prstGeom prst="roundRect">
            <a:avLst>
              <a:gd name="adj" fmla="val 5806"/>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25" name="Shape 22"/>
          <p:cNvSpPr/>
          <p:nvPr/>
        </p:nvSpPr>
        <p:spPr>
          <a:xfrm>
            <a:off x="4617720" y="4224528"/>
            <a:ext cx="512064" cy="512064"/>
          </a:xfrm>
          <a:prstGeom prst="ellipse">
            <a:avLst/>
          </a:prstGeom>
          <a:solidFill>
            <a:srgbClr val="1B2540"/>
          </a:solidFill>
          <a:ln w="15875">
            <a:solidFill>
              <a:srgbClr val="F59E0B"/>
            </a:solidFill>
            <a:prstDash val="solid"/>
          </a:ln>
        </p:spPr>
        <p:txBody>
          <a:bodyPr/>
          <a:lstStyle/>
          <a:p>
            <a:endParaRPr lang="en-US"/>
          </a:p>
        </p:txBody>
      </p:sp>
      <p:pic>
        <p:nvPicPr>
          <p:cNvPr id="26" name="Image 1" descr="preencoded.png"/>
          <p:cNvPicPr>
            <a:picLocks noChangeAspect="1"/>
          </p:cNvPicPr>
          <p:nvPr/>
        </p:nvPicPr>
        <p:blipFill>
          <a:blip r:embed="rId4"/>
          <a:stretch>
            <a:fillRect/>
          </a:stretch>
        </p:blipFill>
        <p:spPr>
          <a:xfrm>
            <a:off x="4740615" y="4347423"/>
            <a:ext cx="266273" cy="266273"/>
          </a:xfrm>
          <a:prstGeom prst="rect">
            <a:avLst/>
          </a:prstGeom>
        </p:spPr>
      </p:pic>
      <p:sp>
        <p:nvSpPr>
          <p:cNvPr id="27" name="Text 23"/>
          <p:cNvSpPr/>
          <p:nvPr/>
        </p:nvSpPr>
        <p:spPr>
          <a:xfrm>
            <a:off x="5303520" y="4160520"/>
            <a:ext cx="256032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Medium → Step Up</a:t>
            </a:r>
            <a:endParaRPr lang="en-US" sz="1500" dirty="0"/>
          </a:p>
        </p:txBody>
      </p:sp>
      <p:sp>
        <p:nvSpPr>
          <p:cNvPr id="28" name="Text 24"/>
          <p:cNvSpPr/>
          <p:nvPr/>
        </p:nvSpPr>
        <p:spPr>
          <a:xfrm>
            <a:off x="5303520" y="4498848"/>
            <a:ext cx="2560320" cy="777240"/>
          </a:xfrm>
          <a:prstGeom prst="rect">
            <a:avLst/>
          </a:prstGeom>
          <a:noFill/>
          <a:ln/>
        </p:spPr>
        <p:txBody>
          <a:bodyPr wrap="square" lIns="0" tIns="0" rIns="0" bIns="0" rtlCol="0" anchor="ctr"/>
          <a:lstStyle/>
          <a:p>
            <a:pPr marL="0" indent="0">
              <a:lnSpc>
                <a:spcPct val="108000"/>
              </a:lnSpc>
              <a:buNone/>
            </a:pPr>
            <a:r>
              <a:rPr lang="en-US" sz="1150" dirty="0">
                <a:solidFill>
                  <a:srgbClr val="C7D2E4"/>
                </a:solidFill>
                <a:latin typeface="Calibri" pitchFamily="34" charset="0"/>
                <a:ea typeface="Calibri" pitchFamily="34" charset="-122"/>
                <a:cs typeface="Calibri" pitchFamily="34" charset="-120"/>
              </a:rPr>
              <a:t>Add a review or one-time password. Verify without blocking outright.</a:t>
            </a:r>
            <a:endParaRPr lang="en-US" sz="1150" dirty="0"/>
          </a:p>
        </p:txBody>
      </p:sp>
      <p:sp>
        <p:nvSpPr>
          <p:cNvPr id="29" name="Shape 25"/>
          <p:cNvSpPr/>
          <p:nvPr/>
        </p:nvSpPr>
        <p:spPr>
          <a:xfrm>
            <a:off x="8229600" y="3977640"/>
            <a:ext cx="3611880" cy="1417320"/>
          </a:xfrm>
          <a:prstGeom prst="roundRect">
            <a:avLst>
              <a:gd name="adj" fmla="val 5806"/>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30" name="Shape 26"/>
          <p:cNvSpPr/>
          <p:nvPr/>
        </p:nvSpPr>
        <p:spPr>
          <a:xfrm>
            <a:off x="8458200" y="4224528"/>
            <a:ext cx="512064" cy="512064"/>
          </a:xfrm>
          <a:prstGeom prst="ellipse">
            <a:avLst/>
          </a:prstGeom>
          <a:solidFill>
            <a:srgbClr val="1B2540"/>
          </a:solidFill>
          <a:ln w="15875">
            <a:solidFill>
              <a:srgbClr val="F43F5E"/>
            </a:solidFill>
            <a:prstDash val="solid"/>
          </a:ln>
        </p:spPr>
        <p:txBody>
          <a:bodyPr/>
          <a:lstStyle/>
          <a:p>
            <a:endParaRPr lang="en-US"/>
          </a:p>
        </p:txBody>
      </p:sp>
      <p:pic>
        <p:nvPicPr>
          <p:cNvPr id="31" name="Image 2" descr="preencoded.png"/>
          <p:cNvPicPr>
            <a:picLocks noChangeAspect="1"/>
          </p:cNvPicPr>
          <p:nvPr/>
        </p:nvPicPr>
        <p:blipFill>
          <a:blip r:embed="rId5"/>
          <a:stretch>
            <a:fillRect/>
          </a:stretch>
        </p:blipFill>
        <p:spPr>
          <a:xfrm>
            <a:off x="8581095" y="4347423"/>
            <a:ext cx="266273" cy="266273"/>
          </a:xfrm>
          <a:prstGeom prst="rect">
            <a:avLst/>
          </a:prstGeom>
        </p:spPr>
      </p:pic>
      <p:sp>
        <p:nvSpPr>
          <p:cNvPr id="32" name="Text 27"/>
          <p:cNvSpPr/>
          <p:nvPr/>
        </p:nvSpPr>
        <p:spPr>
          <a:xfrm>
            <a:off x="9144000" y="4160520"/>
            <a:ext cx="256032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High → Block &amp; Alert</a:t>
            </a:r>
            <a:endParaRPr lang="en-US" sz="1500" dirty="0"/>
          </a:p>
        </p:txBody>
      </p:sp>
      <p:sp>
        <p:nvSpPr>
          <p:cNvPr id="33" name="Text 28"/>
          <p:cNvSpPr/>
          <p:nvPr/>
        </p:nvSpPr>
        <p:spPr>
          <a:xfrm>
            <a:off x="9144000" y="4498848"/>
            <a:ext cx="2560320" cy="777240"/>
          </a:xfrm>
          <a:prstGeom prst="rect">
            <a:avLst/>
          </a:prstGeom>
          <a:noFill/>
          <a:ln/>
        </p:spPr>
        <p:txBody>
          <a:bodyPr wrap="square" lIns="0" tIns="0" rIns="0" bIns="0" rtlCol="0" anchor="ctr"/>
          <a:lstStyle/>
          <a:p>
            <a:pPr marL="0" indent="0">
              <a:lnSpc>
                <a:spcPct val="108000"/>
              </a:lnSpc>
              <a:buNone/>
            </a:pPr>
            <a:r>
              <a:rPr lang="en-US" sz="1150" dirty="0">
                <a:solidFill>
                  <a:srgbClr val="C7D2E4"/>
                </a:solidFill>
                <a:latin typeface="Calibri" pitchFamily="34" charset="0"/>
                <a:ea typeface="Calibri" pitchFamily="34" charset="-122"/>
                <a:cs typeface="Calibri" pitchFamily="34" charset="-120"/>
              </a:rPr>
              <a:t>Stop the transaction and route to the fraud team for investigation.</a:t>
            </a:r>
            <a:endParaRPr lang="en-US" sz="1150" dirty="0"/>
          </a:p>
        </p:txBody>
      </p:sp>
      <p:sp>
        <p:nvSpPr>
          <p:cNvPr id="34" name="Shape 29"/>
          <p:cNvSpPr/>
          <p:nvPr/>
        </p:nvSpPr>
        <p:spPr>
          <a:xfrm>
            <a:off x="548640" y="5623560"/>
            <a:ext cx="11064240" cy="640080"/>
          </a:xfrm>
          <a:prstGeom prst="roundRect">
            <a:avLst>
              <a:gd name="adj" fmla="val 11429"/>
            </a:avLst>
          </a:prstGeom>
          <a:solidFill>
            <a:srgbClr val="1B2540"/>
          </a:solidFill>
          <a:ln w="12700">
            <a:solidFill>
              <a:srgbClr val="2A3550"/>
            </a:solidFill>
            <a:prstDash val="solid"/>
          </a:ln>
        </p:spPr>
        <p:txBody>
          <a:bodyPr/>
          <a:lstStyle/>
          <a:p>
            <a:endParaRPr lang="en-US"/>
          </a:p>
        </p:txBody>
      </p:sp>
      <p:sp>
        <p:nvSpPr>
          <p:cNvPr id="35" name="Text 30"/>
          <p:cNvSpPr/>
          <p:nvPr/>
        </p:nvSpPr>
        <p:spPr>
          <a:xfrm>
            <a:off x="548640" y="5623560"/>
            <a:ext cx="11064240"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Thresholds are business policy levers — </a:t>
            </a:r>
            <a:r>
              <a:rPr lang="en-US" sz="1300" dirty="0">
                <a:solidFill>
                  <a:srgbClr val="C7D2E4"/>
                </a:solidFill>
                <a:latin typeface="Calibri" pitchFamily="34" charset="0"/>
                <a:ea typeface="Calibri" pitchFamily="34" charset="-122"/>
                <a:cs typeface="Calibri" pitchFamily="34" charset="-120"/>
              </a:rPr>
              <a:t>tuned by fraud loss, review cost, and false-positive tolerance. Not fixed technical numbers.</a:t>
            </a:r>
            <a:endParaRPr lang="en-US" sz="1300" dirty="0"/>
          </a:p>
        </p:txBody>
      </p:sp>
      <p:sp>
        <p:nvSpPr>
          <p:cNvPr id="37" name="Text 31"/>
          <p:cNvSpPr/>
          <p:nvPr/>
        </p:nvSpPr>
        <p:spPr>
          <a:xfrm>
            <a:off x="548640" y="6473952"/>
            <a:ext cx="8229600" cy="274320"/>
          </a:xfrm>
          <a:prstGeom prst="rect">
            <a:avLst/>
          </a:prstGeom>
          <a:noFill/>
          <a:ln/>
        </p:spPr>
        <p:txBody>
          <a:bodyPr wrap="square" lIns="0" tIns="0" rIns="0" bIns="0" rtlCol="0" anchor="ctr"/>
          <a:lstStyle/>
          <a:p>
            <a:pPr marL="0" indent="0" algn="l">
              <a:buNone/>
            </a:pPr>
            <a:r>
              <a:rPr lang="en-US" sz="900" dirty="0">
                <a:solidFill>
                  <a:srgbClr val="8A98B5"/>
                </a:solidFill>
                <a:latin typeface="Calibri" pitchFamily="34" charset="0"/>
                <a:ea typeface="Calibri" pitchFamily="34" charset="-122"/>
                <a:cs typeface="Calibri" pitchFamily="34" charset="-120"/>
              </a:rPr>
              <a:t>FraudShield AI  ·  Payment Fraud Sequence Detection (LSTM/RNN)</a:t>
            </a:r>
            <a:endParaRPr lang="en-US" sz="900" dirty="0"/>
          </a:p>
        </p:txBody>
      </p:sp>
      <p:sp>
        <p:nvSpPr>
          <p:cNvPr id="38" name="Text 32"/>
          <p:cNvSpPr/>
          <p:nvPr/>
        </p:nvSpPr>
        <p:spPr>
          <a:xfrm>
            <a:off x="10728655" y="6473952"/>
            <a:ext cx="914400" cy="274320"/>
          </a:xfrm>
          <a:prstGeom prst="rect">
            <a:avLst/>
          </a:prstGeom>
          <a:noFill/>
          <a:ln/>
        </p:spPr>
        <p:txBody>
          <a:bodyPr wrap="square" lIns="0" tIns="0" rIns="0" bIns="0" rtlCol="0" anchor="ctr"/>
          <a:lstStyle/>
          <a:p>
            <a:pPr marL="0" indent="0" algn="r">
              <a:buNone/>
            </a:pPr>
            <a:r>
              <a:rPr lang="en-US" sz="900" dirty="0">
                <a:solidFill>
                  <a:srgbClr val="8A98B5"/>
                </a:solidFill>
                <a:latin typeface="Calibri" pitchFamily="34" charset="0"/>
                <a:ea typeface="Calibri" pitchFamily="34" charset="-122"/>
                <a:cs typeface="Calibri" pitchFamily="34" charset="-120"/>
              </a:rPr>
              <a:t>9 / 15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marL="0" indent="0" algn="l">
              <a:buNone/>
            </a:pPr>
            <a:r>
              <a:rPr lang="en-US" sz="1200" b="1" kern="0" spc="300" dirty="0">
                <a:solidFill>
                  <a:srgbClr val="22D3EE"/>
                </a:solidFill>
                <a:latin typeface="Calibri" pitchFamily="34" charset="0"/>
                <a:ea typeface="Calibri" pitchFamily="34" charset="-122"/>
                <a:cs typeface="Calibri" pitchFamily="34" charset="-120"/>
              </a:rPr>
              <a:t>PRODUCT EXPERIENCE</a:t>
            </a:r>
            <a:endParaRPr lang="en-US" sz="1200" dirty="0"/>
          </a:p>
        </p:txBody>
      </p:sp>
      <p:sp>
        <p:nvSpPr>
          <p:cNvPr id="3" name="Text 1"/>
          <p:cNvSpPr/>
          <p:nvPr/>
        </p:nvSpPr>
        <p:spPr>
          <a:xfrm>
            <a:off x="548640" y="658368"/>
            <a:ext cx="8869680" cy="868680"/>
          </a:xfrm>
          <a:prstGeom prst="rect">
            <a:avLst/>
          </a:prstGeom>
          <a:noFill/>
          <a:ln/>
        </p:spPr>
        <p:txBody>
          <a:bodyPr wrap="square" lIns="0" tIns="0" rIns="0" bIns="0" rtlCol="0" anchor="t"/>
          <a:lstStyle/>
          <a:p>
            <a:pPr marL="0" indent="0" algn="l">
              <a:buNone/>
            </a:pPr>
            <a:r>
              <a:rPr lang="en-US" sz="3000" b="1" dirty="0">
                <a:solidFill>
                  <a:srgbClr val="FFFFFF"/>
                </a:solidFill>
                <a:latin typeface="Calibri" pitchFamily="34" charset="0"/>
                <a:ea typeface="Calibri" pitchFamily="34" charset="-122"/>
                <a:cs typeface="Calibri" pitchFamily="34" charset="-120"/>
              </a:rPr>
              <a:t>Dashboard visibility plus API-level scoring</a:t>
            </a:r>
            <a:endParaRPr lang="en-US" sz="3000" dirty="0"/>
          </a:p>
        </p:txBody>
      </p:sp>
      <p:sp>
        <p:nvSpPr>
          <p:cNvPr id="5" name="Text 3"/>
          <p:cNvSpPr/>
          <p:nvPr/>
        </p:nvSpPr>
        <p:spPr>
          <a:xfrm>
            <a:off x="8945575" y="457200"/>
            <a:ext cx="2697480" cy="457200"/>
          </a:xfrm>
          <a:prstGeom prst="rect">
            <a:avLst/>
          </a:prstGeom>
          <a:noFill/>
          <a:ln/>
        </p:spPr>
        <p:txBody>
          <a:bodyPr wrap="square" lIns="0" tIns="0" rIns="0" bIns="0" rtlCol="0" anchor="ctr"/>
          <a:lstStyle/>
          <a:p>
            <a:pPr marL="0" indent="0" algn="ctr">
              <a:buNone/>
            </a:pPr>
            <a:endParaRPr lang="en-US" sz="900" dirty="0"/>
          </a:p>
        </p:txBody>
      </p:sp>
      <p:sp>
        <p:nvSpPr>
          <p:cNvPr id="6" name="Shape 4"/>
          <p:cNvSpPr/>
          <p:nvPr/>
        </p:nvSpPr>
        <p:spPr>
          <a:xfrm>
            <a:off x="548640" y="1783080"/>
            <a:ext cx="7040880" cy="4343400"/>
          </a:xfrm>
          <a:prstGeom prst="roundRect">
            <a:avLst>
              <a:gd name="adj" fmla="val 1895"/>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7" name="Shape 5"/>
          <p:cNvSpPr/>
          <p:nvPr/>
        </p:nvSpPr>
        <p:spPr>
          <a:xfrm>
            <a:off x="777240" y="1993392"/>
            <a:ext cx="502920" cy="502920"/>
          </a:xfrm>
          <a:prstGeom prst="ellipse">
            <a:avLst/>
          </a:prstGeom>
          <a:solidFill>
            <a:srgbClr val="1B2540"/>
          </a:solidFill>
          <a:ln w="15875">
            <a:solidFill>
              <a:srgbClr val="22D3EE"/>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897941" y="2114093"/>
            <a:ext cx="261518" cy="261518"/>
          </a:xfrm>
          <a:prstGeom prst="rect">
            <a:avLst/>
          </a:prstGeom>
        </p:spPr>
      </p:pic>
      <p:sp>
        <p:nvSpPr>
          <p:cNvPr id="9" name="Text 6"/>
          <p:cNvSpPr/>
          <p:nvPr/>
        </p:nvSpPr>
        <p:spPr>
          <a:xfrm>
            <a:off x="1371600" y="2029968"/>
            <a:ext cx="6126480" cy="41148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Dashboard  ·  React + Streamlit on FastAPI</a:t>
            </a:r>
            <a:endParaRPr lang="en-US" sz="1600" dirty="0"/>
          </a:p>
        </p:txBody>
      </p:sp>
      <p:sp>
        <p:nvSpPr>
          <p:cNvPr id="10" name="Shape 7"/>
          <p:cNvSpPr/>
          <p:nvPr/>
        </p:nvSpPr>
        <p:spPr>
          <a:xfrm>
            <a:off x="777240" y="2697480"/>
            <a:ext cx="3246120" cy="566928"/>
          </a:xfrm>
          <a:prstGeom prst="roundRect">
            <a:avLst>
              <a:gd name="adj" fmla="val 11290"/>
            </a:avLst>
          </a:prstGeom>
          <a:solidFill>
            <a:srgbClr val="1B2540"/>
          </a:solidFill>
          <a:ln w="12700">
            <a:solidFill>
              <a:srgbClr val="2A3550"/>
            </a:solidFill>
            <a:prstDash val="solid"/>
          </a:ln>
        </p:spPr>
        <p:txBody>
          <a:bodyPr/>
          <a:lstStyle/>
          <a:p>
            <a:endParaRPr lang="en-US"/>
          </a:p>
        </p:txBody>
      </p:sp>
      <p:sp>
        <p:nvSpPr>
          <p:cNvPr id="11" name="Shape 8"/>
          <p:cNvSpPr/>
          <p:nvPr/>
        </p:nvSpPr>
        <p:spPr>
          <a:xfrm>
            <a:off x="941832" y="2916936"/>
            <a:ext cx="128016" cy="128016"/>
          </a:xfrm>
          <a:prstGeom prst="ellipse">
            <a:avLst/>
          </a:prstGeom>
          <a:solidFill>
            <a:srgbClr val="22D3EE"/>
          </a:solidFill>
          <a:ln/>
        </p:spPr>
        <p:txBody>
          <a:bodyPr/>
          <a:lstStyle/>
          <a:p>
            <a:endParaRPr lang="en-US"/>
          </a:p>
        </p:txBody>
      </p:sp>
      <p:sp>
        <p:nvSpPr>
          <p:cNvPr id="12" name="Text 9"/>
          <p:cNvSpPr/>
          <p:nvPr/>
        </p:nvSpPr>
        <p:spPr>
          <a:xfrm>
            <a:off x="1188720" y="2697480"/>
            <a:ext cx="2743200" cy="566928"/>
          </a:xfrm>
          <a:prstGeom prst="rect">
            <a:avLst/>
          </a:prstGeom>
          <a:noFill/>
          <a:ln/>
        </p:spPr>
        <p:txBody>
          <a:bodyPr wrap="square" lIns="0" tIns="0" rIns="0" bIns="0" rtlCol="0" anchor="ctr"/>
          <a:lstStyle/>
          <a:p>
            <a:pPr marL="0" indent="0">
              <a:buNone/>
            </a:pPr>
            <a:r>
              <a:rPr lang="en-US" sz="1200" b="1" dirty="0">
                <a:solidFill>
                  <a:srgbClr val="C7D2E4"/>
                </a:solidFill>
                <a:latin typeface="Calibri" pitchFamily="34" charset="0"/>
                <a:ea typeface="Calibri" pitchFamily="34" charset="-122"/>
                <a:cs typeface="Calibri" pitchFamily="34" charset="-120"/>
              </a:rPr>
              <a:t>Executive Overview</a:t>
            </a:r>
            <a:endParaRPr lang="en-US" sz="1200" dirty="0"/>
          </a:p>
        </p:txBody>
      </p:sp>
      <p:sp>
        <p:nvSpPr>
          <p:cNvPr id="13" name="Shape 10"/>
          <p:cNvSpPr/>
          <p:nvPr/>
        </p:nvSpPr>
        <p:spPr>
          <a:xfrm>
            <a:off x="4206240" y="2697480"/>
            <a:ext cx="3246120" cy="566928"/>
          </a:xfrm>
          <a:prstGeom prst="roundRect">
            <a:avLst>
              <a:gd name="adj" fmla="val 11290"/>
            </a:avLst>
          </a:prstGeom>
          <a:solidFill>
            <a:srgbClr val="1B2540"/>
          </a:solidFill>
          <a:ln w="12700">
            <a:solidFill>
              <a:srgbClr val="2A3550"/>
            </a:solidFill>
            <a:prstDash val="solid"/>
          </a:ln>
        </p:spPr>
        <p:txBody>
          <a:bodyPr/>
          <a:lstStyle/>
          <a:p>
            <a:endParaRPr lang="en-US"/>
          </a:p>
        </p:txBody>
      </p:sp>
      <p:sp>
        <p:nvSpPr>
          <p:cNvPr id="14" name="Shape 11"/>
          <p:cNvSpPr/>
          <p:nvPr/>
        </p:nvSpPr>
        <p:spPr>
          <a:xfrm>
            <a:off x="4370832" y="2916936"/>
            <a:ext cx="128016" cy="128016"/>
          </a:xfrm>
          <a:prstGeom prst="ellipse">
            <a:avLst/>
          </a:prstGeom>
          <a:solidFill>
            <a:srgbClr val="22D3EE"/>
          </a:solidFill>
          <a:ln/>
        </p:spPr>
        <p:txBody>
          <a:bodyPr/>
          <a:lstStyle/>
          <a:p>
            <a:endParaRPr lang="en-US"/>
          </a:p>
        </p:txBody>
      </p:sp>
      <p:sp>
        <p:nvSpPr>
          <p:cNvPr id="15" name="Text 12"/>
          <p:cNvSpPr/>
          <p:nvPr/>
        </p:nvSpPr>
        <p:spPr>
          <a:xfrm>
            <a:off x="4617720" y="2697480"/>
            <a:ext cx="2743200" cy="566928"/>
          </a:xfrm>
          <a:prstGeom prst="rect">
            <a:avLst/>
          </a:prstGeom>
          <a:noFill/>
          <a:ln/>
        </p:spPr>
        <p:txBody>
          <a:bodyPr wrap="square" lIns="0" tIns="0" rIns="0" bIns="0" rtlCol="0" anchor="ctr"/>
          <a:lstStyle/>
          <a:p>
            <a:pPr marL="0" indent="0">
              <a:buNone/>
            </a:pPr>
            <a:r>
              <a:rPr lang="en-US" sz="1200" b="1" dirty="0">
                <a:solidFill>
                  <a:srgbClr val="C7D2E4"/>
                </a:solidFill>
                <a:latin typeface="Calibri" pitchFamily="34" charset="0"/>
                <a:ea typeface="Calibri" pitchFamily="34" charset="-122"/>
                <a:cs typeface="Calibri" pitchFamily="34" charset="-120"/>
              </a:rPr>
              <a:t>Fraud Risk Scoring</a:t>
            </a:r>
            <a:endParaRPr lang="en-US" sz="1200" dirty="0"/>
          </a:p>
        </p:txBody>
      </p:sp>
      <p:sp>
        <p:nvSpPr>
          <p:cNvPr id="16" name="Shape 13"/>
          <p:cNvSpPr/>
          <p:nvPr/>
        </p:nvSpPr>
        <p:spPr>
          <a:xfrm>
            <a:off x="777240" y="3410712"/>
            <a:ext cx="3246120" cy="566928"/>
          </a:xfrm>
          <a:prstGeom prst="roundRect">
            <a:avLst>
              <a:gd name="adj" fmla="val 11290"/>
            </a:avLst>
          </a:prstGeom>
          <a:solidFill>
            <a:srgbClr val="1B2540"/>
          </a:solidFill>
          <a:ln w="12700">
            <a:solidFill>
              <a:srgbClr val="2A3550"/>
            </a:solidFill>
            <a:prstDash val="solid"/>
          </a:ln>
        </p:spPr>
        <p:txBody>
          <a:bodyPr/>
          <a:lstStyle/>
          <a:p>
            <a:endParaRPr lang="en-US"/>
          </a:p>
        </p:txBody>
      </p:sp>
      <p:sp>
        <p:nvSpPr>
          <p:cNvPr id="17" name="Shape 14"/>
          <p:cNvSpPr/>
          <p:nvPr/>
        </p:nvSpPr>
        <p:spPr>
          <a:xfrm>
            <a:off x="941832" y="3630168"/>
            <a:ext cx="128016" cy="128016"/>
          </a:xfrm>
          <a:prstGeom prst="ellipse">
            <a:avLst/>
          </a:prstGeom>
          <a:solidFill>
            <a:srgbClr val="22D3EE"/>
          </a:solidFill>
          <a:ln/>
        </p:spPr>
        <p:txBody>
          <a:bodyPr/>
          <a:lstStyle/>
          <a:p>
            <a:endParaRPr lang="en-US"/>
          </a:p>
        </p:txBody>
      </p:sp>
      <p:sp>
        <p:nvSpPr>
          <p:cNvPr id="18" name="Text 15"/>
          <p:cNvSpPr/>
          <p:nvPr/>
        </p:nvSpPr>
        <p:spPr>
          <a:xfrm>
            <a:off x="1188720" y="3410712"/>
            <a:ext cx="2743200" cy="566928"/>
          </a:xfrm>
          <a:prstGeom prst="rect">
            <a:avLst/>
          </a:prstGeom>
          <a:noFill/>
          <a:ln/>
        </p:spPr>
        <p:txBody>
          <a:bodyPr wrap="square" lIns="0" tIns="0" rIns="0" bIns="0" rtlCol="0" anchor="ctr"/>
          <a:lstStyle/>
          <a:p>
            <a:pPr marL="0" indent="0">
              <a:buNone/>
            </a:pPr>
            <a:r>
              <a:rPr lang="en-US" sz="1200" b="1" dirty="0">
                <a:solidFill>
                  <a:srgbClr val="C7D2E4"/>
                </a:solidFill>
                <a:latin typeface="Calibri" pitchFamily="34" charset="0"/>
                <a:ea typeface="Calibri" pitchFamily="34" charset="-122"/>
                <a:cs typeface="Calibri" pitchFamily="34" charset="-120"/>
              </a:rPr>
              <a:t>Customer Sequence Analyzer</a:t>
            </a:r>
            <a:endParaRPr lang="en-US" sz="1200" dirty="0"/>
          </a:p>
        </p:txBody>
      </p:sp>
      <p:sp>
        <p:nvSpPr>
          <p:cNvPr id="19" name="Shape 16"/>
          <p:cNvSpPr/>
          <p:nvPr/>
        </p:nvSpPr>
        <p:spPr>
          <a:xfrm>
            <a:off x="4206240" y="3410712"/>
            <a:ext cx="3246120" cy="566928"/>
          </a:xfrm>
          <a:prstGeom prst="roundRect">
            <a:avLst>
              <a:gd name="adj" fmla="val 11290"/>
            </a:avLst>
          </a:prstGeom>
          <a:solidFill>
            <a:srgbClr val="1B2540"/>
          </a:solidFill>
          <a:ln w="12700">
            <a:solidFill>
              <a:srgbClr val="2A3550"/>
            </a:solidFill>
            <a:prstDash val="solid"/>
          </a:ln>
        </p:spPr>
        <p:txBody>
          <a:bodyPr/>
          <a:lstStyle/>
          <a:p>
            <a:endParaRPr lang="en-US"/>
          </a:p>
        </p:txBody>
      </p:sp>
      <p:sp>
        <p:nvSpPr>
          <p:cNvPr id="20" name="Shape 17"/>
          <p:cNvSpPr/>
          <p:nvPr/>
        </p:nvSpPr>
        <p:spPr>
          <a:xfrm>
            <a:off x="4370832" y="3630168"/>
            <a:ext cx="128016" cy="128016"/>
          </a:xfrm>
          <a:prstGeom prst="ellipse">
            <a:avLst/>
          </a:prstGeom>
          <a:solidFill>
            <a:srgbClr val="22D3EE"/>
          </a:solidFill>
          <a:ln/>
        </p:spPr>
        <p:txBody>
          <a:bodyPr/>
          <a:lstStyle/>
          <a:p>
            <a:endParaRPr lang="en-US"/>
          </a:p>
        </p:txBody>
      </p:sp>
      <p:sp>
        <p:nvSpPr>
          <p:cNvPr id="21" name="Text 18"/>
          <p:cNvSpPr/>
          <p:nvPr/>
        </p:nvSpPr>
        <p:spPr>
          <a:xfrm>
            <a:off x="4617720" y="3410712"/>
            <a:ext cx="2743200" cy="566928"/>
          </a:xfrm>
          <a:prstGeom prst="rect">
            <a:avLst/>
          </a:prstGeom>
          <a:noFill/>
          <a:ln/>
        </p:spPr>
        <p:txBody>
          <a:bodyPr wrap="square" lIns="0" tIns="0" rIns="0" bIns="0" rtlCol="0" anchor="ctr"/>
          <a:lstStyle/>
          <a:p>
            <a:pPr marL="0" indent="0">
              <a:buNone/>
            </a:pPr>
            <a:r>
              <a:rPr lang="en-US" sz="1200" b="1" dirty="0">
                <a:solidFill>
                  <a:srgbClr val="C7D2E4"/>
                </a:solidFill>
                <a:latin typeface="Calibri" pitchFamily="34" charset="0"/>
                <a:ea typeface="Calibri" pitchFamily="34" charset="-122"/>
                <a:cs typeface="Calibri" pitchFamily="34" charset="-120"/>
              </a:rPr>
              <a:t>Fraud Pattern Insights</a:t>
            </a:r>
            <a:endParaRPr lang="en-US" sz="1200" dirty="0"/>
          </a:p>
        </p:txBody>
      </p:sp>
      <p:sp>
        <p:nvSpPr>
          <p:cNvPr id="22" name="Shape 19"/>
          <p:cNvSpPr/>
          <p:nvPr/>
        </p:nvSpPr>
        <p:spPr>
          <a:xfrm>
            <a:off x="777240" y="4123944"/>
            <a:ext cx="3246120" cy="566928"/>
          </a:xfrm>
          <a:prstGeom prst="roundRect">
            <a:avLst>
              <a:gd name="adj" fmla="val 11290"/>
            </a:avLst>
          </a:prstGeom>
          <a:solidFill>
            <a:srgbClr val="1B2540"/>
          </a:solidFill>
          <a:ln w="12700">
            <a:solidFill>
              <a:srgbClr val="2A3550"/>
            </a:solidFill>
            <a:prstDash val="solid"/>
          </a:ln>
        </p:spPr>
        <p:txBody>
          <a:bodyPr/>
          <a:lstStyle/>
          <a:p>
            <a:endParaRPr lang="en-US"/>
          </a:p>
        </p:txBody>
      </p:sp>
      <p:sp>
        <p:nvSpPr>
          <p:cNvPr id="23" name="Shape 20"/>
          <p:cNvSpPr/>
          <p:nvPr/>
        </p:nvSpPr>
        <p:spPr>
          <a:xfrm>
            <a:off x="941832" y="4343400"/>
            <a:ext cx="128016" cy="128016"/>
          </a:xfrm>
          <a:prstGeom prst="ellipse">
            <a:avLst/>
          </a:prstGeom>
          <a:solidFill>
            <a:srgbClr val="22D3EE"/>
          </a:solidFill>
          <a:ln/>
        </p:spPr>
        <p:txBody>
          <a:bodyPr/>
          <a:lstStyle/>
          <a:p>
            <a:endParaRPr lang="en-US"/>
          </a:p>
        </p:txBody>
      </p:sp>
      <p:sp>
        <p:nvSpPr>
          <p:cNvPr id="24" name="Text 21"/>
          <p:cNvSpPr/>
          <p:nvPr/>
        </p:nvSpPr>
        <p:spPr>
          <a:xfrm>
            <a:off x="1188720" y="4123944"/>
            <a:ext cx="2743200" cy="566928"/>
          </a:xfrm>
          <a:prstGeom prst="rect">
            <a:avLst/>
          </a:prstGeom>
          <a:noFill/>
          <a:ln/>
        </p:spPr>
        <p:txBody>
          <a:bodyPr wrap="square" lIns="0" tIns="0" rIns="0" bIns="0" rtlCol="0" anchor="ctr"/>
          <a:lstStyle/>
          <a:p>
            <a:pPr marL="0" indent="0">
              <a:buNone/>
            </a:pPr>
            <a:r>
              <a:rPr lang="en-US" sz="1200" b="1" dirty="0">
                <a:solidFill>
                  <a:srgbClr val="C7D2E4"/>
                </a:solidFill>
                <a:latin typeface="Calibri" pitchFamily="34" charset="0"/>
                <a:ea typeface="Calibri" pitchFamily="34" charset="-122"/>
                <a:cs typeface="Calibri" pitchFamily="34" charset="-120"/>
              </a:rPr>
              <a:t>Model Performance</a:t>
            </a:r>
            <a:endParaRPr lang="en-US" sz="1200" dirty="0"/>
          </a:p>
        </p:txBody>
      </p:sp>
      <p:sp>
        <p:nvSpPr>
          <p:cNvPr id="25" name="Shape 22"/>
          <p:cNvSpPr/>
          <p:nvPr/>
        </p:nvSpPr>
        <p:spPr>
          <a:xfrm>
            <a:off x="4206240" y="4123944"/>
            <a:ext cx="3246120" cy="566928"/>
          </a:xfrm>
          <a:prstGeom prst="roundRect">
            <a:avLst>
              <a:gd name="adj" fmla="val 11290"/>
            </a:avLst>
          </a:prstGeom>
          <a:solidFill>
            <a:srgbClr val="1B2540"/>
          </a:solidFill>
          <a:ln w="12700">
            <a:solidFill>
              <a:srgbClr val="2A3550"/>
            </a:solidFill>
            <a:prstDash val="solid"/>
          </a:ln>
        </p:spPr>
        <p:txBody>
          <a:bodyPr/>
          <a:lstStyle/>
          <a:p>
            <a:endParaRPr lang="en-US"/>
          </a:p>
        </p:txBody>
      </p:sp>
      <p:sp>
        <p:nvSpPr>
          <p:cNvPr id="26" name="Shape 23"/>
          <p:cNvSpPr/>
          <p:nvPr/>
        </p:nvSpPr>
        <p:spPr>
          <a:xfrm>
            <a:off x="4370832" y="4343400"/>
            <a:ext cx="128016" cy="128016"/>
          </a:xfrm>
          <a:prstGeom prst="ellipse">
            <a:avLst/>
          </a:prstGeom>
          <a:solidFill>
            <a:srgbClr val="22D3EE"/>
          </a:solidFill>
          <a:ln/>
        </p:spPr>
        <p:txBody>
          <a:bodyPr/>
          <a:lstStyle/>
          <a:p>
            <a:endParaRPr lang="en-US"/>
          </a:p>
        </p:txBody>
      </p:sp>
      <p:sp>
        <p:nvSpPr>
          <p:cNvPr id="27" name="Text 24"/>
          <p:cNvSpPr/>
          <p:nvPr/>
        </p:nvSpPr>
        <p:spPr>
          <a:xfrm>
            <a:off x="4617720" y="4123944"/>
            <a:ext cx="2743200" cy="566928"/>
          </a:xfrm>
          <a:prstGeom prst="rect">
            <a:avLst/>
          </a:prstGeom>
          <a:noFill/>
          <a:ln/>
        </p:spPr>
        <p:txBody>
          <a:bodyPr wrap="square" lIns="0" tIns="0" rIns="0" bIns="0" rtlCol="0" anchor="ctr"/>
          <a:lstStyle/>
          <a:p>
            <a:pPr marL="0" indent="0">
              <a:buNone/>
            </a:pPr>
            <a:r>
              <a:rPr lang="en-US" sz="1200" b="1" dirty="0">
                <a:solidFill>
                  <a:srgbClr val="C7D2E4"/>
                </a:solidFill>
                <a:latin typeface="Calibri" pitchFamily="34" charset="0"/>
                <a:ea typeface="Calibri" pitchFamily="34" charset="-122"/>
                <a:cs typeface="Calibri" pitchFamily="34" charset="-120"/>
              </a:rPr>
              <a:t>Explainability</a:t>
            </a:r>
            <a:endParaRPr lang="en-US" sz="1200" dirty="0"/>
          </a:p>
        </p:txBody>
      </p:sp>
      <p:sp>
        <p:nvSpPr>
          <p:cNvPr id="28" name="Shape 25"/>
          <p:cNvSpPr/>
          <p:nvPr/>
        </p:nvSpPr>
        <p:spPr>
          <a:xfrm>
            <a:off x="777240" y="4837176"/>
            <a:ext cx="3246120" cy="566928"/>
          </a:xfrm>
          <a:prstGeom prst="roundRect">
            <a:avLst>
              <a:gd name="adj" fmla="val 11290"/>
            </a:avLst>
          </a:prstGeom>
          <a:solidFill>
            <a:srgbClr val="1B2540"/>
          </a:solidFill>
          <a:ln w="12700">
            <a:solidFill>
              <a:srgbClr val="2A3550"/>
            </a:solidFill>
            <a:prstDash val="solid"/>
          </a:ln>
        </p:spPr>
        <p:txBody>
          <a:bodyPr/>
          <a:lstStyle/>
          <a:p>
            <a:endParaRPr lang="en-US"/>
          </a:p>
        </p:txBody>
      </p:sp>
      <p:sp>
        <p:nvSpPr>
          <p:cNvPr id="29" name="Shape 26"/>
          <p:cNvSpPr/>
          <p:nvPr/>
        </p:nvSpPr>
        <p:spPr>
          <a:xfrm>
            <a:off x="941832" y="5056632"/>
            <a:ext cx="128016" cy="128016"/>
          </a:xfrm>
          <a:prstGeom prst="ellipse">
            <a:avLst/>
          </a:prstGeom>
          <a:solidFill>
            <a:srgbClr val="22D3EE"/>
          </a:solidFill>
          <a:ln/>
        </p:spPr>
        <p:txBody>
          <a:bodyPr/>
          <a:lstStyle/>
          <a:p>
            <a:endParaRPr lang="en-US"/>
          </a:p>
        </p:txBody>
      </p:sp>
      <p:sp>
        <p:nvSpPr>
          <p:cNvPr id="30" name="Text 27"/>
          <p:cNvSpPr/>
          <p:nvPr/>
        </p:nvSpPr>
        <p:spPr>
          <a:xfrm>
            <a:off x="1188720" y="4837176"/>
            <a:ext cx="2743200" cy="566928"/>
          </a:xfrm>
          <a:prstGeom prst="rect">
            <a:avLst/>
          </a:prstGeom>
          <a:noFill/>
          <a:ln/>
        </p:spPr>
        <p:txBody>
          <a:bodyPr wrap="square" lIns="0" tIns="0" rIns="0" bIns="0" rtlCol="0" anchor="ctr"/>
          <a:lstStyle/>
          <a:p>
            <a:pPr marL="0" indent="0">
              <a:buNone/>
            </a:pPr>
            <a:r>
              <a:rPr lang="en-US" sz="1200" b="1" dirty="0">
                <a:solidFill>
                  <a:srgbClr val="C7D2E4"/>
                </a:solidFill>
                <a:latin typeface="Calibri" pitchFamily="34" charset="0"/>
                <a:ea typeface="Calibri" pitchFamily="34" charset="-122"/>
                <a:cs typeface="Calibri" pitchFamily="34" charset="-120"/>
              </a:rPr>
              <a:t>Alert Center</a:t>
            </a:r>
            <a:endParaRPr lang="en-US" sz="1200" dirty="0"/>
          </a:p>
        </p:txBody>
      </p:sp>
      <p:sp>
        <p:nvSpPr>
          <p:cNvPr id="31" name="Shape 28"/>
          <p:cNvSpPr/>
          <p:nvPr/>
        </p:nvSpPr>
        <p:spPr>
          <a:xfrm>
            <a:off x="4206240" y="4837176"/>
            <a:ext cx="3246120" cy="566928"/>
          </a:xfrm>
          <a:prstGeom prst="roundRect">
            <a:avLst>
              <a:gd name="adj" fmla="val 11290"/>
            </a:avLst>
          </a:prstGeom>
          <a:solidFill>
            <a:srgbClr val="1B2540"/>
          </a:solidFill>
          <a:ln w="12700">
            <a:solidFill>
              <a:srgbClr val="2A3550"/>
            </a:solidFill>
            <a:prstDash val="solid"/>
          </a:ln>
        </p:spPr>
        <p:txBody>
          <a:bodyPr/>
          <a:lstStyle/>
          <a:p>
            <a:endParaRPr lang="en-US"/>
          </a:p>
        </p:txBody>
      </p:sp>
      <p:sp>
        <p:nvSpPr>
          <p:cNvPr id="32" name="Shape 29"/>
          <p:cNvSpPr/>
          <p:nvPr/>
        </p:nvSpPr>
        <p:spPr>
          <a:xfrm>
            <a:off x="4370832" y="5056632"/>
            <a:ext cx="128016" cy="128016"/>
          </a:xfrm>
          <a:prstGeom prst="ellipse">
            <a:avLst/>
          </a:prstGeom>
          <a:solidFill>
            <a:srgbClr val="22D3EE"/>
          </a:solidFill>
          <a:ln/>
        </p:spPr>
        <p:txBody>
          <a:bodyPr/>
          <a:lstStyle/>
          <a:p>
            <a:endParaRPr lang="en-US"/>
          </a:p>
        </p:txBody>
      </p:sp>
      <p:sp>
        <p:nvSpPr>
          <p:cNvPr id="33" name="Text 30"/>
          <p:cNvSpPr/>
          <p:nvPr/>
        </p:nvSpPr>
        <p:spPr>
          <a:xfrm>
            <a:off x="4617720" y="4837176"/>
            <a:ext cx="2743200" cy="566928"/>
          </a:xfrm>
          <a:prstGeom prst="rect">
            <a:avLst/>
          </a:prstGeom>
          <a:noFill/>
          <a:ln/>
        </p:spPr>
        <p:txBody>
          <a:bodyPr wrap="square" lIns="0" tIns="0" rIns="0" bIns="0" rtlCol="0" anchor="ctr"/>
          <a:lstStyle/>
          <a:p>
            <a:pPr marL="0" indent="0">
              <a:buNone/>
            </a:pPr>
            <a:r>
              <a:rPr lang="en-US" sz="1200" b="1" dirty="0">
                <a:solidFill>
                  <a:srgbClr val="C7D2E4"/>
                </a:solidFill>
                <a:latin typeface="Calibri" pitchFamily="34" charset="0"/>
                <a:ea typeface="Calibri" pitchFamily="34" charset="-122"/>
                <a:cs typeface="Calibri" pitchFamily="34" charset="-120"/>
              </a:rPr>
              <a:t>Business Impact Simulator</a:t>
            </a:r>
            <a:endParaRPr lang="en-US" sz="1200" dirty="0"/>
          </a:p>
        </p:txBody>
      </p:sp>
      <p:sp>
        <p:nvSpPr>
          <p:cNvPr id="34" name="Shape 31"/>
          <p:cNvSpPr/>
          <p:nvPr/>
        </p:nvSpPr>
        <p:spPr>
          <a:xfrm>
            <a:off x="7818120" y="1783080"/>
            <a:ext cx="3840480" cy="4343400"/>
          </a:xfrm>
          <a:prstGeom prst="roundRect">
            <a:avLst>
              <a:gd name="adj" fmla="val 2143"/>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35" name="Shape 32"/>
          <p:cNvSpPr/>
          <p:nvPr/>
        </p:nvSpPr>
        <p:spPr>
          <a:xfrm>
            <a:off x="8046720" y="1993392"/>
            <a:ext cx="502920" cy="502920"/>
          </a:xfrm>
          <a:prstGeom prst="ellipse">
            <a:avLst/>
          </a:prstGeom>
          <a:solidFill>
            <a:srgbClr val="1B2540"/>
          </a:solidFill>
          <a:ln w="15875">
            <a:solidFill>
              <a:srgbClr val="A78BFA"/>
            </a:solidFill>
            <a:prstDash val="solid"/>
          </a:ln>
        </p:spPr>
        <p:txBody>
          <a:bodyPr/>
          <a:lstStyle/>
          <a:p>
            <a:endParaRPr lang="en-US"/>
          </a:p>
        </p:txBody>
      </p:sp>
      <p:pic>
        <p:nvPicPr>
          <p:cNvPr id="36" name="Image 1" descr="preencoded.png"/>
          <p:cNvPicPr>
            <a:picLocks noChangeAspect="1"/>
          </p:cNvPicPr>
          <p:nvPr/>
        </p:nvPicPr>
        <p:blipFill>
          <a:blip r:embed="rId4"/>
          <a:stretch>
            <a:fillRect/>
          </a:stretch>
        </p:blipFill>
        <p:spPr>
          <a:xfrm>
            <a:off x="8167421" y="2114093"/>
            <a:ext cx="261518" cy="261518"/>
          </a:xfrm>
          <a:prstGeom prst="rect">
            <a:avLst/>
          </a:prstGeom>
        </p:spPr>
      </p:pic>
      <p:sp>
        <p:nvSpPr>
          <p:cNvPr id="37" name="Text 33"/>
          <p:cNvSpPr/>
          <p:nvPr/>
        </p:nvSpPr>
        <p:spPr>
          <a:xfrm>
            <a:off x="8641080" y="2029968"/>
            <a:ext cx="2834640" cy="41148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API Endpoints</a:t>
            </a:r>
            <a:endParaRPr lang="en-US" sz="1600" dirty="0"/>
          </a:p>
        </p:txBody>
      </p:sp>
      <p:sp>
        <p:nvSpPr>
          <p:cNvPr id="38" name="Shape 34"/>
          <p:cNvSpPr/>
          <p:nvPr/>
        </p:nvSpPr>
        <p:spPr>
          <a:xfrm>
            <a:off x="8046720" y="2697480"/>
            <a:ext cx="3383280" cy="365760"/>
          </a:xfrm>
          <a:prstGeom prst="roundRect">
            <a:avLst>
              <a:gd name="adj" fmla="val 12500"/>
            </a:avLst>
          </a:prstGeom>
          <a:solidFill>
            <a:srgbClr val="11192E"/>
          </a:solidFill>
          <a:ln w="12700">
            <a:solidFill>
              <a:srgbClr val="2A3550"/>
            </a:solidFill>
            <a:prstDash val="solid"/>
          </a:ln>
        </p:spPr>
        <p:txBody>
          <a:bodyPr/>
          <a:lstStyle/>
          <a:p>
            <a:endParaRPr lang="en-US"/>
          </a:p>
        </p:txBody>
      </p:sp>
      <p:sp>
        <p:nvSpPr>
          <p:cNvPr id="39" name="Text 35"/>
          <p:cNvSpPr/>
          <p:nvPr/>
        </p:nvSpPr>
        <p:spPr>
          <a:xfrm>
            <a:off x="8183880" y="2697480"/>
            <a:ext cx="3108960" cy="365760"/>
          </a:xfrm>
          <a:prstGeom prst="rect">
            <a:avLst/>
          </a:prstGeom>
          <a:noFill/>
          <a:ln/>
        </p:spPr>
        <p:txBody>
          <a:bodyPr wrap="square" lIns="0" tIns="0" rIns="0" bIns="0" rtlCol="0" anchor="ctr"/>
          <a:lstStyle/>
          <a:p>
            <a:pPr marL="0" indent="0">
              <a:buNone/>
            </a:pPr>
            <a:r>
              <a:rPr lang="en-US" sz="1200" b="1" dirty="0">
                <a:solidFill>
                  <a:srgbClr val="22D3EE"/>
                </a:solidFill>
                <a:latin typeface="Courier New" pitchFamily="34" charset="0"/>
                <a:ea typeface="Courier New" pitchFamily="34" charset="-122"/>
                <a:cs typeface="Courier New" pitchFamily="34" charset="-120"/>
              </a:rPr>
              <a:t>/score</a:t>
            </a:r>
            <a:endParaRPr lang="en-US" sz="1200" dirty="0"/>
          </a:p>
        </p:txBody>
      </p:sp>
      <p:sp>
        <p:nvSpPr>
          <p:cNvPr id="40" name="Shape 36"/>
          <p:cNvSpPr/>
          <p:nvPr/>
        </p:nvSpPr>
        <p:spPr>
          <a:xfrm>
            <a:off x="8046720" y="3118104"/>
            <a:ext cx="3383280" cy="365760"/>
          </a:xfrm>
          <a:prstGeom prst="roundRect">
            <a:avLst>
              <a:gd name="adj" fmla="val 12500"/>
            </a:avLst>
          </a:prstGeom>
          <a:solidFill>
            <a:srgbClr val="11192E"/>
          </a:solidFill>
          <a:ln w="12700">
            <a:solidFill>
              <a:srgbClr val="2A3550"/>
            </a:solidFill>
            <a:prstDash val="solid"/>
          </a:ln>
        </p:spPr>
        <p:txBody>
          <a:bodyPr/>
          <a:lstStyle/>
          <a:p>
            <a:endParaRPr lang="en-US"/>
          </a:p>
        </p:txBody>
      </p:sp>
      <p:sp>
        <p:nvSpPr>
          <p:cNvPr id="41" name="Text 37"/>
          <p:cNvSpPr/>
          <p:nvPr/>
        </p:nvSpPr>
        <p:spPr>
          <a:xfrm>
            <a:off x="8183880" y="3118104"/>
            <a:ext cx="3108960" cy="365760"/>
          </a:xfrm>
          <a:prstGeom prst="rect">
            <a:avLst/>
          </a:prstGeom>
          <a:noFill/>
          <a:ln/>
        </p:spPr>
        <p:txBody>
          <a:bodyPr wrap="square" lIns="0" tIns="0" rIns="0" bIns="0" rtlCol="0" anchor="ctr"/>
          <a:lstStyle/>
          <a:p>
            <a:pPr marL="0" indent="0">
              <a:buNone/>
            </a:pPr>
            <a:r>
              <a:rPr lang="en-US" sz="1200" b="1" dirty="0">
                <a:solidFill>
                  <a:srgbClr val="22D3EE"/>
                </a:solidFill>
                <a:latin typeface="Courier New" pitchFamily="34" charset="0"/>
                <a:ea typeface="Courier New" pitchFamily="34" charset="-122"/>
                <a:cs typeface="Courier New" pitchFamily="34" charset="-120"/>
              </a:rPr>
              <a:t>/score/batch</a:t>
            </a:r>
            <a:endParaRPr lang="en-US" sz="1200" dirty="0"/>
          </a:p>
        </p:txBody>
      </p:sp>
      <p:sp>
        <p:nvSpPr>
          <p:cNvPr id="42" name="Shape 38"/>
          <p:cNvSpPr/>
          <p:nvPr/>
        </p:nvSpPr>
        <p:spPr>
          <a:xfrm>
            <a:off x="8046720" y="3538728"/>
            <a:ext cx="3383280" cy="365760"/>
          </a:xfrm>
          <a:prstGeom prst="roundRect">
            <a:avLst>
              <a:gd name="adj" fmla="val 12500"/>
            </a:avLst>
          </a:prstGeom>
          <a:solidFill>
            <a:srgbClr val="11192E"/>
          </a:solidFill>
          <a:ln w="12700">
            <a:solidFill>
              <a:srgbClr val="2A3550"/>
            </a:solidFill>
            <a:prstDash val="solid"/>
          </a:ln>
        </p:spPr>
        <p:txBody>
          <a:bodyPr/>
          <a:lstStyle/>
          <a:p>
            <a:endParaRPr lang="en-US"/>
          </a:p>
        </p:txBody>
      </p:sp>
      <p:sp>
        <p:nvSpPr>
          <p:cNvPr id="43" name="Text 39"/>
          <p:cNvSpPr/>
          <p:nvPr/>
        </p:nvSpPr>
        <p:spPr>
          <a:xfrm>
            <a:off x="8183880" y="3538728"/>
            <a:ext cx="3108960" cy="365760"/>
          </a:xfrm>
          <a:prstGeom prst="rect">
            <a:avLst/>
          </a:prstGeom>
          <a:noFill/>
          <a:ln/>
        </p:spPr>
        <p:txBody>
          <a:bodyPr wrap="square" lIns="0" tIns="0" rIns="0" bIns="0" rtlCol="0" anchor="ctr"/>
          <a:lstStyle/>
          <a:p>
            <a:pPr marL="0" indent="0">
              <a:buNone/>
            </a:pPr>
            <a:r>
              <a:rPr lang="en-US" sz="1200" b="1" dirty="0">
                <a:solidFill>
                  <a:srgbClr val="22D3EE"/>
                </a:solidFill>
                <a:latin typeface="Courier New" pitchFamily="34" charset="0"/>
                <a:ea typeface="Courier New" pitchFamily="34" charset="-122"/>
                <a:cs typeface="Courier New" pitchFamily="34" charset="-120"/>
              </a:rPr>
              <a:t>/dashboard</a:t>
            </a:r>
            <a:endParaRPr lang="en-US" sz="1200" dirty="0"/>
          </a:p>
        </p:txBody>
      </p:sp>
      <p:sp>
        <p:nvSpPr>
          <p:cNvPr id="44" name="Shape 40"/>
          <p:cNvSpPr/>
          <p:nvPr/>
        </p:nvSpPr>
        <p:spPr>
          <a:xfrm>
            <a:off x="8046720" y="3959352"/>
            <a:ext cx="3383280" cy="365760"/>
          </a:xfrm>
          <a:prstGeom prst="roundRect">
            <a:avLst>
              <a:gd name="adj" fmla="val 12500"/>
            </a:avLst>
          </a:prstGeom>
          <a:solidFill>
            <a:srgbClr val="11192E"/>
          </a:solidFill>
          <a:ln w="12700">
            <a:solidFill>
              <a:srgbClr val="2A3550"/>
            </a:solidFill>
            <a:prstDash val="solid"/>
          </a:ln>
        </p:spPr>
        <p:txBody>
          <a:bodyPr/>
          <a:lstStyle/>
          <a:p>
            <a:endParaRPr lang="en-US"/>
          </a:p>
        </p:txBody>
      </p:sp>
      <p:sp>
        <p:nvSpPr>
          <p:cNvPr id="45" name="Text 41"/>
          <p:cNvSpPr/>
          <p:nvPr/>
        </p:nvSpPr>
        <p:spPr>
          <a:xfrm>
            <a:off x="8183880" y="3959352"/>
            <a:ext cx="3108960" cy="365760"/>
          </a:xfrm>
          <a:prstGeom prst="rect">
            <a:avLst/>
          </a:prstGeom>
          <a:noFill/>
          <a:ln/>
        </p:spPr>
        <p:txBody>
          <a:bodyPr wrap="square" lIns="0" tIns="0" rIns="0" bIns="0" rtlCol="0" anchor="ctr"/>
          <a:lstStyle/>
          <a:p>
            <a:pPr marL="0" indent="0">
              <a:buNone/>
            </a:pPr>
            <a:r>
              <a:rPr lang="en-US" sz="1200" b="1" dirty="0">
                <a:solidFill>
                  <a:srgbClr val="22D3EE"/>
                </a:solidFill>
                <a:latin typeface="Courier New" pitchFamily="34" charset="0"/>
                <a:ea typeface="Courier New" pitchFamily="34" charset="-122"/>
                <a:cs typeface="Courier New" pitchFamily="34" charset="-120"/>
              </a:rPr>
              <a:t>/explain</a:t>
            </a:r>
            <a:endParaRPr lang="en-US" sz="1200" dirty="0"/>
          </a:p>
        </p:txBody>
      </p:sp>
      <p:sp>
        <p:nvSpPr>
          <p:cNvPr id="46" name="Shape 42"/>
          <p:cNvSpPr/>
          <p:nvPr/>
        </p:nvSpPr>
        <p:spPr>
          <a:xfrm>
            <a:off x="8046720" y="4379976"/>
            <a:ext cx="3383280" cy="365760"/>
          </a:xfrm>
          <a:prstGeom prst="roundRect">
            <a:avLst>
              <a:gd name="adj" fmla="val 12500"/>
            </a:avLst>
          </a:prstGeom>
          <a:solidFill>
            <a:srgbClr val="11192E"/>
          </a:solidFill>
          <a:ln w="12700">
            <a:solidFill>
              <a:srgbClr val="2A3550"/>
            </a:solidFill>
            <a:prstDash val="solid"/>
          </a:ln>
        </p:spPr>
        <p:txBody>
          <a:bodyPr/>
          <a:lstStyle/>
          <a:p>
            <a:endParaRPr lang="en-US"/>
          </a:p>
        </p:txBody>
      </p:sp>
      <p:sp>
        <p:nvSpPr>
          <p:cNvPr id="47" name="Text 43"/>
          <p:cNvSpPr/>
          <p:nvPr/>
        </p:nvSpPr>
        <p:spPr>
          <a:xfrm>
            <a:off x="8183880" y="4379976"/>
            <a:ext cx="3108960" cy="365760"/>
          </a:xfrm>
          <a:prstGeom prst="rect">
            <a:avLst/>
          </a:prstGeom>
          <a:noFill/>
          <a:ln/>
        </p:spPr>
        <p:txBody>
          <a:bodyPr wrap="square" lIns="0" tIns="0" rIns="0" bIns="0" rtlCol="0" anchor="ctr"/>
          <a:lstStyle/>
          <a:p>
            <a:pPr marL="0" indent="0">
              <a:buNone/>
            </a:pPr>
            <a:r>
              <a:rPr lang="en-US" sz="1200" b="1" dirty="0">
                <a:solidFill>
                  <a:srgbClr val="22D3EE"/>
                </a:solidFill>
                <a:latin typeface="Courier New" pitchFamily="34" charset="0"/>
                <a:ea typeface="Courier New" pitchFamily="34" charset="-122"/>
                <a:cs typeface="Courier New" pitchFamily="34" charset="-120"/>
              </a:rPr>
              <a:t>/audit</a:t>
            </a:r>
            <a:endParaRPr lang="en-US" sz="1200" dirty="0"/>
          </a:p>
        </p:txBody>
      </p:sp>
      <p:sp>
        <p:nvSpPr>
          <p:cNvPr id="48" name="Shape 44"/>
          <p:cNvSpPr/>
          <p:nvPr/>
        </p:nvSpPr>
        <p:spPr>
          <a:xfrm>
            <a:off x="8046720" y="4800600"/>
            <a:ext cx="3383280" cy="365760"/>
          </a:xfrm>
          <a:prstGeom prst="roundRect">
            <a:avLst>
              <a:gd name="adj" fmla="val 12500"/>
            </a:avLst>
          </a:prstGeom>
          <a:solidFill>
            <a:srgbClr val="11192E"/>
          </a:solidFill>
          <a:ln w="12700">
            <a:solidFill>
              <a:srgbClr val="2A3550"/>
            </a:solidFill>
            <a:prstDash val="solid"/>
          </a:ln>
        </p:spPr>
        <p:txBody>
          <a:bodyPr/>
          <a:lstStyle/>
          <a:p>
            <a:endParaRPr lang="en-US"/>
          </a:p>
        </p:txBody>
      </p:sp>
      <p:sp>
        <p:nvSpPr>
          <p:cNvPr id="49" name="Text 45"/>
          <p:cNvSpPr/>
          <p:nvPr/>
        </p:nvSpPr>
        <p:spPr>
          <a:xfrm>
            <a:off x="8183880" y="4800600"/>
            <a:ext cx="3108960" cy="365760"/>
          </a:xfrm>
          <a:prstGeom prst="rect">
            <a:avLst/>
          </a:prstGeom>
          <a:noFill/>
          <a:ln/>
        </p:spPr>
        <p:txBody>
          <a:bodyPr wrap="square" lIns="0" tIns="0" rIns="0" bIns="0" rtlCol="0" anchor="ctr"/>
          <a:lstStyle/>
          <a:p>
            <a:pPr marL="0" indent="0">
              <a:buNone/>
            </a:pPr>
            <a:r>
              <a:rPr lang="en-US" sz="1200" b="1" dirty="0">
                <a:solidFill>
                  <a:srgbClr val="22D3EE"/>
                </a:solidFill>
                <a:latin typeface="Courier New" pitchFamily="34" charset="0"/>
                <a:ea typeface="Courier New" pitchFamily="34" charset="-122"/>
                <a:cs typeface="Courier New" pitchFamily="34" charset="-120"/>
              </a:rPr>
              <a:t>/train</a:t>
            </a:r>
            <a:endParaRPr lang="en-US" sz="1200" dirty="0"/>
          </a:p>
        </p:txBody>
      </p:sp>
      <p:sp>
        <p:nvSpPr>
          <p:cNvPr id="50" name="Shape 46"/>
          <p:cNvSpPr/>
          <p:nvPr/>
        </p:nvSpPr>
        <p:spPr>
          <a:xfrm>
            <a:off x="8046720" y="5221224"/>
            <a:ext cx="3383280" cy="365760"/>
          </a:xfrm>
          <a:prstGeom prst="roundRect">
            <a:avLst>
              <a:gd name="adj" fmla="val 12500"/>
            </a:avLst>
          </a:prstGeom>
          <a:solidFill>
            <a:srgbClr val="11192E"/>
          </a:solidFill>
          <a:ln w="12700">
            <a:solidFill>
              <a:srgbClr val="2A3550"/>
            </a:solidFill>
            <a:prstDash val="solid"/>
          </a:ln>
        </p:spPr>
        <p:txBody>
          <a:bodyPr/>
          <a:lstStyle/>
          <a:p>
            <a:endParaRPr lang="en-US"/>
          </a:p>
        </p:txBody>
      </p:sp>
      <p:sp>
        <p:nvSpPr>
          <p:cNvPr id="51" name="Text 47"/>
          <p:cNvSpPr/>
          <p:nvPr/>
        </p:nvSpPr>
        <p:spPr>
          <a:xfrm>
            <a:off x="8183880" y="5221224"/>
            <a:ext cx="3108960" cy="365760"/>
          </a:xfrm>
          <a:prstGeom prst="rect">
            <a:avLst/>
          </a:prstGeom>
          <a:noFill/>
          <a:ln/>
        </p:spPr>
        <p:txBody>
          <a:bodyPr wrap="square" lIns="0" tIns="0" rIns="0" bIns="0" rtlCol="0" anchor="ctr"/>
          <a:lstStyle/>
          <a:p>
            <a:pPr marL="0" indent="0">
              <a:buNone/>
            </a:pPr>
            <a:r>
              <a:rPr lang="en-US" sz="1200" b="1" dirty="0">
                <a:solidFill>
                  <a:srgbClr val="22D3EE"/>
                </a:solidFill>
                <a:latin typeface="Courier New" pitchFamily="34" charset="0"/>
                <a:ea typeface="Courier New" pitchFamily="34" charset="-122"/>
                <a:cs typeface="Courier New" pitchFamily="34" charset="-120"/>
              </a:rPr>
              <a:t>/metrics</a:t>
            </a:r>
            <a:endParaRPr lang="en-US" sz="1200" dirty="0"/>
          </a:p>
        </p:txBody>
      </p:sp>
      <p:sp>
        <p:nvSpPr>
          <p:cNvPr id="52" name="Shape 48"/>
          <p:cNvSpPr/>
          <p:nvPr/>
        </p:nvSpPr>
        <p:spPr>
          <a:xfrm>
            <a:off x="8046720" y="5641848"/>
            <a:ext cx="3383280" cy="365760"/>
          </a:xfrm>
          <a:prstGeom prst="roundRect">
            <a:avLst>
              <a:gd name="adj" fmla="val 12500"/>
            </a:avLst>
          </a:prstGeom>
          <a:solidFill>
            <a:srgbClr val="11192E"/>
          </a:solidFill>
          <a:ln w="12700">
            <a:solidFill>
              <a:srgbClr val="2A3550"/>
            </a:solidFill>
            <a:prstDash val="solid"/>
          </a:ln>
        </p:spPr>
        <p:txBody>
          <a:bodyPr/>
          <a:lstStyle/>
          <a:p>
            <a:endParaRPr lang="en-US"/>
          </a:p>
        </p:txBody>
      </p:sp>
      <p:sp>
        <p:nvSpPr>
          <p:cNvPr id="53" name="Text 49"/>
          <p:cNvSpPr/>
          <p:nvPr/>
        </p:nvSpPr>
        <p:spPr>
          <a:xfrm>
            <a:off x="8183880" y="5641848"/>
            <a:ext cx="3108960" cy="365760"/>
          </a:xfrm>
          <a:prstGeom prst="rect">
            <a:avLst/>
          </a:prstGeom>
          <a:noFill/>
          <a:ln/>
        </p:spPr>
        <p:txBody>
          <a:bodyPr wrap="square" lIns="0" tIns="0" rIns="0" bIns="0" rtlCol="0" anchor="ctr"/>
          <a:lstStyle/>
          <a:p>
            <a:pPr marL="0" indent="0">
              <a:buNone/>
            </a:pPr>
            <a:r>
              <a:rPr lang="en-US" sz="1200" b="1" dirty="0">
                <a:solidFill>
                  <a:srgbClr val="22D3EE"/>
                </a:solidFill>
                <a:latin typeface="Courier New" pitchFamily="34" charset="0"/>
                <a:ea typeface="Courier New" pitchFamily="34" charset="-122"/>
                <a:cs typeface="Courier New" pitchFamily="34" charset="-120"/>
              </a:rPr>
              <a:t>/status  ·  /health</a:t>
            </a:r>
            <a:endParaRPr lang="en-US" sz="1200" dirty="0"/>
          </a:p>
        </p:txBody>
      </p:sp>
      <p:sp>
        <p:nvSpPr>
          <p:cNvPr id="54" name="Text 50"/>
          <p:cNvSpPr/>
          <p:nvPr/>
        </p:nvSpPr>
        <p:spPr>
          <a:xfrm>
            <a:off x="8046720" y="6108192"/>
            <a:ext cx="3383280" cy="274320"/>
          </a:xfrm>
          <a:prstGeom prst="rect">
            <a:avLst/>
          </a:prstGeom>
          <a:noFill/>
          <a:ln/>
        </p:spPr>
        <p:txBody>
          <a:bodyPr wrap="square" lIns="0" tIns="0" rIns="0" bIns="0" rtlCol="0" anchor="ctr"/>
          <a:lstStyle/>
          <a:p>
            <a:pPr marL="0" indent="0">
              <a:buNone/>
            </a:pPr>
            <a:r>
              <a:rPr lang="en-US" sz="1050" i="1" dirty="0">
                <a:solidFill>
                  <a:srgbClr val="8A98B5"/>
                </a:solidFill>
                <a:latin typeface="Calibri" pitchFamily="34" charset="0"/>
                <a:ea typeface="Calibri" pitchFamily="34" charset="-122"/>
                <a:cs typeface="Calibri" pitchFamily="34" charset="-120"/>
              </a:rPr>
              <a:t>All endpoints aliased under  /api/v1/*</a:t>
            </a:r>
            <a:endParaRPr lang="en-US" sz="1050" dirty="0"/>
          </a:p>
        </p:txBody>
      </p:sp>
      <p:sp>
        <p:nvSpPr>
          <p:cNvPr id="56" name="Text 51"/>
          <p:cNvSpPr/>
          <p:nvPr/>
        </p:nvSpPr>
        <p:spPr>
          <a:xfrm>
            <a:off x="548640" y="6473952"/>
            <a:ext cx="8229600" cy="274320"/>
          </a:xfrm>
          <a:prstGeom prst="rect">
            <a:avLst/>
          </a:prstGeom>
          <a:noFill/>
          <a:ln/>
        </p:spPr>
        <p:txBody>
          <a:bodyPr wrap="square" lIns="0" tIns="0" rIns="0" bIns="0" rtlCol="0" anchor="ctr"/>
          <a:lstStyle/>
          <a:p>
            <a:pPr marL="0" indent="0" algn="l">
              <a:buNone/>
            </a:pPr>
            <a:r>
              <a:rPr lang="en-US" sz="900" dirty="0">
                <a:solidFill>
                  <a:srgbClr val="8A98B5"/>
                </a:solidFill>
                <a:latin typeface="Calibri" pitchFamily="34" charset="0"/>
                <a:ea typeface="Calibri" pitchFamily="34" charset="-122"/>
                <a:cs typeface="Calibri" pitchFamily="34" charset="-120"/>
              </a:rPr>
              <a:t>FraudShield AI  ·  Payment Fraud Sequence Detection (LSTM/RNN)</a:t>
            </a:r>
            <a:endParaRPr lang="en-US" sz="900" dirty="0"/>
          </a:p>
        </p:txBody>
      </p:sp>
      <p:sp>
        <p:nvSpPr>
          <p:cNvPr id="57" name="Text 52"/>
          <p:cNvSpPr/>
          <p:nvPr/>
        </p:nvSpPr>
        <p:spPr>
          <a:xfrm>
            <a:off x="10728655" y="6473952"/>
            <a:ext cx="914400" cy="274320"/>
          </a:xfrm>
          <a:prstGeom prst="rect">
            <a:avLst/>
          </a:prstGeom>
          <a:noFill/>
          <a:ln/>
        </p:spPr>
        <p:txBody>
          <a:bodyPr wrap="square" lIns="0" tIns="0" rIns="0" bIns="0" rtlCol="0" anchor="ctr"/>
          <a:lstStyle/>
          <a:p>
            <a:pPr marL="0" indent="0" algn="r">
              <a:buNone/>
            </a:pPr>
            <a:r>
              <a:rPr lang="en-US" sz="900" dirty="0">
                <a:solidFill>
                  <a:srgbClr val="8A98B5"/>
                </a:solidFill>
                <a:latin typeface="Calibri" pitchFamily="34" charset="0"/>
                <a:ea typeface="Calibri" pitchFamily="34" charset="-122"/>
                <a:cs typeface="Calibri" pitchFamily="34" charset="-120"/>
              </a:rPr>
              <a:t>10 / 15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marL="0" indent="0" algn="l">
              <a:buNone/>
            </a:pPr>
            <a:r>
              <a:rPr lang="en-US" sz="1200" b="1" kern="0" spc="300" dirty="0">
                <a:solidFill>
                  <a:srgbClr val="22D3EE"/>
                </a:solidFill>
                <a:latin typeface="Calibri" pitchFamily="34" charset="0"/>
                <a:ea typeface="Calibri" pitchFamily="34" charset="-122"/>
                <a:cs typeface="Calibri" pitchFamily="34" charset="-120"/>
              </a:rPr>
              <a:t>BUSINESS IMPACT</a:t>
            </a:r>
            <a:endParaRPr lang="en-US" sz="1200" dirty="0"/>
          </a:p>
        </p:txBody>
      </p:sp>
      <p:sp>
        <p:nvSpPr>
          <p:cNvPr id="3" name="Text 1"/>
          <p:cNvSpPr/>
          <p:nvPr/>
        </p:nvSpPr>
        <p:spPr>
          <a:xfrm>
            <a:off x="548640" y="658368"/>
            <a:ext cx="8869680" cy="868680"/>
          </a:xfrm>
          <a:prstGeom prst="rect">
            <a:avLst/>
          </a:prstGeom>
          <a:noFill/>
          <a:ln/>
        </p:spPr>
        <p:txBody>
          <a:bodyPr wrap="square" lIns="0" tIns="0" rIns="0" bIns="0" rtlCol="0" anchor="t"/>
          <a:lstStyle/>
          <a:p>
            <a:pPr marL="0" indent="0" algn="l">
              <a:buNone/>
            </a:pPr>
            <a:r>
              <a:rPr lang="en-US" sz="3000" b="1" dirty="0">
                <a:solidFill>
                  <a:srgbClr val="FFFFFF"/>
                </a:solidFill>
                <a:latin typeface="Calibri" pitchFamily="34" charset="0"/>
                <a:ea typeface="Calibri" pitchFamily="34" charset="-122"/>
                <a:cs typeface="Calibri" pitchFamily="34" charset="-120"/>
              </a:rPr>
              <a:t>Convert fraud intelligence into measurable value</a:t>
            </a:r>
            <a:endParaRPr lang="en-US" sz="3000" dirty="0"/>
          </a:p>
        </p:txBody>
      </p:sp>
      <p:sp>
        <p:nvSpPr>
          <p:cNvPr id="5" name="Text 3"/>
          <p:cNvSpPr/>
          <p:nvPr/>
        </p:nvSpPr>
        <p:spPr>
          <a:xfrm>
            <a:off x="8945575" y="457200"/>
            <a:ext cx="2697480" cy="457200"/>
          </a:xfrm>
          <a:prstGeom prst="rect">
            <a:avLst/>
          </a:prstGeom>
          <a:noFill/>
          <a:ln/>
        </p:spPr>
        <p:txBody>
          <a:bodyPr wrap="square" lIns="0" tIns="0" rIns="0" bIns="0" rtlCol="0" anchor="ctr"/>
          <a:lstStyle/>
          <a:p>
            <a:pPr marL="0" indent="0" algn="ctr">
              <a:buNone/>
            </a:pPr>
            <a:endParaRPr lang="en-US" sz="900" dirty="0"/>
          </a:p>
        </p:txBody>
      </p:sp>
      <p:sp>
        <p:nvSpPr>
          <p:cNvPr id="6" name="Shape 4"/>
          <p:cNvSpPr/>
          <p:nvPr/>
        </p:nvSpPr>
        <p:spPr>
          <a:xfrm>
            <a:off x="548640" y="1783080"/>
            <a:ext cx="2567864" cy="2286000"/>
          </a:xfrm>
          <a:prstGeom prst="roundRect">
            <a:avLst>
              <a:gd name="adj" fmla="val 3600"/>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7" name="Shape 5"/>
          <p:cNvSpPr/>
          <p:nvPr/>
        </p:nvSpPr>
        <p:spPr>
          <a:xfrm>
            <a:off x="777240" y="2011680"/>
            <a:ext cx="566928" cy="566928"/>
          </a:xfrm>
          <a:prstGeom prst="ellipse">
            <a:avLst/>
          </a:prstGeom>
          <a:solidFill>
            <a:srgbClr val="1B2540"/>
          </a:solidFill>
          <a:ln w="15875">
            <a:solidFill>
              <a:srgbClr val="10B981"/>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913303" y="2147743"/>
            <a:ext cx="294803" cy="294803"/>
          </a:xfrm>
          <a:prstGeom prst="rect">
            <a:avLst/>
          </a:prstGeom>
        </p:spPr>
      </p:pic>
      <p:sp>
        <p:nvSpPr>
          <p:cNvPr id="9" name="Text 6"/>
          <p:cNvSpPr/>
          <p:nvPr/>
        </p:nvSpPr>
        <p:spPr>
          <a:xfrm>
            <a:off x="777240" y="2697480"/>
            <a:ext cx="2110664" cy="5943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Reduce fraud loss</a:t>
            </a:r>
            <a:endParaRPr lang="en-US" sz="1500" dirty="0"/>
          </a:p>
        </p:txBody>
      </p:sp>
      <p:sp>
        <p:nvSpPr>
          <p:cNvPr id="10" name="Text 7"/>
          <p:cNvSpPr/>
          <p:nvPr/>
        </p:nvSpPr>
        <p:spPr>
          <a:xfrm>
            <a:off x="777240" y="3246120"/>
            <a:ext cx="2110664" cy="777240"/>
          </a:xfrm>
          <a:prstGeom prst="rect">
            <a:avLst/>
          </a:prstGeom>
          <a:noFill/>
          <a:ln/>
        </p:spPr>
        <p:txBody>
          <a:bodyPr wrap="square" lIns="0" tIns="0" rIns="0" bIns="0" rtlCol="0" anchor="ctr"/>
          <a:lstStyle/>
          <a:p>
            <a:pPr marL="0" indent="0">
              <a:lnSpc>
                <a:spcPct val="110000"/>
              </a:lnSpc>
              <a:buNone/>
            </a:pPr>
            <a:r>
              <a:rPr lang="en-US" sz="1200" dirty="0">
                <a:solidFill>
                  <a:srgbClr val="C7D2E4"/>
                </a:solidFill>
                <a:latin typeface="Calibri" pitchFamily="34" charset="0"/>
                <a:ea typeface="Calibri" pitchFamily="34" charset="-122"/>
                <a:cs typeface="Calibri" pitchFamily="34" charset="-120"/>
              </a:rPr>
              <a:t>Catch fraud earlier, before money leaves the account.</a:t>
            </a:r>
            <a:endParaRPr lang="en-US" sz="1200" dirty="0"/>
          </a:p>
        </p:txBody>
      </p:sp>
      <p:sp>
        <p:nvSpPr>
          <p:cNvPr id="11" name="Shape 8"/>
          <p:cNvSpPr/>
          <p:nvPr/>
        </p:nvSpPr>
        <p:spPr>
          <a:xfrm>
            <a:off x="3390824" y="1783080"/>
            <a:ext cx="2567864" cy="2286000"/>
          </a:xfrm>
          <a:prstGeom prst="roundRect">
            <a:avLst>
              <a:gd name="adj" fmla="val 3600"/>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12" name="Shape 9"/>
          <p:cNvSpPr/>
          <p:nvPr/>
        </p:nvSpPr>
        <p:spPr>
          <a:xfrm>
            <a:off x="3619424" y="2011680"/>
            <a:ext cx="566928" cy="566928"/>
          </a:xfrm>
          <a:prstGeom prst="ellipse">
            <a:avLst/>
          </a:prstGeom>
          <a:solidFill>
            <a:srgbClr val="1B2540"/>
          </a:solidFill>
          <a:ln w="15875">
            <a:solidFill>
              <a:srgbClr val="22D3EE"/>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3755487" y="2147743"/>
            <a:ext cx="294803" cy="294803"/>
          </a:xfrm>
          <a:prstGeom prst="rect">
            <a:avLst/>
          </a:prstGeom>
        </p:spPr>
      </p:pic>
      <p:sp>
        <p:nvSpPr>
          <p:cNvPr id="14" name="Text 10"/>
          <p:cNvSpPr/>
          <p:nvPr/>
        </p:nvSpPr>
        <p:spPr>
          <a:xfrm>
            <a:off x="3619424" y="2697480"/>
            <a:ext cx="2110664" cy="5943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Lower review cost</a:t>
            </a:r>
            <a:endParaRPr lang="en-US" sz="1500" dirty="0"/>
          </a:p>
        </p:txBody>
      </p:sp>
      <p:sp>
        <p:nvSpPr>
          <p:cNvPr id="15" name="Text 11"/>
          <p:cNvSpPr/>
          <p:nvPr/>
        </p:nvSpPr>
        <p:spPr>
          <a:xfrm>
            <a:off x="3619424" y="3246120"/>
            <a:ext cx="2110664" cy="777240"/>
          </a:xfrm>
          <a:prstGeom prst="rect">
            <a:avLst/>
          </a:prstGeom>
          <a:noFill/>
          <a:ln/>
        </p:spPr>
        <p:txBody>
          <a:bodyPr wrap="square" lIns="0" tIns="0" rIns="0" bIns="0" rtlCol="0" anchor="ctr"/>
          <a:lstStyle/>
          <a:p>
            <a:pPr marL="0" indent="0">
              <a:lnSpc>
                <a:spcPct val="110000"/>
              </a:lnSpc>
              <a:buNone/>
            </a:pPr>
            <a:r>
              <a:rPr lang="en-US" sz="1200" dirty="0">
                <a:solidFill>
                  <a:srgbClr val="C7D2E4"/>
                </a:solidFill>
                <a:latin typeface="Calibri" pitchFamily="34" charset="0"/>
                <a:ea typeface="Calibri" pitchFamily="34" charset="-122"/>
                <a:cs typeface="Calibri" pitchFamily="34" charset="-120"/>
              </a:rPr>
              <a:t>Send only the right cases to analysts — cut manual workload.</a:t>
            </a:r>
            <a:endParaRPr lang="en-US" sz="1200" dirty="0"/>
          </a:p>
        </p:txBody>
      </p:sp>
      <p:sp>
        <p:nvSpPr>
          <p:cNvPr id="16" name="Shape 12"/>
          <p:cNvSpPr/>
          <p:nvPr/>
        </p:nvSpPr>
        <p:spPr>
          <a:xfrm>
            <a:off x="6233008" y="1783080"/>
            <a:ext cx="2567864" cy="2286000"/>
          </a:xfrm>
          <a:prstGeom prst="roundRect">
            <a:avLst>
              <a:gd name="adj" fmla="val 3600"/>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17" name="Shape 13"/>
          <p:cNvSpPr/>
          <p:nvPr/>
        </p:nvSpPr>
        <p:spPr>
          <a:xfrm>
            <a:off x="6461608" y="2011680"/>
            <a:ext cx="566928" cy="566928"/>
          </a:xfrm>
          <a:prstGeom prst="ellipse">
            <a:avLst/>
          </a:prstGeom>
          <a:solidFill>
            <a:srgbClr val="1B2540"/>
          </a:solidFill>
          <a:ln w="15875">
            <a:solidFill>
              <a:srgbClr val="A78BFA"/>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6597670" y="2147743"/>
            <a:ext cx="294803" cy="294803"/>
          </a:xfrm>
          <a:prstGeom prst="rect">
            <a:avLst/>
          </a:prstGeom>
        </p:spPr>
      </p:pic>
      <p:sp>
        <p:nvSpPr>
          <p:cNvPr id="19" name="Text 14"/>
          <p:cNvSpPr/>
          <p:nvPr/>
        </p:nvSpPr>
        <p:spPr>
          <a:xfrm>
            <a:off x="6461608" y="2697480"/>
            <a:ext cx="2110664" cy="5943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Protect trust</a:t>
            </a:r>
            <a:endParaRPr lang="en-US" sz="1500" dirty="0"/>
          </a:p>
        </p:txBody>
      </p:sp>
      <p:sp>
        <p:nvSpPr>
          <p:cNvPr id="20" name="Text 15"/>
          <p:cNvSpPr/>
          <p:nvPr/>
        </p:nvSpPr>
        <p:spPr>
          <a:xfrm>
            <a:off x="6461608" y="3246120"/>
            <a:ext cx="2110664" cy="777240"/>
          </a:xfrm>
          <a:prstGeom prst="rect">
            <a:avLst/>
          </a:prstGeom>
          <a:noFill/>
          <a:ln/>
        </p:spPr>
        <p:txBody>
          <a:bodyPr wrap="square" lIns="0" tIns="0" rIns="0" bIns="0" rtlCol="0" anchor="ctr"/>
          <a:lstStyle/>
          <a:p>
            <a:pPr marL="0" indent="0">
              <a:lnSpc>
                <a:spcPct val="110000"/>
              </a:lnSpc>
              <a:buNone/>
            </a:pPr>
            <a:r>
              <a:rPr lang="en-US" sz="1200" dirty="0">
                <a:solidFill>
                  <a:srgbClr val="C7D2E4"/>
                </a:solidFill>
                <a:latin typeface="Calibri" pitchFamily="34" charset="0"/>
                <a:ea typeface="Calibri" pitchFamily="34" charset="-122"/>
                <a:cs typeface="Calibri" pitchFamily="34" charset="-120"/>
              </a:rPr>
              <a:t>Avoid blocking good customers with blunt rules.</a:t>
            </a:r>
            <a:endParaRPr lang="en-US" sz="1200" dirty="0"/>
          </a:p>
        </p:txBody>
      </p:sp>
      <p:sp>
        <p:nvSpPr>
          <p:cNvPr id="21" name="Shape 16"/>
          <p:cNvSpPr/>
          <p:nvPr/>
        </p:nvSpPr>
        <p:spPr>
          <a:xfrm>
            <a:off x="9075191" y="1783080"/>
            <a:ext cx="2567864" cy="2286000"/>
          </a:xfrm>
          <a:prstGeom prst="roundRect">
            <a:avLst>
              <a:gd name="adj" fmla="val 3600"/>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22" name="Shape 17"/>
          <p:cNvSpPr/>
          <p:nvPr/>
        </p:nvSpPr>
        <p:spPr>
          <a:xfrm>
            <a:off x="9303791" y="2011680"/>
            <a:ext cx="566928" cy="566928"/>
          </a:xfrm>
          <a:prstGeom prst="ellipse">
            <a:avLst/>
          </a:prstGeom>
          <a:solidFill>
            <a:srgbClr val="1B2540"/>
          </a:solidFill>
          <a:ln w="15875">
            <a:solidFill>
              <a:srgbClr val="F59E0B"/>
            </a:solidFill>
            <a:prstDash val="solid"/>
          </a:ln>
        </p:spPr>
        <p:txBody>
          <a:bodyPr/>
          <a:lstStyle/>
          <a:p>
            <a:endParaRPr lang="en-US"/>
          </a:p>
        </p:txBody>
      </p:sp>
      <p:pic>
        <p:nvPicPr>
          <p:cNvPr id="23" name="Image 3" descr="preencoded.png"/>
          <p:cNvPicPr>
            <a:picLocks noChangeAspect="1"/>
          </p:cNvPicPr>
          <p:nvPr/>
        </p:nvPicPr>
        <p:blipFill>
          <a:blip r:embed="rId6"/>
          <a:stretch>
            <a:fillRect/>
          </a:stretch>
        </p:blipFill>
        <p:spPr>
          <a:xfrm>
            <a:off x="9439854" y="2147743"/>
            <a:ext cx="294803" cy="294803"/>
          </a:xfrm>
          <a:prstGeom prst="rect">
            <a:avLst/>
          </a:prstGeom>
        </p:spPr>
      </p:pic>
      <p:sp>
        <p:nvSpPr>
          <p:cNvPr id="24" name="Text 18"/>
          <p:cNvSpPr/>
          <p:nvPr/>
        </p:nvSpPr>
        <p:spPr>
          <a:xfrm>
            <a:off x="9303791" y="2697480"/>
            <a:ext cx="2110664" cy="5943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Improve learning</a:t>
            </a:r>
            <a:endParaRPr lang="en-US" sz="1500" dirty="0"/>
          </a:p>
        </p:txBody>
      </p:sp>
      <p:sp>
        <p:nvSpPr>
          <p:cNvPr id="25" name="Text 19"/>
          <p:cNvSpPr/>
          <p:nvPr/>
        </p:nvSpPr>
        <p:spPr>
          <a:xfrm>
            <a:off x="9303791" y="3246120"/>
            <a:ext cx="2110664" cy="777240"/>
          </a:xfrm>
          <a:prstGeom prst="rect">
            <a:avLst/>
          </a:prstGeom>
          <a:noFill/>
          <a:ln/>
        </p:spPr>
        <p:txBody>
          <a:bodyPr wrap="square" lIns="0" tIns="0" rIns="0" bIns="0" rtlCol="0" anchor="ctr"/>
          <a:lstStyle/>
          <a:p>
            <a:pPr marL="0" indent="0">
              <a:lnSpc>
                <a:spcPct val="110000"/>
              </a:lnSpc>
              <a:buNone/>
            </a:pPr>
            <a:r>
              <a:rPr lang="en-US" sz="1200" dirty="0">
                <a:solidFill>
                  <a:srgbClr val="C7D2E4"/>
                </a:solidFill>
                <a:latin typeface="Calibri" pitchFamily="34" charset="0"/>
                <a:ea typeface="Calibri" pitchFamily="34" charset="-122"/>
                <a:cs typeface="Calibri" pitchFamily="34" charset="-120"/>
              </a:rPr>
              <a:t>Analyst verdicts feed the next model — value compounds.</a:t>
            </a:r>
            <a:endParaRPr lang="en-US" sz="1200" dirty="0"/>
          </a:p>
        </p:txBody>
      </p:sp>
      <p:sp>
        <p:nvSpPr>
          <p:cNvPr id="26" name="Shape 20"/>
          <p:cNvSpPr/>
          <p:nvPr/>
        </p:nvSpPr>
        <p:spPr>
          <a:xfrm>
            <a:off x="548640" y="4343400"/>
            <a:ext cx="11064240" cy="1691640"/>
          </a:xfrm>
          <a:prstGeom prst="roundRect">
            <a:avLst>
              <a:gd name="adj" fmla="val 4865"/>
            </a:avLst>
          </a:prstGeom>
          <a:solidFill>
            <a:srgbClr val="1B2540"/>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27" name="Text 21"/>
          <p:cNvSpPr/>
          <p:nvPr/>
        </p:nvSpPr>
        <p:spPr>
          <a:xfrm>
            <a:off x="548640" y="4526280"/>
            <a:ext cx="11064240" cy="274320"/>
          </a:xfrm>
          <a:prstGeom prst="rect">
            <a:avLst/>
          </a:prstGeom>
          <a:noFill/>
          <a:ln/>
        </p:spPr>
        <p:txBody>
          <a:bodyPr wrap="square" lIns="0" tIns="0" rIns="0" bIns="0" rtlCol="0" anchor="ctr"/>
          <a:lstStyle/>
          <a:p>
            <a:pPr marL="0" indent="0" algn="ctr">
              <a:buNone/>
            </a:pPr>
            <a:r>
              <a:rPr lang="en-US" sz="1200" b="1" kern="0" spc="100" dirty="0">
                <a:solidFill>
                  <a:srgbClr val="22D3EE"/>
                </a:solidFill>
                <a:latin typeface="Calibri" pitchFamily="34" charset="0"/>
                <a:ea typeface="Calibri" pitchFamily="34" charset="-122"/>
                <a:cs typeface="Calibri" pitchFamily="34" charset="-120"/>
              </a:rPr>
              <a:t>THE HONEST VALUE EQUATION</a:t>
            </a:r>
            <a:endParaRPr lang="en-US" sz="1200" dirty="0"/>
          </a:p>
        </p:txBody>
      </p:sp>
      <p:sp>
        <p:nvSpPr>
          <p:cNvPr id="28" name="Text 22"/>
          <p:cNvSpPr/>
          <p:nvPr/>
        </p:nvSpPr>
        <p:spPr>
          <a:xfrm>
            <a:off x="548640" y="4892040"/>
            <a:ext cx="11064240" cy="640080"/>
          </a:xfrm>
          <a:prstGeom prst="rect">
            <a:avLst/>
          </a:prstGeom>
          <a:noFill/>
          <a:ln/>
        </p:spPr>
        <p:txBody>
          <a:bodyPr wrap="square" lIns="0" tIns="0" rIns="0" bIns="0" rtlCol="0" anchor="ctr"/>
          <a:lstStyle/>
          <a:p>
            <a:pPr marL="0" indent="0" algn="ctr">
              <a:buNone/>
            </a:pPr>
            <a:r>
              <a:rPr lang="en-US" sz="1900" b="1" dirty="0">
                <a:solidFill>
                  <a:srgbClr val="10B981"/>
                </a:solidFill>
                <a:latin typeface="Calibri" pitchFamily="34" charset="0"/>
                <a:ea typeface="Calibri" pitchFamily="34" charset="-122"/>
                <a:cs typeface="Calibri" pitchFamily="34" charset="-120"/>
              </a:rPr>
              <a:t>Net value</a:t>
            </a:r>
            <a:r>
              <a:rPr lang="en-US" sz="1900" b="1" dirty="0">
                <a:solidFill>
                  <a:srgbClr val="FFFFFF"/>
                </a:solidFill>
                <a:latin typeface="Calibri" pitchFamily="34" charset="0"/>
                <a:ea typeface="Calibri" pitchFamily="34" charset="-122"/>
                <a:cs typeface="Calibri" pitchFamily="34" charset="-120"/>
              </a:rPr>
              <a:t>  =  fraud loss avoided  </a:t>
            </a:r>
            <a:r>
              <a:rPr lang="en-US" sz="1900" b="1" dirty="0">
                <a:solidFill>
                  <a:srgbClr val="F43F5E"/>
                </a:solidFill>
                <a:latin typeface="Calibri" pitchFamily="34" charset="0"/>
                <a:ea typeface="Calibri" pitchFamily="34" charset="-122"/>
                <a:cs typeface="Calibri" pitchFamily="34" charset="-120"/>
              </a:rPr>
              <a:t>−</a:t>
            </a:r>
            <a:r>
              <a:rPr lang="en-US" sz="1900" b="1" dirty="0">
                <a:solidFill>
                  <a:srgbClr val="FFFFFF"/>
                </a:solidFill>
                <a:latin typeface="Calibri" pitchFamily="34" charset="0"/>
                <a:ea typeface="Calibri" pitchFamily="34" charset="-122"/>
                <a:cs typeface="Calibri" pitchFamily="34" charset="-120"/>
              </a:rPr>
              <a:t> review cost  </a:t>
            </a:r>
            <a:r>
              <a:rPr lang="en-US" sz="1900" b="1" dirty="0">
                <a:solidFill>
                  <a:srgbClr val="F43F5E"/>
                </a:solidFill>
                <a:latin typeface="Calibri" pitchFamily="34" charset="0"/>
                <a:ea typeface="Calibri" pitchFamily="34" charset="-122"/>
                <a:cs typeface="Calibri" pitchFamily="34" charset="-120"/>
              </a:rPr>
              <a:t>−</a:t>
            </a:r>
            <a:r>
              <a:rPr lang="en-US" sz="1900" b="1" dirty="0">
                <a:solidFill>
                  <a:srgbClr val="FFFFFF"/>
                </a:solidFill>
                <a:latin typeface="Calibri" pitchFamily="34" charset="0"/>
                <a:ea typeface="Calibri" pitchFamily="34" charset="-122"/>
                <a:cs typeface="Calibri" pitchFamily="34" charset="-120"/>
              </a:rPr>
              <a:t> customer-friction cost  </a:t>
            </a:r>
            <a:r>
              <a:rPr lang="en-US" sz="1900" b="1" dirty="0">
                <a:solidFill>
                  <a:srgbClr val="10B981"/>
                </a:solidFill>
                <a:latin typeface="Calibri" pitchFamily="34" charset="0"/>
                <a:ea typeface="Calibri" pitchFamily="34" charset="-122"/>
                <a:cs typeface="Calibri" pitchFamily="34" charset="-120"/>
              </a:rPr>
              <a:t>+</a:t>
            </a:r>
            <a:r>
              <a:rPr lang="en-US" sz="1900" b="1" dirty="0">
                <a:solidFill>
                  <a:srgbClr val="FFFFFF"/>
                </a:solidFill>
                <a:latin typeface="Calibri" pitchFamily="34" charset="0"/>
                <a:ea typeface="Calibri" pitchFamily="34" charset="-122"/>
                <a:cs typeface="Calibri" pitchFamily="34" charset="-120"/>
              </a:rPr>
              <a:t> trust retained</a:t>
            </a:r>
            <a:endParaRPr lang="en-US" sz="1900" dirty="0"/>
          </a:p>
        </p:txBody>
      </p:sp>
      <p:sp>
        <p:nvSpPr>
          <p:cNvPr id="29" name="Text 23"/>
          <p:cNvSpPr/>
          <p:nvPr/>
        </p:nvSpPr>
        <p:spPr>
          <a:xfrm>
            <a:off x="548640" y="5577840"/>
            <a:ext cx="11064240" cy="320040"/>
          </a:xfrm>
          <a:prstGeom prst="rect">
            <a:avLst/>
          </a:prstGeom>
          <a:noFill/>
          <a:ln/>
        </p:spPr>
        <p:txBody>
          <a:bodyPr wrap="square" lIns="0" tIns="0" rIns="0" bIns="0" rtlCol="0" anchor="ctr"/>
          <a:lstStyle/>
          <a:p>
            <a:pPr marL="0" indent="0" algn="ctr">
              <a:buNone/>
            </a:pPr>
            <a:r>
              <a:rPr lang="en-US" sz="1200" i="1" dirty="0">
                <a:solidFill>
                  <a:srgbClr val="8A98B5"/>
                </a:solidFill>
                <a:latin typeface="Calibri" pitchFamily="34" charset="0"/>
                <a:ea typeface="Calibri" pitchFamily="34" charset="-122"/>
                <a:cs typeface="Calibri" pitchFamily="34" charset="-120"/>
              </a:rPr>
              <a:t>Good fraud systems optimise the whole equation — not just the catch rate.</a:t>
            </a:r>
            <a:endParaRPr lang="en-US" sz="1200" dirty="0"/>
          </a:p>
        </p:txBody>
      </p:sp>
      <p:sp>
        <p:nvSpPr>
          <p:cNvPr id="31" name="Text 24"/>
          <p:cNvSpPr/>
          <p:nvPr/>
        </p:nvSpPr>
        <p:spPr>
          <a:xfrm>
            <a:off x="548640" y="6473952"/>
            <a:ext cx="8229600" cy="274320"/>
          </a:xfrm>
          <a:prstGeom prst="rect">
            <a:avLst/>
          </a:prstGeom>
          <a:noFill/>
          <a:ln/>
        </p:spPr>
        <p:txBody>
          <a:bodyPr wrap="square" lIns="0" tIns="0" rIns="0" bIns="0" rtlCol="0" anchor="ctr"/>
          <a:lstStyle/>
          <a:p>
            <a:pPr marL="0" indent="0" algn="l">
              <a:buNone/>
            </a:pPr>
            <a:r>
              <a:rPr lang="en-US" sz="900" dirty="0">
                <a:solidFill>
                  <a:srgbClr val="8A98B5"/>
                </a:solidFill>
                <a:latin typeface="Calibri" pitchFamily="34" charset="0"/>
                <a:ea typeface="Calibri" pitchFamily="34" charset="-122"/>
                <a:cs typeface="Calibri" pitchFamily="34" charset="-120"/>
              </a:rPr>
              <a:t>FraudShield AI  ·  Payment Fraud Sequence Detection (LSTM/RNN)</a:t>
            </a:r>
            <a:endParaRPr lang="en-US" sz="900" dirty="0"/>
          </a:p>
        </p:txBody>
      </p:sp>
      <p:sp>
        <p:nvSpPr>
          <p:cNvPr id="32" name="Text 25"/>
          <p:cNvSpPr/>
          <p:nvPr/>
        </p:nvSpPr>
        <p:spPr>
          <a:xfrm>
            <a:off x="10728655" y="6473952"/>
            <a:ext cx="914400" cy="274320"/>
          </a:xfrm>
          <a:prstGeom prst="rect">
            <a:avLst/>
          </a:prstGeom>
          <a:noFill/>
          <a:ln/>
        </p:spPr>
        <p:txBody>
          <a:bodyPr wrap="square" lIns="0" tIns="0" rIns="0" bIns="0" rtlCol="0" anchor="ctr"/>
          <a:lstStyle/>
          <a:p>
            <a:pPr marL="0" indent="0" algn="r">
              <a:buNone/>
            </a:pPr>
            <a:r>
              <a:rPr lang="en-US" sz="900" dirty="0">
                <a:solidFill>
                  <a:srgbClr val="8A98B5"/>
                </a:solidFill>
                <a:latin typeface="Calibri" pitchFamily="34" charset="0"/>
                <a:ea typeface="Calibri" pitchFamily="34" charset="-122"/>
                <a:cs typeface="Calibri" pitchFamily="34" charset="-120"/>
              </a:rPr>
              <a:t>11 / 15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marL="0" indent="0" algn="l">
              <a:buNone/>
            </a:pPr>
            <a:r>
              <a:rPr lang="en-US" sz="1200" b="1" kern="0" spc="300" dirty="0">
                <a:solidFill>
                  <a:srgbClr val="22D3EE"/>
                </a:solidFill>
                <a:latin typeface="Calibri" pitchFamily="34" charset="0"/>
                <a:ea typeface="Calibri" pitchFamily="34" charset="-122"/>
                <a:cs typeface="Calibri" pitchFamily="34" charset="-120"/>
              </a:rPr>
              <a:t>TRUST ARCHITECTURE</a:t>
            </a:r>
            <a:endParaRPr lang="en-US" sz="1200" dirty="0"/>
          </a:p>
        </p:txBody>
      </p:sp>
      <p:sp>
        <p:nvSpPr>
          <p:cNvPr id="3" name="Text 1"/>
          <p:cNvSpPr/>
          <p:nvPr/>
        </p:nvSpPr>
        <p:spPr>
          <a:xfrm>
            <a:off x="548640" y="658368"/>
            <a:ext cx="8869680" cy="868680"/>
          </a:xfrm>
          <a:prstGeom prst="rect">
            <a:avLst/>
          </a:prstGeom>
          <a:noFill/>
          <a:ln/>
        </p:spPr>
        <p:txBody>
          <a:bodyPr wrap="square" lIns="0" tIns="0" rIns="0" bIns="0" rtlCol="0" anchor="t"/>
          <a:lstStyle/>
          <a:p>
            <a:pPr marL="0" indent="0" algn="l">
              <a:buNone/>
            </a:pPr>
            <a:r>
              <a:rPr lang="en-US" sz="3000" b="1" dirty="0">
                <a:solidFill>
                  <a:srgbClr val="FFFFFF"/>
                </a:solidFill>
                <a:latin typeface="Calibri" pitchFamily="34" charset="0"/>
                <a:ea typeface="Calibri" pitchFamily="34" charset="-122"/>
                <a:cs typeface="Calibri" pitchFamily="34" charset="-120"/>
              </a:rPr>
              <a:t>Controls that make AI usable in financial decisions</a:t>
            </a:r>
            <a:endParaRPr lang="en-US" sz="3000" dirty="0"/>
          </a:p>
        </p:txBody>
      </p:sp>
      <p:sp>
        <p:nvSpPr>
          <p:cNvPr id="5" name="Text 3"/>
          <p:cNvSpPr/>
          <p:nvPr/>
        </p:nvSpPr>
        <p:spPr>
          <a:xfrm>
            <a:off x="8945575" y="457200"/>
            <a:ext cx="2697480" cy="457200"/>
          </a:xfrm>
          <a:prstGeom prst="rect">
            <a:avLst/>
          </a:prstGeom>
          <a:noFill/>
          <a:ln/>
        </p:spPr>
        <p:txBody>
          <a:bodyPr wrap="square" lIns="0" tIns="0" rIns="0" bIns="0" rtlCol="0" anchor="ctr"/>
          <a:lstStyle/>
          <a:p>
            <a:pPr marL="0" indent="0" algn="ctr">
              <a:buNone/>
            </a:pPr>
            <a:endParaRPr lang="en-US" sz="900" dirty="0"/>
          </a:p>
        </p:txBody>
      </p:sp>
      <p:sp>
        <p:nvSpPr>
          <p:cNvPr id="6" name="Shape 4"/>
          <p:cNvSpPr/>
          <p:nvPr/>
        </p:nvSpPr>
        <p:spPr>
          <a:xfrm>
            <a:off x="548640" y="1783080"/>
            <a:ext cx="3611880" cy="1371600"/>
          </a:xfrm>
          <a:prstGeom prst="roundRect">
            <a:avLst>
              <a:gd name="adj" fmla="val 6000"/>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7" name="Shape 5"/>
          <p:cNvSpPr/>
          <p:nvPr/>
        </p:nvSpPr>
        <p:spPr>
          <a:xfrm>
            <a:off x="777240" y="2039112"/>
            <a:ext cx="548640" cy="548640"/>
          </a:xfrm>
          <a:prstGeom prst="ellipse">
            <a:avLst/>
          </a:prstGeom>
          <a:solidFill>
            <a:srgbClr val="1B2540"/>
          </a:solidFill>
          <a:ln w="15875">
            <a:solidFill>
              <a:srgbClr val="10B981"/>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908914" y="2170786"/>
            <a:ext cx="285293" cy="285293"/>
          </a:xfrm>
          <a:prstGeom prst="rect">
            <a:avLst/>
          </a:prstGeom>
        </p:spPr>
      </p:pic>
      <p:sp>
        <p:nvSpPr>
          <p:cNvPr id="9" name="Text 6"/>
          <p:cNvSpPr/>
          <p:nvPr/>
        </p:nvSpPr>
        <p:spPr>
          <a:xfrm>
            <a:off x="1463040" y="1984248"/>
            <a:ext cx="2560320" cy="4114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Human in the Loop</a:t>
            </a:r>
            <a:endParaRPr lang="en-US" sz="1500" dirty="0"/>
          </a:p>
        </p:txBody>
      </p:sp>
      <p:sp>
        <p:nvSpPr>
          <p:cNvPr id="10" name="Text 7"/>
          <p:cNvSpPr/>
          <p:nvPr/>
        </p:nvSpPr>
        <p:spPr>
          <a:xfrm>
            <a:off x="1463040" y="2441448"/>
            <a:ext cx="2560320" cy="548640"/>
          </a:xfrm>
          <a:prstGeom prst="rect">
            <a:avLst/>
          </a:prstGeom>
          <a:noFill/>
          <a:ln/>
        </p:spPr>
        <p:txBody>
          <a:bodyPr wrap="square" lIns="0" tIns="0" rIns="0" bIns="0" rtlCol="0" anchor="ctr"/>
          <a:lstStyle/>
          <a:p>
            <a:pPr marL="0" indent="0">
              <a:lnSpc>
                <a:spcPct val="108000"/>
              </a:lnSpc>
              <a:buNone/>
            </a:pPr>
            <a:r>
              <a:rPr lang="en-US" sz="1200" dirty="0">
                <a:solidFill>
                  <a:srgbClr val="C7D2E4"/>
                </a:solidFill>
                <a:latin typeface="Calibri" pitchFamily="34" charset="0"/>
                <a:ea typeface="Calibri" pitchFamily="34" charset="-122"/>
                <a:cs typeface="Calibri" pitchFamily="34" charset="-120"/>
              </a:rPr>
              <a:t>People decide high-impact cases.</a:t>
            </a:r>
            <a:endParaRPr lang="en-US" sz="1200" dirty="0"/>
          </a:p>
        </p:txBody>
      </p:sp>
      <p:sp>
        <p:nvSpPr>
          <p:cNvPr id="11" name="Shape 8"/>
          <p:cNvSpPr/>
          <p:nvPr/>
        </p:nvSpPr>
        <p:spPr>
          <a:xfrm>
            <a:off x="4389120" y="1783080"/>
            <a:ext cx="3611880" cy="1371600"/>
          </a:xfrm>
          <a:prstGeom prst="roundRect">
            <a:avLst>
              <a:gd name="adj" fmla="val 6000"/>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12" name="Shape 9"/>
          <p:cNvSpPr/>
          <p:nvPr/>
        </p:nvSpPr>
        <p:spPr>
          <a:xfrm>
            <a:off x="4617720" y="2039112"/>
            <a:ext cx="548640" cy="548640"/>
          </a:xfrm>
          <a:prstGeom prst="ellipse">
            <a:avLst/>
          </a:prstGeom>
          <a:solidFill>
            <a:srgbClr val="1B2540"/>
          </a:solidFill>
          <a:ln w="15875">
            <a:solidFill>
              <a:srgbClr val="22D3EE"/>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4749394" y="2170786"/>
            <a:ext cx="285293" cy="285293"/>
          </a:xfrm>
          <a:prstGeom prst="rect">
            <a:avLst/>
          </a:prstGeom>
        </p:spPr>
      </p:pic>
      <p:sp>
        <p:nvSpPr>
          <p:cNvPr id="14" name="Text 10"/>
          <p:cNvSpPr/>
          <p:nvPr/>
        </p:nvSpPr>
        <p:spPr>
          <a:xfrm>
            <a:off x="5303520" y="1984248"/>
            <a:ext cx="2560320" cy="4114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Explainability</a:t>
            </a:r>
            <a:endParaRPr lang="en-US" sz="1500" dirty="0"/>
          </a:p>
        </p:txBody>
      </p:sp>
      <p:sp>
        <p:nvSpPr>
          <p:cNvPr id="15" name="Text 11"/>
          <p:cNvSpPr/>
          <p:nvPr/>
        </p:nvSpPr>
        <p:spPr>
          <a:xfrm>
            <a:off x="5303520" y="2441448"/>
            <a:ext cx="2560320" cy="548640"/>
          </a:xfrm>
          <a:prstGeom prst="rect">
            <a:avLst/>
          </a:prstGeom>
          <a:noFill/>
          <a:ln/>
        </p:spPr>
        <p:txBody>
          <a:bodyPr wrap="square" lIns="0" tIns="0" rIns="0" bIns="0" rtlCol="0" anchor="ctr"/>
          <a:lstStyle/>
          <a:p>
            <a:pPr marL="0" indent="0">
              <a:lnSpc>
                <a:spcPct val="108000"/>
              </a:lnSpc>
              <a:buNone/>
            </a:pPr>
            <a:r>
              <a:rPr lang="en-US" sz="1200" dirty="0">
                <a:solidFill>
                  <a:srgbClr val="C7D2E4"/>
                </a:solidFill>
                <a:latin typeface="Calibri" pitchFamily="34" charset="0"/>
                <a:ea typeface="Calibri" pitchFamily="34" charset="-122"/>
                <a:cs typeface="Calibri" pitchFamily="34" charset="-120"/>
              </a:rPr>
              <a:t>Plain-English reason codes per score.</a:t>
            </a:r>
            <a:endParaRPr lang="en-US" sz="1200" dirty="0"/>
          </a:p>
        </p:txBody>
      </p:sp>
      <p:sp>
        <p:nvSpPr>
          <p:cNvPr id="16" name="Shape 12"/>
          <p:cNvSpPr/>
          <p:nvPr/>
        </p:nvSpPr>
        <p:spPr>
          <a:xfrm>
            <a:off x="8229600" y="1783080"/>
            <a:ext cx="3611880" cy="1371600"/>
          </a:xfrm>
          <a:prstGeom prst="roundRect">
            <a:avLst>
              <a:gd name="adj" fmla="val 6000"/>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17" name="Shape 13"/>
          <p:cNvSpPr/>
          <p:nvPr/>
        </p:nvSpPr>
        <p:spPr>
          <a:xfrm>
            <a:off x="8458200" y="2039112"/>
            <a:ext cx="548640" cy="548640"/>
          </a:xfrm>
          <a:prstGeom prst="ellipse">
            <a:avLst/>
          </a:prstGeom>
          <a:solidFill>
            <a:srgbClr val="1B2540"/>
          </a:solidFill>
          <a:ln w="15875">
            <a:solidFill>
              <a:srgbClr val="A78BFA"/>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8589874" y="2170786"/>
            <a:ext cx="285293" cy="285293"/>
          </a:xfrm>
          <a:prstGeom prst="rect">
            <a:avLst/>
          </a:prstGeom>
        </p:spPr>
      </p:pic>
      <p:sp>
        <p:nvSpPr>
          <p:cNvPr id="19" name="Text 14"/>
          <p:cNvSpPr/>
          <p:nvPr/>
        </p:nvSpPr>
        <p:spPr>
          <a:xfrm>
            <a:off x="9144000" y="1984248"/>
            <a:ext cx="2560320" cy="4114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Immutable Audit</a:t>
            </a:r>
            <a:endParaRPr lang="en-US" sz="1500" dirty="0"/>
          </a:p>
        </p:txBody>
      </p:sp>
      <p:sp>
        <p:nvSpPr>
          <p:cNvPr id="20" name="Text 15"/>
          <p:cNvSpPr/>
          <p:nvPr/>
        </p:nvSpPr>
        <p:spPr>
          <a:xfrm>
            <a:off x="9144000" y="2441448"/>
            <a:ext cx="2560320" cy="548640"/>
          </a:xfrm>
          <a:prstGeom prst="rect">
            <a:avLst/>
          </a:prstGeom>
          <a:noFill/>
          <a:ln/>
        </p:spPr>
        <p:txBody>
          <a:bodyPr wrap="square" lIns="0" tIns="0" rIns="0" bIns="0" rtlCol="0" anchor="ctr"/>
          <a:lstStyle/>
          <a:p>
            <a:pPr marL="0" indent="0">
              <a:lnSpc>
                <a:spcPct val="108000"/>
              </a:lnSpc>
              <a:buNone/>
            </a:pPr>
            <a:r>
              <a:rPr lang="en-US" sz="1200" dirty="0">
                <a:solidFill>
                  <a:srgbClr val="C7D2E4"/>
                </a:solidFill>
                <a:latin typeface="Calibri" pitchFamily="34" charset="0"/>
                <a:ea typeface="Calibri" pitchFamily="34" charset="-122"/>
                <a:cs typeface="Calibri" pitchFamily="34" charset="-120"/>
              </a:rPr>
              <a:t>Every score + decision logged.</a:t>
            </a:r>
            <a:endParaRPr lang="en-US" sz="1200" dirty="0"/>
          </a:p>
        </p:txBody>
      </p:sp>
      <p:sp>
        <p:nvSpPr>
          <p:cNvPr id="21" name="Shape 16"/>
          <p:cNvSpPr/>
          <p:nvPr/>
        </p:nvSpPr>
        <p:spPr>
          <a:xfrm>
            <a:off x="548640" y="3383280"/>
            <a:ext cx="3611880" cy="1371600"/>
          </a:xfrm>
          <a:prstGeom prst="roundRect">
            <a:avLst>
              <a:gd name="adj" fmla="val 6000"/>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22" name="Shape 17"/>
          <p:cNvSpPr/>
          <p:nvPr/>
        </p:nvSpPr>
        <p:spPr>
          <a:xfrm>
            <a:off x="777240" y="3639312"/>
            <a:ext cx="548640" cy="548640"/>
          </a:xfrm>
          <a:prstGeom prst="ellipse">
            <a:avLst/>
          </a:prstGeom>
          <a:solidFill>
            <a:srgbClr val="1B2540"/>
          </a:solidFill>
          <a:ln w="15875">
            <a:solidFill>
              <a:srgbClr val="F59E0B"/>
            </a:solidFill>
            <a:prstDash val="solid"/>
          </a:ln>
        </p:spPr>
        <p:txBody>
          <a:bodyPr/>
          <a:lstStyle/>
          <a:p>
            <a:endParaRPr lang="en-US"/>
          </a:p>
        </p:txBody>
      </p:sp>
      <p:pic>
        <p:nvPicPr>
          <p:cNvPr id="23" name="Image 3" descr="preencoded.png"/>
          <p:cNvPicPr>
            <a:picLocks noChangeAspect="1"/>
          </p:cNvPicPr>
          <p:nvPr/>
        </p:nvPicPr>
        <p:blipFill>
          <a:blip r:embed="rId6"/>
          <a:stretch>
            <a:fillRect/>
          </a:stretch>
        </p:blipFill>
        <p:spPr>
          <a:xfrm>
            <a:off x="908914" y="3770986"/>
            <a:ext cx="285293" cy="285293"/>
          </a:xfrm>
          <a:prstGeom prst="rect">
            <a:avLst/>
          </a:prstGeom>
        </p:spPr>
      </p:pic>
      <p:sp>
        <p:nvSpPr>
          <p:cNvPr id="24" name="Text 18"/>
          <p:cNvSpPr/>
          <p:nvPr/>
        </p:nvSpPr>
        <p:spPr>
          <a:xfrm>
            <a:off x="1463040" y="3584448"/>
            <a:ext cx="2560320" cy="4114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Drift Monitoring</a:t>
            </a:r>
            <a:endParaRPr lang="en-US" sz="1500" dirty="0"/>
          </a:p>
        </p:txBody>
      </p:sp>
      <p:sp>
        <p:nvSpPr>
          <p:cNvPr id="25" name="Text 19"/>
          <p:cNvSpPr/>
          <p:nvPr/>
        </p:nvSpPr>
        <p:spPr>
          <a:xfrm>
            <a:off x="1463040" y="4041648"/>
            <a:ext cx="2560320" cy="548640"/>
          </a:xfrm>
          <a:prstGeom prst="rect">
            <a:avLst/>
          </a:prstGeom>
          <a:noFill/>
          <a:ln/>
        </p:spPr>
        <p:txBody>
          <a:bodyPr wrap="square" lIns="0" tIns="0" rIns="0" bIns="0" rtlCol="0" anchor="ctr"/>
          <a:lstStyle/>
          <a:p>
            <a:pPr marL="0" indent="0">
              <a:lnSpc>
                <a:spcPct val="108000"/>
              </a:lnSpc>
              <a:buNone/>
            </a:pPr>
            <a:r>
              <a:rPr lang="en-US" sz="1200" dirty="0">
                <a:solidFill>
                  <a:srgbClr val="C7D2E4"/>
                </a:solidFill>
                <a:latin typeface="Calibri" pitchFamily="34" charset="0"/>
                <a:ea typeface="Calibri" pitchFamily="34" charset="-122"/>
                <a:cs typeface="Calibri" pitchFamily="34" charset="-120"/>
              </a:rPr>
              <a:t>Watch for changing fraud patterns.</a:t>
            </a:r>
            <a:endParaRPr lang="en-US" sz="1200" dirty="0"/>
          </a:p>
        </p:txBody>
      </p:sp>
      <p:sp>
        <p:nvSpPr>
          <p:cNvPr id="26" name="Shape 20"/>
          <p:cNvSpPr/>
          <p:nvPr/>
        </p:nvSpPr>
        <p:spPr>
          <a:xfrm>
            <a:off x="4389120" y="3383280"/>
            <a:ext cx="3611880" cy="1371600"/>
          </a:xfrm>
          <a:prstGeom prst="roundRect">
            <a:avLst>
              <a:gd name="adj" fmla="val 6000"/>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27" name="Shape 21"/>
          <p:cNvSpPr/>
          <p:nvPr/>
        </p:nvSpPr>
        <p:spPr>
          <a:xfrm>
            <a:off x="4617720" y="3639312"/>
            <a:ext cx="548640" cy="548640"/>
          </a:xfrm>
          <a:prstGeom prst="ellipse">
            <a:avLst/>
          </a:prstGeom>
          <a:solidFill>
            <a:srgbClr val="1B2540"/>
          </a:solidFill>
          <a:ln w="15875">
            <a:solidFill>
              <a:srgbClr val="10B981"/>
            </a:solidFill>
            <a:prstDash val="solid"/>
          </a:ln>
        </p:spPr>
        <p:txBody>
          <a:bodyPr/>
          <a:lstStyle/>
          <a:p>
            <a:endParaRPr lang="en-US"/>
          </a:p>
        </p:txBody>
      </p:sp>
      <p:pic>
        <p:nvPicPr>
          <p:cNvPr id="28" name="Image 4" descr="preencoded.png"/>
          <p:cNvPicPr>
            <a:picLocks noChangeAspect="1"/>
          </p:cNvPicPr>
          <p:nvPr/>
        </p:nvPicPr>
        <p:blipFill>
          <a:blip r:embed="rId7"/>
          <a:stretch>
            <a:fillRect/>
          </a:stretch>
        </p:blipFill>
        <p:spPr>
          <a:xfrm>
            <a:off x="4749394" y="3770986"/>
            <a:ext cx="285293" cy="285293"/>
          </a:xfrm>
          <a:prstGeom prst="rect">
            <a:avLst/>
          </a:prstGeom>
        </p:spPr>
      </p:pic>
      <p:sp>
        <p:nvSpPr>
          <p:cNvPr id="29" name="Text 22"/>
          <p:cNvSpPr/>
          <p:nvPr/>
        </p:nvSpPr>
        <p:spPr>
          <a:xfrm>
            <a:off x="5303520" y="3584448"/>
            <a:ext cx="2560320" cy="4114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Privacy &amp; Access</a:t>
            </a:r>
            <a:endParaRPr lang="en-US" sz="1500" dirty="0"/>
          </a:p>
        </p:txBody>
      </p:sp>
      <p:sp>
        <p:nvSpPr>
          <p:cNvPr id="30" name="Text 23"/>
          <p:cNvSpPr/>
          <p:nvPr/>
        </p:nvSpPr>
        <p:spPr>
          <a:xfrm>
            <a:off x="5303520" y="4041648"/>
            <a:ext cx="2560320" cy="548640"/>
          </a:xfrm>
          <a:prstGeom prst="rect">
            <a:avLst/>
          </a:prstGeom>
          <a:noFill/>
          <a:ln/>
        </p:spPr>
        <p:txBody>
          <a:bodyPr wrap="square" lIns="0" tIns="0" rIns="0" bIns="0" rtlCol="0" anchor="ctr"/>
          <a:lstStyle/>
          <a:p>
            <a:pPr marL="0" indent="0">
              <a:lnSpc>
                <a:spcPct val="108000"/>
              </a:lnSpc>
              <a:buNone/>
            </a:pPr>
            <a:r>
              <a:rPr lang="en-US" sz="1200" dirty="0">
                <a:solidFill>
                  <a:srgbClr val="C7D2E4"/>
                </a:solidFill>
                <a:latin typeface="Calibri" pitchFamily="34" charset="0"/>
                <a:ea typeface="Calibri" pitchFamily="34" charset="-122"/>
                <a:cs typeface="Calibri" pitchFamily="34" charset="-120"/>
              </a:rPr>
              <a:t>Auth, RBAC, PII protection.</a:t>
            </a:r>
            <a:endParaRPr lang="en-US" sz="1200" dirty="0"/>
          </a:p>
        </p:txBody>
      </p:sp>
      <p:sp>
        <p:nvSpPr>
          <p:cNvPr id="31" name="Shape 24"/>
          <p:cNvSpPr/>
          <p:nvPr/>
        </p:nvSpPr>
        <p:spPr>
          <a:xfrm>
            <a:off x="8229600" y="3383280"/>
            <a:ext cx="3611880" cy="1371600"/>
          </a:xfrm>
          <a:prstGeom prst="roundRect">
            <a:avLst>
              <a:gd name="adj" fmla="val 6000"/>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32" name="Shape 25"/>
          <p:cNvSpPr/>
          <p:nvPr/>
        </p:nvSpPr>
        <p:spPr>
          <a:xfrm>
            <a:off x="8458200" y="3639312"/>
            <a:ext cx="548640" cy="548640"/>
          </a:xfrm>
          <a:prstGeom prst="ellipse">
            <a:avLst/>
          </a:prstGeom>
          <a:solidFill>
            <a:srgbClr val="1B2540"/>
          </a:solidFill>
          <a:ln w="15875">
            <a:solidFill>
              <a:srgbClr val="A78BFA"/>
            </a:solidFill>
            <a:prstDash val="solid"/>
          </a:ln>
        </p:spPr>
        <p:txBody>
          <a:bodyPr/>
          <a:lstStyle/>
          <a:p>
            <a:endParaRPr lang="en-US"/>
          </a:p>
        </p:txBody>
      </p:sp>
      <p:pic>
        <p:nvPicPr>
          <p:cNvPr id="33" name="Image 5" descr="preencoded.png"/>
          <p:cNvPicPr>
            <a:picLocks noChangeAspect="1"/>
          </p:cNvPicPr>
          <p:nvPr/>
        </p:nvPicPr>
        <p:blipFill>
          <a:blip r:embed="rId8"/>
          <a:stretch>
            <a:fillRect/>
          </a:stretch>
        </p:blipFill>
        <p:spPr>
          <a:xfrm>
            <a:off x="8589874" y="3770986"/>
            <a:ext cx="285293" cy="285293"/>
          </a:xfrm>
          <a:prstGeom prst="rect">
            <a:avLst/>
          </a:prstGeom>
        </p:spPr>
      </p:pic>
      <p:sp>
        <p:nvSpPr>
          <p:cNvPr id="34" name="Text 26"/>
          <p:cNvSpPr/>
          <p:nvPr/>
        </p:nvSpPr>
        <p:spPr>
          <a:xfrm>
            <a:off x="9144000" y="3584448"/>
            <a:ext cx="2560320" cy="4114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Fairness Review</a:t>
            </a:r>
            <a:endParaRPr lang="en-US" sz="1500" dirty="0"/>
          </a:p>
        </p:txBody>
      </p:sp>
      <p:sp>
        <p:nvSpPr>
          <p:cNvPr id="35" name="Text 27"/>
          <p:cNvSpPr/>
          <p:nvPr/>
        </p:nvSpPr>
        <p:spPr>
          <a:xfrm>
            <a:off x="9144000" y="4041648"/>
            <a:ext cx="2560320" cy="548640"/>
          </a:xfrm>
          <a:prstGeom prst="rect">
            <a:avLst/>
          </a:prstGeom>
          <a:noFill/>
          <a:ln/>
        </p:spPr>
        <p:txBody>
          <a:bodyPr wrap="square" lIns="0" tIns="0" rIns="0" bIns="0" rtlCol="0" anchor="ctr"/>
          <a:lstStyle/>
          <a:p>
            <a:pPr marL="0" indent="0">
              <a:lnSpc>
                <a:spcPct val="108000"/>
              </a:lnSpc>
              <a:buNone/>
            </a:pPr>
            <a:r>
              <a:rPr lang="en-US" sz="1200" dirty="0">
                <a:solidFill>
                  <a:srgbClr val="C7D2E4"/>
                </a:solidFill>
                <a:latin typeface="Calibri" pitchFamily="34" charset="0"/>
                <a:ea typeface="Calibri" pitchFamily="34" charset="-122"/>
                <a:cs typeface="Calibri" pitchFamily="34" charset="-120"/>
              </a:rPr>
              <a:t>Check segments for bias.</a:t>
            </a:r>
            <a:endParaRPr lang="en-US" sz="1200" dirty="0"/>
          </a:p>
        </p:txBody>
      </p:sp>
      <p:sp>
        <p:nvSpPr>
          <p:cNvPr id="36" name="Shape 28"/>
          <p:cNvSpPr/>
          <p:nvPr/>
        </p:nvSpPr>
        <p:spPr>
          <a:xfrm>
            <a:off x="548640" y="5120640"/>
            <a:ext cx="11064240" cy="868680"/>
          </a:xfrm>
          <a:prstGeom prst="roundRect">
            <a:avLst>
              <a:gd name="adj" fmla="val 8421"/>
            </a:avLst>
          </a:prstGeom>
          <a:solidFill>
            <a:srgbClr val="11192E"/>
          </a:solidFill>
          <a:ln w="15875">
            <a:solidFill>
              <a:srgbClr val="22D3EE"/>
            </a:solidFill>
            <a:prstDash val="solid"/>
          </a:ln>
        </p:spPr>
        <p:txBody>
          <a:bodyPr/>
          <a:lstStyle/>
          <a:p>
            <a:endParaRPr lang="en-US"/>
          </a:p>
        </p:txBody>
      </p:sp>
      <p:sp>
        <p:nvSpPr>
          <p:cNvPr id="37" name="Text 29"/>
          <p:cNvSpPr/>
          <p:nvPr/>
        </p:nvSpPr>
        <p:spPr>
          <a:xfrm>
            <a:off x="548640" y="5120640"/>
            <a:ext cx="11064240" cy="868680"/>
          </a:xfrm>
          <a:prstGeom prst="rect">
            <a:avLst/>
          </a:prstGeom>
          <a:noFill/>
          <a:ln/>
        </p:spPr>
        <p:txBody>
          <a:bodyPr wrap="square" lIns="0" tIns="0" rIns="0" bIns="0" rtlCol="0" anchor="ctr"/>
          <a:lstStyle/>
          <a:p>
            <a:pPr marL="0" indent="0" algn="ctr">
              <a:buNone/>
            </a:pPr>
            <a:r>
              <a:rPr lang="en-US" sz="1900" b="1" dirty="0">
                <a:solidFill>
                  <a:srgbClr val="22D3EE"/>
                </a:solidFill>
                <a:latin typeface="Calibri" pitchFamily="34" charset="0"/>
                <a:ea typeface="Calibri" pitchFamily="34" charset="-122"/>
                <a:cs typeface="Calibri" pitchFamily="34" charset="-120"/>
              </a:rPr>
              <a:t>AI recommends.   </a:t>
            </a:r>
            <a:r>
              <a:rPr lang="en-US" sz="1900" b="1" dirty="0">
                <a:solidFill>
                  <a:srgbClr val="FFFFFF"/>
                </a:solidFill>
                <a:latin typeface="Calibri" pitchFamily="34" charset="0"/>
                <a:ea typeface="Calibri" pitchFamily="34" charset="-122"/>
                <a:cs typeface="Calibri" pitchFamily="34" charset="-120"/>
              </a:rPr>
              <a:t>Governance decides.   </a:t>
            </a:r>
            <a:r>
              <a:rPr lang="en-US" sz="1900" b="1" dirty="0">
                <a:solidFill>
                  <a:srgbClr val="C7D2E4"/>
                </a:solidFill>
                <a:latin typeface="Calibri" pitchFamily="34" charset="0"/>
                <a:ea typeface="Calibri" pitchFamily="34" charset="-122"/>
                <a:cs typeface="Calibri" pitchFamily="34" charset="-120"/>
              </a:rPr>
              <a:t>The business remains accountable.</a:t>
            </a:r>
            <a:endParaRPr lang="en-US" sz="1900" dirty="0"/>
          </a:p>
        </p:txBody>
      </p:sp>
      <p:sp>
        <p:nvSpPr>
          <p:cNvPr id="39" name="Text 30"/>
          <p:cNvSpPr/>
          <p:nvPr/>
        </p:nvSpPr>
        <p:spPr>
          <a:xfrm>
            <a:off x="548640" y="6473952"/>
            <a:ext cx="8229600" cy="274320"/>
          </a:xfrm>
          <a:prstGeom prst="rect">
            <a:avLst/>
          </a:prstGeom>
          <a:noFill/>
          <a:ln/>
        </p:spPr>
        <p:txBody>
          <a:bodyPr wrap="square" lIns="0" tIns="0" rIns="0" bIns="0" rtlCol="0" anchor="ctr"/>
          <a:lstStyle/>
          <a:p>
            <a:pPr marL="0" indent="0" algn="l">
              <a:buNone/>
            </a:pPr>
            <a:r>
              <a:rPr lang="en-US" sz="900" dirty="0">
                <a:solidFill>
                  <a:srgbClr val="8A98B5"/>
                </a:solidFill>
                <a:latin typeface="Calibri" pitchFamily="34" charset="0"/>
                <a:ea typeface="Calibri" pitchFamily="34" charset="-122"/>
                <a:cs typeface="Calibri" pitchFamily="34" charset="-120"/>
              </a:rPr>
              <a:t>FraudShield AI  ·  Payment Fraud Sequence Detection (LSTM/RNN)</a:t>
            </a:r>
            <a:endParaRPr lang="en-US" sz="900" dirty="0"/>
          </a:p>
        </p:txBody>
      </p:sp>
      <p:sp>
        <p:nvSpPr>
          <p:cNvPr id="40" name="Text 31"/>
          <p:cNvSpPr/>
          <p:nvPr/>
        </p:nvSpPr>
        <p:spPr>
          <a:xfrm>
            <a:off x="10728655" y="6473952"/>
            <a:ext cx="914400" cy="274320"/>
          </a:xfrm>
          <a:prstGeom prst="rect">
            <a:avLst/>
          </a:prstGeom>
          <a:noFill/>
          <a:ln/>
        </p:spPr>
        <p:txBody>
          <a:bodyPr wrap="square" lIns="0" tIns="0" rIns="0" bIns="0" rtlCol="0" anchor="ctr"/>
          <a:lstStyle/>
          <a:p>
            <a:pPr marL="0" indent="0" algn="r">
              <a:buNone/>
            </a:pPr>
            <a:r>
              <a:rPr lang="en-US" sz="900" dirty="0">
                <a:solidFill>
                  <a:srgbClr val="8A98B5"/>
                </a:solidFill>
                <a:latin typeface="Calibri" pitchFamily="34" charset="0"/>
                <a:ea typeface="Calibri" pitchFamily="34" charset="-122"/>
                <a:cs typeface="Calibri" pitchFamily="34" charset="-120"/>
              </a:rPr>
              <a:t>12 / 15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marL="0" indent="0" algn="l">
              <a:buNone/>
            </a:pPr>
            <a:r>
              <a:rPr lang="en-US" sz="1200" b="1" kern="0" spc="300" dirty="0">
                <a:solidFill>
                  <a:srgbClr val="22D3EE"/>
                </a:solidFill>
                <a:latin typeface="Calibri" pitchFamily="34" charset="0"/>
                <a:ea typeface="Calibri" pitchFamily="34" charset="-122"/>
                <a:cs typeface="Calibri" pitchFamily="34" charset="-120"/>
              </a:rPr>
              <a:t>PRODUCTION ROADMAP</a:t>
            </a:r>
            <a:endParaRPr lang="en-US" sz="1200" dirty="0"/>
          </a:p>
        </p:txBody>
      </p:sp>
      <p:sp>
        <p:nvSpPr>
          <p:cNvPr id="3" name="Text 1"/>
          <p:cNvSpPr/>
          <p:nvPr/>
        </p:nvSpPr>
        <p:spPr>
          <a:xfrm>
            <a:off x="548640" y="658368"/>
            <a:ext cx="8869680" cy="868680"/>
          </a:xfrm>
          <a:prstGeom prst="rect">
            <a:avLst/>
          </a:prstGeom>
          <a:noFill/>
          <a:ln/>
        </p:spPr>
        <p:txBody>
          <a:bodyPr wrap="square" lIns="0" tIns="0" rIns="0" bIns="0" rtlCol="0" anchor="t"/>
          <a:lstStyle/>
          <a:p>
            <a:pPr marL="0" indent="0" algn="l">
              <a:buNone/>
            </a:pPr>
            <a:r>
              <a:rPr lang="en-US" sz="3000" b="1" dirty="0">
                <a:solidFill>
                  <a:srgbClr val="FFFFFF"/>
                </a:solidFill>
                <a:latin typeface="Calibri" pitchFamily="34" charset="0"/>
                <a:ea typeface="Calibri" pitchFamily="34" charset="-122"/>
                <a:cs typeface="Calibri" pitchFamily="34" charset="-120"/>
              </a:rPr>
              <a:t>From a polished MVP to an enterprise-scale platform</a:t>
            </a:r>
            <a:endParaRPr lang="en-US" sz="3000" dirty="0"/>
          </a:p>
        </p:txBody>
      </p:sp>
      <p:sp>
        <p:nvSpPr>
          <p:cNvPr id="5" name="Text 3"/>
          <p:cNvSpPr/>
          <p:nvPr/>
        </p:nvSpPr>
        <p:spPr>
          <a:xfrm>
            <a:off x="8945575" y="457200"/>
            <a:ext cx="2697480" cy="457200"/>
          </a:xfrm>
          <a:prstGeom prst="rect">
            <a:avLst/>
          </a:prstGeom>
          <a:noFill/>
          <a:ln/>
        </p:spPr>
        <p:txBody>
          <a:bodyPr wrap="square" lIns="0" tIns="0" rIns="0" bIns="0" rtlCol="0" anchor="ctr"/>
          <a:lstStyle/>
          <a:p>
            <a:pPr marL="0" indent="0" algn="ctr">
              <a:buNone/>
            </a:pPr>
            <a:endParaRPr lang="en-US" sz="900" dirty="0"/>
          </a:p>
        </p:txBody>
      </p:sp>
      <p:sp>
        <p:nvSpPr>
          <p:cNvPr id="6" name="Shape 4"/>
          <p:cNvSpPr/>
          <p:nvPr/>
        </p:nvSpPr>
        <p:spPr>
          <a:xfrm>
            <a:off x="548640" y="1783080"/>
            <a:ext cx="3515258" cy="4297680"/>
          </a:xfrm>
          <a:prstGeom prst="roundRect">
            <a:avLst>
              <a:gd name="adj" fmla="val 2341"/>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7" name="Shape 5"/>
          <p:cNvSpPr/>
          <p:nvPr/>
        </p:nvSpPr>
        <p:spPr>
          <a:xfrm>
            <a:off x="777240" y="1993392"/>
            <a:ext cx="3058058" cy="658368"/>
          </a:xfrm>
          <a:prstGeom prst="roundRect">
            <a:avLst>
              <a:gd name="adj" fmla="val 11111"/>
            </a:avLst>
          </a:prstGeom>
          <a:solidFill>
            <a:srgbClr val="1B2540"/>
          </a:solidFill>
          <a:ln w="15875">
            <a:solidFill>
              <a:srgbClr val="10B981"/>
            </a:solidFill>
            <a:prstDash val="solid"/>
          </a:ln>
        </p:spPr>
        <p:txBody>
          <a:bodyPr/>
          <a:lstStyle/>
          <a:p>
            <a:endParaRPr lang="en-US"/>
          </a:p>
        </p:txBody>
      </p:sp>
      <p:sp>
        <p:nvSpPr>
          <p:cNvPr id="8" name="Text 6"/>
          <p:cNvSpPr/>
          <p:nvPr/>
        </p:nvSpPr>
        <p:spPr>
          <a:xfrm>
            <a:off x="777240" y="2048256"/>
            <a:ext cx="3058058" cy="365760"/>
          </a:xfrm>
          <a:prstGeom prst="rect">
            <a:avLst/>
          </a:prstGeom>
          <a:noFill/>
          <a:ln/>
        </p:spPr>
        <p:txBody>
          <a:bodyPr wrap="square" lIns="0" tIns="0" rIns="0" bIns="0" rtlCol="0" anchor="ctr"/>
          <a:lstStyle/>
          <a:p>
            <a:pPr marL="0" indent="0" algn="ctr">
              <a:buNone/>
            </a:pPr>
            <a:r>
              <a:rPr lang="en-US" sz="2000" b="1" dirty="0">
                <a:solidFill>
                  <a:srgbClr val="10B981"/>
                </a:solidFill>
                <a:latin typeface="Calibri" pitchFamily="34" charset="0"/>
                <a:ea typeface="Calibri" pitchFamily="34" charset="-122"/>
                <a:cs typeface="Calibri" pitchFamily="34" charset="-120"/>
              </a:rPr>
              <a:t>NOW</a:t>
            </a:r>
            <a:endParaRPr lang="en-US" sz="2000" dirty="0"/>
          </a:p>
        </p:txBody>
      </p:sp>
      <p:sp>
        <p:nvSpPr>
          <p:cNvPr id="9" name="Text 7"/>
          <p:cNvSpPr/>
          <p:nvPr/>
        </p:nvSpPr>
        <p:spPr>
          <a:xfrm>
            <a:off x="777240" y="2395728"/>
            <a:ext cx="3058058" cy="256032"/>
          </a:xfrm>
          <a:prstGeom prst="rect">
            <a:avLst/>
          </a:prstGeom>
          <a:noFill/>
          <a:ln/>
        </p:spPr>
        <p:txBody>
          <a:bodyPr wrap="square" lIns="0" tIns="0" rIns="0" bIns="0" rtlCol="0" anchor="ctr"/>
          <a:lstStyle/>
          <a:p>
            <a:pPr marL="0" indent="0" algn="ctr">
              <a:buNone/>
            </a:pPr>
            <a:r>
              <a:rPr lang="en-US" sz="1050" dirty="0">
                <a:solidFill>
                  <a:srgbClr val="8A98B5"/>
                </a:solidFill>
                <a:latin typeface="Calibri" pitchFamily="34" charset="0"/>
                <a:ea typeface="Calibri" pitchFamily="34" charset="-122"/>
                <a:cs typeface="Calibri" pitchFamily="34" charset="-120"/>
              </a:rPr>
              <a:t>MVP-depth — complete &amp; verified</a:t>
            </a:r>
            <a:endParaRPr lang="en-US" sz="1050" dirty="0"/>
          </a:p>
        </p:txBody>
      </p:sp>
      <p:sp>
        <p:nvSpPr>
          <p:cNvPr id="10" name="Shape 8"/>
          <p:cNvSpPr/>
          <p:nvPr/>
        </p:nvSpPr>
        <p:spPr>
          <a:xfrm>
            <a:off x="822960" y="2880360"/>
            <a:ext cx="118872" cy="118872"/>
          </a:xfrm>
          <a:prstGeom prst="ellipse">
            <a:avLst/>
          </a:prstGeom>
          <a:solidFill>
            <a:srgbClr val="10B981"/>
          </a:solidFill>
          <a:ln/>
        </p:spPr>
        <p:txBody>
          <a:bodyPr/>
          <a:lstStyle/>
          <a:p>
            <a:endParaRPr lang="en-US"/>
          </a:p>
        </p:txBody>
      </p:sp>
      <p:sp>
        <p:nvSpPr>
          <p:cNvPr id="11" name="Text 9"/>
          <p:cNvSpPr/>
          <p:nvPr/>
        </p:nvSpPr>
        <p:spPr>
          <a:xfrm>
            <a:off x="1051560" y="2779776"/>
            <a:ext cx="2783738" cy="320040"/>
          </a:xfrm>
          <a:prstGeom prst="rect">
            <a:avLst/>
          </a:prstGeom>
          <a:noFill/>
          <a:ln/>
        </p:spPr>
        <p:txBody>
          <a:bodyPr wrap="square" lIns="0" tIns="0" rIns="0" bIns="0" rtlCol="0" anchor="t"/>
          <a:lstStyle/>
          <a:p>
            <a:pPr marL="0" indent="0">
              <a:buNone/>
            </a:pPr>
            <a:r>
              <a:rPr lang="en-US" sz="1200" dirty="0">
                <a:solidFill>
                  <a:srgbClr val="C7D2E4"/>
                </a:solidFill>
                <a:latin typeface="Calibri" pitchFamily="34" charset="0"/>
                <a:ea typeface="Calibri" pitchFamily="34" charset="-122"/>
                <a:cs typeface="Calibri" pitchFamily="34" charset="-120"/>
              </a:rPr>
              <a:t>Temporal split + calibration</a:t>
            </a:r>
            <a:endParaRPr lang="en-US" sz="1200" dirty="0"/>
          </a:p>
        </p:txBody>
      </p:sp>
      <p:sp>
        <p:nvSpPr>
          <p:cNvPr id="12" name="Shape 10"/>
          <p:cNvSpPr/>
          <p:nvPr/>
        </p:nvSpPr>
        <p:spPr>
          <a:xfrm>
            <a:off x="822960" y="3232404"/>
            <a:ext cx="118872" cy="118872"/>
          </a:xfrm>
          <a:prstGeom prst="ellipse">
            <a:avLst/>
          </a:prstGeom>
          <a:solidFill>
            <a:srgbClr val="10B981"/>
          </a:solidFill>
          <a:ln/>
        </p:spPr>
        <p:txBody>
          <a:bodyPr/>
          <a:lstStyle/>
          <a:p>
            <a:endParaRPr lang="en-US"/>
          </a:p>
        </p:txBody>
      </p:sp>
      <p:sp>
        <p:nvSpPr>
          <p:cNvPr id="13" name="Text 11"/>
          <p:cNvSpPr/>
          <p:nvPr/>
        </p:nvSpPr>
        <p:spPr>
          <a:xfrm>
            <a:off x="1051560" y="3131820"/>
            <a:ext cx="2783738" cy="320040"/>
          </a:xfrm>
          <a:prstGeom prst="rect">
            <a:avLst/>
          </a:prstGeom>
          <a:noFill/>
          <a:ln/>
        </p:spPr>
        <p:txBody>
          <a:bodyPr wrap="square" lIns="0" tIns="0" rIns="0" bIns="0" rtlCol="0" anchor="t"/>
          <a:lstStyle/>
          <a:p>
            <a:pPr marL="0" indent="0">
              <a:buNone/>
            </a:pPr>
            <a:r>
              <a:rPr lang="en-US" sz="1200" dirty="0">
                <a:solidFill>
                  <a:srgbClr val="C7D2E4"/>
                </a:solidFill>
                <a:latin typeface="Calibri" pitchFamily="34" charset="0"/>
                <a:ea typeface="Calibri" pitchFamily="34" charset="-122"/>
                <a:cs typeface="Calibri" pitchFamily="34" charset="-120"/>
              </a:rPr>
              <a:t>Fraud-appropriate metrics</a:t>
            </a:r>
            <a:endParaRPr lang="en-US" sz="1200" dirty="0"/>
          </a:p>
        </p:txBody>
      </p:sp>
      <p:sp>
        <p:nvSpPr>
          <p:cNvPr id="14" name="Shape 12"/>
          <p:cNvSpPr/>
          <p:nvPr/>
        </p:nvSpPr>
        <p:spPr>
          <a:xfrm>
            <a:off x="822960" y="3584448"/>
            <a:ext cx="118872" cy="118872"/>
          </a:xfrm>
          <a:prstGeom prst="ellipse">
            <a:avLst/>
          </a:prstGeom>
          <a:solidFill>
            <a:srgbClr val="10B981"/>
          </a:solidFill>
          <a:ln/>
        </p:spPr>
        <p:txBody>
          <a:bodyPr/>
          <a:lstStyle/>
          <a:p>
            <a:endParaRPr lang="en-US"/>
          </a:p>
        </p:txBody>
      </p:sp>
      <p:sp>
        <p:nvSpPr>
          <p:cNvPr id="15" name="Text 13"/>
          <p:cNvSpPr/>
          <p:nvPr/>
        </p:nvSpPr>
        <p:spPr>
          <a:xfrm>
            <a:off x="1051560" y="3483864"/>
            <a:ext cx="2783738" cy="320040"/>
          </a:xfrm>
          <a:prstGeom prst="rect">
            <a:avLst/>
          </a:prstGeom>
          <a:noFill/>
          <a:ln/>
        </p:spPr>
        <p:txBody>
          <a:bodyPr wrap="square" lIns="0" tIns="0" rIns="0" bIns="0" rtlCol="0" anchor="t"/>
          <a:lstStyle/>
          <a:p>
            <a:pPr marL="0" indent="0">
              <a:buNone/>
            </a:pPr>
            <a:r>
              <a:rPr lang="en-US" sz="1200" dirty="0">
                <a:solidFill>
                  <a:srgbClr val="C7D2E4"/>
                </a:solidFill>
                <a:latin typeface="Calibri" pitchFamily="34" charset="0"/>
                <a:ea typeface="Calibri" pitchFamily="34" charset="-122"/>
                <a:cs typeface="Calibri" pitchFamily="34" charset="-120"/>
              </a:rPr>
              <a:t>API-key auth + request IDs</a:t>
            </a:r>
            <a:endParaRPr lang="en-US" sz="1200" dirty="0"/>
          </a:p>
        </p:txBody>
      </p:sp>
      <p:sp>
        <p:nvSpPr>
          <p:cNvPr id="16" name="Shape 14"/>
          <p:cNvSpPr/>
          <p:nvPr/>
        </p:nvSpPr>
        <p:spPr>
          <a:xfrm>
            <a:off x="822960" y="3936492"/>
            <a:ext cx="118872" cy="118872"/>
          </a:xfrm>
          <a:prstGeom prst="ellipse">
            <a:avLst/>
          </a:prstGeom>
          <a:solidFill>
            <a:srgbClr val="10B981"/>
          </a:solidFill>
          <a:ln/>
        </p:spPr>
        <p:txBody>
          <a:bodyPr/>
          <a:lstStyle/>
          <a:p>
            <a:endParaRPr lang="en-US"/>
          </a:p>
        </p:txBody>
      </p:sp>
      <p:sp>
        <p:nvSpPr>
          <p:cNvPr id="17" name="Text 15"/>
          <p:cNvSpPr/>
          <p:nvPr/>
        </p:nvSpPr>
        <p:spPr>
          <a:xfrm>
            <a:off x="1051560" y="3835908"/>
            <a:ext cx="2783738" cy="320040"/>
          </a:xfrm>
          <a:prstGeom prst="rect">
            <a:avLst/>
          </a:prstGeom>
          <a:noFill/>
          <a:ln/>
        </p:spPr>
        <p:txBody>
          <a:bodyPr wrap="square" lIns="0" tIns="0" rIns="0" bIns="0" rtlCol="0" anchor="t"/>
          <a:lstStyle/>
          <a:p>
            <a:pPr marL="0" indent="0">
              <a:buNone/>
            </a:pPr>
            <a:r>
              <a:rPr lang="en-US" sz="1200" dirty="0">
                <a:solidFill>
                  <a:srgbClr val="C7D2E4"/>
                </a:solidFill>
                <a:latin typeface="Calibri" pitchFamily="34" charset="0"/>
                <a:ea typeface="Calibri" pitchFamily="34" charset="-122"/>
                <a:cs typeface="Calibri" pitchFamily="34" charset="-120"/>
              </a:rPr>
              <a:t>SQLite/Postgres audit trail</a:t>
            </a:r>
            <a:endParaRPr lang="en-US" sz="1200" dirty="0"/>
          </a:p>
        </p:txBody>
      </p:sp>
      <p:sp>
        <p:nvSpPr>
          <p:cNvPr id="18" name="Shape 16"/>
          <p:cNvSpPr/>
          <p:nvPr/>
        </p:nvSpPr>
        <p:spPr>
          <a:xfrm>
            <a:off x="822960" y="4288536"/>
            <a:ext cx="118872" cy="118872"/>
          </a:xfrm>
          <a:prstGeom prst="ellipse">
            <a:avLst/>
          </a:prstGeom>
          <a:solidFill>
            <a:srgbClr val="10B981"/>
          </a:solidFill>
          <a:ln/>
        </p:spPr>
        <p:txBody>
          <a:bodyPr/>
          <a:lstStyle/>
          <a:p>
            <a:endParaRPr lang="en-US"/>
          </a:p>
        </p:txBody>
      </p:sp>
      <p:sp>
        <p:nvSpPr>
          <p:cNvPr id="19" name="Text 17"/>
          <p:cNvSpPr/>
          <p:nvPr/>
        </p:nvSpPr>
        <p:spPr>
          <a:xfrm>
            <a:off x="1051560" y="4187952"/>
            <a:ext cx="2783738" cy="320040"/>
          </a:xfrm>
          <a:prstGeom prst="rect">
            <a:avLst/>
          </a:prstGeom>
          <a:noFill/>
          <a:ln/>
        </p:spPr>
        <p:txBody>
          <a:bodyPr wrap="square" lIns="0" tIns="0" rIns="0" bIns="0" rtlCol="0" anchor="t"/>
          <a:lstStyle/>
          <a:p>
            <a:pPr marL="0" indent="0">
              <a:buNone/>
            </a:pPr>
            <a:r>
              <a:rPr lang="en-US" sz="1200" dirty="0">
                <a:solidFill>
                  <a:srgbClr val="C7D2E4"/>
                </a:solidFill>
                <a:latin typeface="Calibri" pitchFamily="34" charset="0"/>
                <a:ea typeface="Calibri" pitchFamily="34" charset="-122"/>
                <a:cs typeface="Calibri" pitchFamily="34" charset="-120"/>
              </a:rPr>
              <a:t>Prometheus /metrics</a:t>
            </a:r>
            <a:endParaRPr lang="en-US" sz="1200" dirty="0"/>
          </a:p>
        </p:txBody>
      </p:sp>
      <p:sp>
        <p:nvSpPr>
          <p:cNvPr id="20" name="Shape 18"/>
          <p:cNvSpPr/>
          <p:nvPr/>
        </p:nvSpPr>
        <p:spPr>
          <a:xfrm>
            <a:off x="822960" y="4640580"/>
            <a:ext cx="118872" cy="118872"/>
          </a:xfrm>
          <a:prstGeom prst="ellipse">
            <a:avLst/>
          </a:prstGeom>
          <a:solidFill>
            <a:srgbClr val="10B981"/>
          </a:solidFill>
          <a:ln/>
        </p:spPr>
        <p:txBody>
          <a:bodyPr/>
          <a:lstStyle/>
          <a:p>
            <a:endParaRPr lang="en-US"/>
          </a:p>
        </p:txBody>
      </p:sp>
      <p:sp>
        <p:nvSpPr>
          <p:cNvPr id="21" name="Text 19"/>
          <p:cNvSpPr/>
          <p:nvPr/>
        </p:nvSpPr>
        <p:spPr>
          <a:xfrm>
            <a:off x="1051560" y="4539996"/>
            <a:ext cx="2783738" cy="320040"/>
          </a:xfrm>
          <a:prstGeom prst="rect">
            <a:avLst/>
          </a:prstGeom>
          <a:noFill/>
          <a:ln/>
        </p:spPr>
        <p:txBody>
          <a:bodyPr wrap="square" lIns="0" tIns="0" rIns="0" bIns="0" rtlCol="0" anchor="t"/>
          <a:lstStyle/>
          <a:p>
            <a:pPr marL="0" indent="0">
              <a:buNone/>
            </a:pPr>
            <a:r>
              <a:rPr lang="en-US" sz="1200" dirty="0">
                <a:solidFill>
                  <a:srgbClr val="C7D2E4"/>
                </a:solidFill>
                <a:latin typeface="Calibri" pitchFamily="34" charset="0"/>
                <a:ea typeface="Calibri" pitchFamily="34" charset="-122"/>
                <a:cs typeface="Calibri" pitchFamily="34" charset="-120"/>
              </a:rPr>
              <a:t>API versioning (/api/v1)</a:t>
            </a:r>
            <a:endParaRPr lang="en-US" sz="1200" dirty="0"/>
          </a:p>
        </p:txBody>
      </p:sp>
      <p:sp>
        <p:nvSpPr>
          <p:cNvPr id="22" name="Shape 20"/>
          <p:cNvSpPr/>
          <p:nvPr/>
        </p:nvSpPr>
        <p:spPr>
          <a:xfrm>
            <a:off x="822960" y="4992624"/>
            <a:ext cx="118872" cy="118872"/>
          </a:xfrm>
          <a:prstGeom prst="ellipse">
            <a:avLst/>
          </a:prstGeom>
          <a:solidFill>
            <a:srgbClr val="10B981"/>
          </a:solidFill>
          <a:ln/>
        </p:spPr>
        <p:txBody>
          <a:bodyPr/>
          <a:lstStyle/>
          <a:p>
            <a:endParaRPr lang="en-US"/>
          </a:p>
        </p:txBody>
      </p:sp>
      <p:sp>
        <p:nvSpPr>
          <p:cNvPr id="23" name="Text 21"/>
          <p:cNvSpPr/>
          <p:nvPr/>
        </p:nvSpPr>
        <p:spPr>
          <a:xfrm>
            <a:off x="1051560" y="4892040"/>
            <a:ext cx="2783738" cy="320040"/>
          </a:xfrm>
          <a:prstGeom prst="rect">
            <a:avLst/>
          </a:prstGeom>
          <a:noFill/>
          <a:ln/>
        </p:spPr>
        <p:txBody>
          <a:bodyPr wrap="square" lIns="0" tIns="0" rIns="0" bIns="0" rtlCol="0" anchor="t"/>
          <a:lstStyle/>
          <a:p>
            <a:pPr marL="0" indent="0">
              <a:buNone/>
            </a:pPr>
            <a:r>
              <a:rPr lang="en-US" sz="1200" dirty="0">
                <a:solidFill>
                  <a:srgbClr val="C7D2E4"/>
                </a:solidFill>
                <a:latin typeface="Calibri" pitchFamily="34" charset="0"/>
                <a:ea typeface="Calibri" pitchFamily="34" charset="-122"/>
                <a:cs typeface="Calibri" pitchFamily="34" charset="-120"/>
              </a:rPr>
              <a:t>Explainability endpoint</a:t>
            </a:r>
            <a:endParaRPr lang="en-US" sz="1200" dirty="0"/>
          </a:p>
        </p:txBody>
      </p:sp>
      <p:sp>
        <p:nvSpPr>
          <p:cNvPr id="24" name="Shape 22"/>
          <p:cNvSpPr/>
          <p:nvPr/>
        </p:nvSpPr>
        <p:spPr>
          <a:xfrm>
            <a:off x="822960" y="5344668"/>
            <a:ext cx="118872" cy="118872"/>
          </a:xfrm>
          <a:prstGeom prst="ellipse">
            <a:avLst/>
          </a:prstGeom>
          <a:solidFill>
            <a:srgbClr val="10B981"/>
          </a:solidFill>
          <a:ln/>
        </p:spPr>
        <p:txBody>
          <a:bodyPr/>
          <a:lstStyle/>
          <a:p>
            <a:endParaRPr lang="en-US"/>
          </a:p>
        </p:txBody>
      </p:sp>
      <p:sp>
        <p:nvSpPr>
          <p:cNvPr id="25" name="Text 23"/>
          <p:cNvSpPr/>
          <p:nvPr/>
        </p:nvSpPr>
        <p:spPr>
          <a:xfrm>
            <a:off x="1051560" y="5244084"/>
            <a:ext cx="2783738" cy="320040"/>
          </a:xfrm>
          <a:prstGeom prst="rect">
            <a:avLst/>
          </a:prstGeom>
          <a:noFill/>
          <a:ln/>
        </p:spPr>
        <p:txBody>
          <a:bodyPr wrap="square" lIns="0" tIns="0" rIns="0" bIns="0" rtlCol="0" anchor="t"/>
          <a:lstStyle/>
          <a:p>
            <a:pPr marL="0" indent="0">
              <a:buNone/>
            </a:pPr>
            <a:r>
              <a:rPr lang="en-US" sz="1200" dirty="0">
                <a:solidFill>
                  <a:srgbClr val="C7D2E4"/>
                </a:solidFill>
                <a:latin typeface="Calibri" pitchFamily="34" charset="0"/>
                <a:ea typeface="Calibri" pitchFamily="34" charset="-122"/>
                <a:cs typeface="Calibri" pitchFamily="34" charset="-120"/>
              </a:rPr>
              <a:t>Docker + CI + MLflow seam</a:t>
            </a:r>
            <a:endParaRPr lang="en-US" sz="1200" dirty="0"/>
          </a:p>
        </p:txBody>
      </p:sp>
      <p:sp>
        <p:nvSpPr>
          <p:cNvPr id="26" name="Shape 24"/>
          <p:cNvSpPr/>
          <p:nvPr/>
        </p:nvSpPr>
        <p:spPr>
          <a:xfrm>
            <a:off x="822960" y="5696712"/>
            <a:ext cx="118872" cy="118872"/>
          </a:xfrm>
          <a:prstGeom prst="ellipse">
            <a:avLst/>
          </a:prstGeom>
          <a:solidFill>
            <a:srgbClr val="10B981"/>
          </a:solidFill>
          <a:ln/>
        </p:spPr>
        <p:txBody>
          <a:bodyPr/>
          <a:lstStyle/>
          <a:p>
            <a:endParaRPr lang="en-US"/>
          </a:p>
        </p:txBody>
      </p:sp>
      <p:sp>
        <p:nvSpPr>
          <p:cNvPr id="27" name="Text 25"/>
          <p:cNvSpPr/>
          <p:nvPr/>
        </p:nvSpPr>
        <p:spPr>
          <a:xfrm>
            <a:off x="1051560" y="5596128"/>
            <a:ext cx="2783738" cy="320040"/>
          </a:xfrm>
          <a:prstGeom prst="rect">
            <a:avLst/>
          </a:prstGeom>
          <a:noFill/>
          <a:ln/>
        </p:spPr>
        <p:txBody>
          <a:bodyPr wrap="square" lIns="0" tIns="0" rIns="0" bIns="0" rtlCol="0" anchor="t"/>
          <a:lstStyle/>
          <a:p>
            <a:pPr marL="0" indent="0">
              <a:buNone/>
            </a:pPr>
            <a:r>
              <a:rPr lang="en-US" sz="1200" dirty="0">
                <a:solidFill>
                  <a:srgbClr val="C7D2E4"/>
                </a:solidFill>
                <a:latin typeface="Calibri" pitchFamily="34" charset="0"/>
                <a:ea typeface="Calibri" pitchFamily="34" charset="-122"/>
                <a:cs typeface="Calibri" pitchFamily="34" charset="-120"/>
              </a:rPr>
              <a:t>16 passing tests</a:t>
            </a:r>
            <a:endParaRPr lang="en-US" sz="1200" dirty="0"/>
          </a:p>
        </p:txBody>
      </p:sp>
      <p:sp>
        <p:nvSpPr>
          <p:cNvPr id="28" name="Shape 26"/>
          <p:cNvSpPr/>
          <p:nvPr/>
        </p:nvSpPr>
        <p:spPr>
          <a:xfrm>
            <a:off x="4338218" y="1783080"/>
            <a:ext cx="3515258" cy="4297680"/>
          </a:xfrm>
          <a:prstGeom prst="roundRect">
            <a:avLst>
              <a:gd name="adj" fmla="val 2341"/>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29" name="Shape 27"/>
          <p:cNvSpPr/>
          <p:nvPr/>
        </p:nvSpPr>
        <p:spPr>
          <a:xfrm>
            <a:off x="4566818" y="1993392"/>
            <a:ext cx="3058058" cy="658368"/>
          </a:xfrm>
          <a:prstGeom prst="roundRect">
            <a:avLst>
              <a:gd name="adj" fmla="val 11111"/>
            </a:avLst>
          </a:prstGeom>
          <a:solidFill>
            <a:srgbClr val="1B2540"/>
          </a:solidFill>
          <a:ln w="15875">
            <a:solidFill>
              <a:srgbClr val="F59E0B"/>
            </a:solidFill>
            <a:prstDash val="solid"/>
          </a:ln>
        </p:spPr>
        <p:txBody>
          <a:bodyPr/>
          <a:lstStyle/>
          <a:p>
            <a:endParaRPr lang="en-US"/>
          </a:p>
        </p:txBody>
      </p:sp>
      <p:sp>
        <p:nvSpPr>
          <p:cNvPr id="30" name="Text 28"/>
          <p:cNvSpPr/>
          <p:nvPr/>
        </p:nvSpPr>
        <p:spPr>
          <a:xfrm>
            <a:off x="4566818" y="2048256"/>
            <a:ext cx="3058058" cy="365760"/>
          </a:xfrm>
          <a:prstGeom prst="rect">
            <a:avLst/>
          </a:prstGeom>
          <a:noFill/>
          <a:ln/>
        </p:spPr>
        <p:txBody>
          <a:bodyPr wrap="square" lIns="0" tIns="0" rIns="0" bIns="0" rtlCol="0" anchor="ctr"/>
          <a:lstStyle/>
          <a:p>
            <a:pPr marL="0" indent="0" algn="ctr">
              <a:buNone/>
            </a:pPr>
            <a:r>
              <a:rPr lang="en-US" sz="2000" b="1" dirty="0">
                <a:solidFill>
                  <a:srgbClr val="F59E0B"/>
                </a:solidFill>
                <a:latin typeface="Calibri" pitchFamily="34" charset="0"/>
                <a:ea typeface="Calibri" pitchFamily="34" charset="-122"/>
                <a:cs typeface="Calibri" pitchFamily="34" charset="-120"/>
              </a:rPr>
              <a:t>NEXT</a:t>
            </a:r>
            <a:endParaRPr lang="en-US" sz="2000" dirty="0"/>
          </a:p>
        </p:txBody>
      </p:sp>
      <p:sp>
        <p:nvSpPr>
          <p:cNvPr id="31" name="Text 29"/>
          <p:cNvSpPr/>
          <p:nvPr/>
        </p:nvSpPr>
        <p:spPr>
          <a:xfrm>
            <a:off x="4566818" y="2395728"/>
            <a:ext cx="3058058" cy="256032"/>
          </a:xfrm>
          <a:prstGeom prst="rect">
            <a:avLst/>
          </a:prstGeom>
          <a:noFill/>
          <a:ln/>
        </p:spPr>
        <p:txBody>
          <a:bodyPr wrap="square" lIns="0" tIns="0" rIns="0" bIns="0" rtlCol="0" anchor="ctr"/>
          <a:lstStyle/>
          <a:p>
            <a:pPr marL="0" indent="0" algn="ctr">
              <a:buNone/>
            </a:pPr>
            <a:r>
              <a:rPr lang="en-US" sz="1050" dirty="0">
                <a:solidFill>
                  <a:srgbClr val="8A98B5"/>
                </a:solidFill>
                <a:latin typeface="Calibri" pitchFamily="34" charset="0"/>
                <a:ea typeface="Calibri" pitchFamily="34" charset="-122"/>
                <a:cs typeface="Calibri" pitchFamily="34" charset="-120"/>
              </a:rPr>
              <a:t>Pilot hardening</a:t>
            </a:r>
            <a:endParaRPr lang="en-US" sz="1050" dirty="0"/>
          </a:p>
        </p:txBody>
      </p:sp>
      <p:sp>
        <p:nvSpPr>
          <p:cNvPr id="32" name="Shape 30"/>
          <p:cNvSpPr/>
          <p:nvPr/>
        </p:nvSpPr>
        <p:spPr>
          <a:xfrm>
            <a:off x="4612538" y="2880360"/>
            <a:ext cx="118872" cy="118872"/>
          </a:xfrm>
          <a:prstGeom prst="ellipse">
            <a:avLst/>
          </a:prstGeom>
          <a:solidFill>
            <a:srgbClr val="F59E0B"/>
          </a:solidFill>
          <a:ln/>
        </p:spPr>
        <p:txBody>
          <a:bodyPr/>
          <a:lstStyle/>
          <a:p>
            <a:endParaRPr lang="en-US"/>
          </a:p>
        </p:txBody>
      </p:sp>
      <p:sp>
        <p:nvSpPr>
          <p:cNvPr id="33" name="Text 31"/>
          <p:cNvSpPr/>
          <p:nvPr/>
        </p:nvSpPr>
        <p:spPr>
          <a:xfrm>
            <a:off x="4841138" y="2779776"/>
            <a:ext cx="2783738" cy="320040"/>
          </a:xfrm>
          <a:prstGeom prst="rect">
            <a:avLst/>
          </a:prstGeom>
          <a:noFill/>
          <a:ln/>
        </p:spPr>
        <p:txBody>
          <a:bodyPr wrap="square" lIns="0" tIns="0" rIns="0" bIns="0" rtlCol="0" anchor="t"/>
          <a:lstStyle/>
          <a:p>
            <a:pPr marL="0" indent="0">
              <a:buNone/>
            </a:pPr>
            <a:r>
              <a:rPr lang="en-US" sz="1200" dirty="0">
                <a:solidFill>
                  <a:srgbClr val="C7D2E4"/>
                </a:solidFill>
                <a:latin typeface="Calibri" pitchFamily="34" charset="0"/>
                <a:ea typeface="Calibri" pitchFamily="34" charset="-122"/>
                <a:cs typeface="Calibri" pitchFamily="34" charset="-120"/>
              </a:rPr>
              <a:t>Real PaySim / institution data</a:t>
            </a:r>
            <a:endParaRPr lang="en-US" sz="1200" dirty="0"/>
          </a:p>
        </p:txBody>
      </p:sp>
      <p:sp>
        <p:nvSpPr>
          <p:cNvPr id="34" name="Shape 32"/>
          <p:cNvSpPr/>
          <p:nvPr/>
        </p:nvSpPr>
        <p:spPr>
          <a:xfrm>
            <a:off x="4612538" y="3232404"/>
            <a:ext cx="118872" cy="118872"/>
          </a:xfrm>
          <a:prstGeom prst="ellipse">
            <a:avLst/>
          </a:prstGeom>
          <a:solidFill>
            <a:srgbClr val="F59E0B"/>
          </a:solidFill>
          <a:ln/>
        </p:spPr>
        <p:txBody>
          <a:bodyPr/>
          <a:lstStyle/>
          <a:p>
            <a:endParaRPr lang="en-US"/>
          </a:p>
        </p:txBody>
      </p:sp>
      <p:sp>
        <p:nvSpPr>
          <p:cNvPr id="35" name="Text 33"/>
          <p:cNvSpPr/>
          <p:nvPr/>
        </p:nvSpPr>
        <p:spPr>
          <a:xfrm>
            <a:off x="4841138" y="3131820"/>
            <a:ext cx="2783738" cy="320040"/>
          </a:xfrm>
          <a:prstGeom prst="rect">
            <a:avLst/>
          </a:prstGeom>
          <a:noFill/>
          <a:ln/>
        </p:spPr>
        <p:txBody>
          <a:bodyPr wrap="square" lIns="0" tIns="0" rIns="0" bIns="0" rtlCol="0" anchor="t"/>
          <a:lstStyle/>
          <a:p>
            <a:pPr marL="0" indent="0">
              <a:buNone/>
            </a:pPr>
            <a:r>
              <a:rPr lang="en-US" sz="1200" dirty="0">
                <a:solidFill>
                  <a:srgbClr val="C7D2E4"/>
                </a:solidFill>
                <a:latin typeface="Calibri" pitchFamily="34" charset="0"/>
                <a:ea typeface="Calibri" pitchFamily="34" charset="-122"/>
                <a:cs typeface="Calibri" pitchFamily="34" charset="-120"/>
              </a:rPr>
              <a:t>Load testing to prove p99 SLO</a:t>
            </a:r>
            <a:endParaRPr lang="en-US" sz="1200" dirty="0"/>
          </a:p>
        </p:txBody>
      </p:sp>
      <p:sp>
        <p:nvSpPr>
          <p:cNvPr id="36" name="Shape 34"/>
          <p:cNvSpPr/>
          <p:nvPr/>
        </p:nvSpPr>
        <p:spPr>
          <a:xfrm>
            <a:off x="4612538" y="3584448"/>
            <a:ext cx="118872" cy="118872"/>
          </a:xfrm>
          <a:prstGeom prst="ellipse">
            <a:avLst/>
          </a:prstGeom>
          <a:solidFill>
            <a:srgbClr val="F59E0B"/>
          </a:solidFill>
          <a:ln/>
        </p:spPr>
        <p:txBody>
          <a:bodyPr/>
          <a:lstStyle/>
          <a:p>
            <a:endParaRPr lang="en-US"/>
          </a:p>
        </p:txBody>
      </p:sp>
      <p:sp>
        <p:nvSpPr>
          <p:cNvPr id="37" name="Text 35"/>
          <p:cNvSpPr/>
          <p:nvPr/>
        </p:nvSpPr>
        <p:spPr>
          <a:xfrm>
            <a:off x="4841138" y="3483864"/>
            <a:ext cx="2783738" cy="320040"/>
          </a:xfrm>
          <a:prstGeom prst="rect">
            <a:avLst/>
          </a:prstGeom>
          <a:noFill/>
          <a:ln/>
        </p:spPr>
        <p:txBody>
          <a:bodyPr wrap="square" lIns="0" tIns="0" rIns="0" bIns="0" rtlCol="0" anchor="t"/>
          <a:lstStyle/>
          <a:p>
            <a:pPr marL="0" indent="0">
              <a:buNone/>
            </a:pPr>
            <a:r>
              <a:rPr lang="en-US" sz="1200" dirty="0">
                <a:solidFill>
                  <a:srgbClr val="C7D2E4"/>
                </a:solidFill>
                <a:latin typeface="Calibri" pitchFamily="34" charset="0"/>
                <a:ea typeface="Calibri" pitchFamily="34" charset="-122"/>
                <a:cs typeface="Calibri" pitchFamily="34" charset="-120"/>
              </a:rPr>
              <a:t>Managed feature store</a:t>
            </a:r>
            <a:endParaRPr lang="en-US" sz="1200" dirty="0"/>
          </a:p>
        </p:txBody>
      </p:sp>
      <p:sp>
        <p:nvSpPr>
          <p:cNvPr id="38" name="Shape 36"/>
          <p:cNvSpPr/>
          <p:nvPr/>
        </p:nvSpPr>
        <p:spPr>
          <a:xfrm>
            <a:off x="4612538" y="3936492"/>
            <a:ext cx="118872" cy="118872"/>
          </a:xfrm>
          <a:prstGeom prst="ellipse">
            <a:avLst/>
          </a:prstGeom>
          <a:solidFill>
            <a:srgbClr val="F59E0B"/>
          </a:solidFill>
          <a:ln/>
        </p:spPr>
        <p:txBody>
          <a:bodyPr/>
          <a:lstStyle/>
          <a:p>
            <a:endParaRPr lang="en-US"/>
          </a:p>
        </p:txBody>
      </p:sp>
      <p:sp>
        <p:nvSpPr>
          <p:cNvPr id="39" name="Text 37"/>
          <p:cNvSpPr/>
          <p:nvPr/>
        </p:nvSpPr>
        <p:spPr>
          <a:xfrm>
            <a:off x="4841138" y="3835908"/>
            <a:ext cx="2783738" cy="320040"/>
          </a:xfrm>
          <a:prstGeom prst="rect">
            <a:avLst/>
          </a:prstGeom>
          <a:noFill/>
          <a:ln/>
        </p:spPr>
        <p:txBody>
          <a:bodyPr wrap="square" lIns="0" tIns="0" rIns="0" bIns="0" rtlCol="0" anchor="t"/>
          <a:lstStyle/>
          <a:p>
            <a:pPr marL="0" indent="0">
              <a:buNone/>
            </a:pPr>
            <a:r>
              <a:rPr lang="en-US" sz="1200" dirty="0">
                <a:solidFill>
                  <a:srgbClr val="C7D2E4"/>
                </a:solidFill>
                <a:latin typeface="Calibri" pitchFamily="34" charset="0"/>
                <a:ea typeface="Calibri" pitchFamily="34" charset="-122"/>
                <a:cs typeface="Calibri" pitchFamily="34" charset="-120"/>
              </a:rPr>
              <a:t>Case-management workflow</a:t>
            </a:r>
            <a:endParaRPr lang="en-US" sz="1200" dirty="0"/>
          </a:p>
        </p:txBody>
      </p:sp>
      <p:sp>
        <p:nvSpPr>
          <p:cNvPr id="40" name="Shape 38"/>
          <p:cNvSpPr/>
          <p:nvPr/>
        </p:nvSpPr>
        <p:spPr>
          <a:xfrm>
            <a:off x="4612538" y="4288536"/>
            <a:ext cx="118872" cy="118872"/>
          </a:xfrm>
          <a:prstGeom prst="ellipse">
            <a:avLst/>
          </a:prstGeom>
          <a:solidFill>
            <a:srgbClr val="F59E0B"/>
          </a:solidFill>
          <a:ln/>
        </p:spPr>
        <p:txBody>
          <a:bodyPr/>
          <a:lstStyle/>
          <a:p>
            <a:endParaRPr lang="en-US"/>
          </a:p>
        </p:txBody>
      </p:sp>
      <p:sp>
        <p:nvSpPr>
          <p:cNvPr id="41" name="Text 39"/>
          <p:cNvSpPr/>
          <p:nvPr/>
        </p:nvSpPr>
        <p:spPr>
          <a:xfrm>
            <a:off x="4841138" y="4187952"/>
            <a:ext cx="2783738" cy="320040"/>
          </a:xfrm>
          <a:prstGeom prst="rect">
            <a:avLst/>
          </a:prstGeom>
          <a:noFill/>
          <a:ln/>
        </p:spPr>
        <p:txBody>
          <a:bodyPr wrap="square" lIns="0" tIns="0" rIns="0" bIns="0" rtlCol="0" anchor="t"/>
          <a:lstStyle/>
          <a:p>
            <a:pPr marL="0" indent="0">
              <a:buNone/>
            </a:pPr>
            <a:r>
              <a:rPr lang="en-US" sz="1200" dirty="0">
                <a:solidFill>
                  <a:srgbClr val="C7D2E4"/>
                </a:solidFill>
                <a:latin typeface="Calibri" pitchFamily="34" charset="0"/>
                <a:ea typeface="Calibri" pitchFamily="34" charset="-122"/>
                <a:cs typeface="Calibri" pitchFamily="34" charset="-120"/>
              </a:rPr>
              <a:t>Canary rollout + rollback</a:t>
            </a:r>
            <a:endParaRPr lang="en-US" sz="1200" dirty="0"/>
          </a:p>
        </p:txBody>
      </p:sp>
      <p:sp>
        <p:nvSpPr>
          <p:cNvPr id="42" name="Shape 40"/>
          <p:cNvSpPr/>
          <p:nvPr/>
        </p:nvSpPr>
        <p:spPr>
          <a:xfrm>
            <a:off x="8127797" y="1783080"/>
            <a:ext cx="3515258" cy="4297680"/>
          </a:xfrm>
          <a:prstGeom prst="roundRect">
            <a:avLst>
              <a:gd name="adj" fmla="val 2341"/>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43" name="Shape 41"/>
          <p:cNvSpPr/>
          <p:nvPr/>
        </p:nvSpPr>
        <p:spPr>
          <a:xfrm>
            <a:off x="8356397" y="1993392"/>
            <a:ext cx="3058058" cy="658368"/>
          </a:xfrm>
          <a:prstGeom prst="roundRect">
            <a:avLst>
              <a:gd name="adj" fmla="val 11111"/>
            </a:avLst>
          </a:prstGeom>
          <a:solidFill>
            <a:srgbClr val="1B2540"/>
          </a:solidFill>
          <a:ln w="15875">
            <a:solidFill>
              <a:srgbClr val="A78BFA"/>
            </a:solidFill>
            <a:prstDash val="solid"/>
          </a:ln>
        </p:spPr>
        <p:txBody>
          <a:bodyPr/>
          <a:lstStyle/>
          <a:p>
            <a:endParaRPr lang="en-US"/>
          </a:p>
        </p:txBody>
      </p:sp>
      <p:sp>
        <p:nvSpPr>
          <p:cNvPr id="44" name="Text 42"/>
          <p:cNvSpPr/>
          <p:nvPr/>
        </p:nvSpPr>
        <p:spPr>
          <a:xfrm>
            <a:off x="8356397" y="2048256"/>
            <a:ext cx="3058058" cy="365760"/>
          </a:xfrm>
          <a:prstGeom prst="rect">
            <a:avLst/>
          </a:prstGeom>
          <a:noFill/>
          <a:ln/>
        </p:spPr>
        <p:txBody>
          <a:bodyPr wrap="square" lIns="0" tIns="0" rIns="0" bIns="0" rtlCol="0" anchor="ctr"/>
          <a:lstStyle/>
          <a:p>
            <a:pPr marL="0" indent="0" algn="ctr">
              <a:buNone/>
            </a:pPr>
            <a:r>
              <a:rPr lang="en-US" sz="2000" b="1" dirty="0">
                <a:solidFill>
                  <a:srgbClr val="A78BFA"/>
                </a:solidFill>
                <a:latin typeface="Calibri" pitchFamily="34" charset="0"/>
                <a:ea typeface="Calibri" pitchFamily="34" charset="-122"/>
                <a:cs typeface="Calibri" pitchFamily="34" charset="-120"/>
              </a:rPr>
              <a:t>SCALE</a:t>
            </a:r>
            <a:endParaRPr lang="en-US" sz="2000" dirty="0"/>
          </a:p>
        </p:txBody>
      </p:sp>
      <p:sp>
        <p:nvSpPr>
          <p:cNvPr id="45" name="Text 43"/>
          <p:cNvSpPr/>
          <p:nvPr/>
        </p:nvSpPr>
        <p:spPr>
          <a:xfrm>
            <a:off x="8356397" y="2395728"/>
            <a:ext cx="3058058" cy="256032"/>
          </a:xfrm>
          <a:prstGeom prst="rect">
            <a:avLst/>
          </a:prstGeom>
          <a:noFill/>
          <a:ln/>
        </p:spPr>
        <p:txBody>
          <a:bodyPr wrap="square" lIns="0" tIns="0" rIns="0" bIns="0" rtlCol="0" anchor="ctr"/>
          <a:lstStyle/>
          <a:p>
            <a:pPr marL="0" indent="0" algn="ctr">
              <a:buNone/>
            </a:pPr>
            <a:r>
              <a:rPr lang="en-US" sz="1050" dirty="0">
                <a:solidFill>
                  <a:srgbClr val="8A98B5"/>
                </a:solidFill>
                <a:latin typeface="Calibri" pitchFamily="34" charset="0"/>
                <a:ea typeface="Calibri" pitchFamily="34" charset="-122"/>
                <a:cs typeface="Calibri" pitchFamily="34" charset="-120"/>
              </a:rPr>
              <a:t>Enterprise platform</a:t>
            </a:r>
            <a:endParaRPr lang="en-US" sz="1050" dirty="0"/>
          </a:p>
        </p:txBody>
      </p:sp>
      <p:sp>
        <p:nvSpPr>
          <p:cNvPr id="46" name="Shape 44"/>
          <p:cNvSpPr/>
          <p:nvPr/>
        </p:nvSpPr>
        <p:spPr>
          <a:xfrm>
            <a:off x="8402117" y="2880360"/>
            <a:ext cx="118872" cy="118872"/>
          </a:xfrm>
          <a:prstGeom prst="ellipse">
            <a:avLst/>
          </a:prstGeom>
          <a:solidFill>
            <a:srgbClr val="A78BFA"/>
          </a:solidFill>
          <a:ln/>
        </p:spPr>
        <p:txBody>
          <a:bodyPr/>
          <a:lstStyle/>
          <a:p>
            <a:endParaRPr lang="en-US"/>
          </a:p>
        </p:txBody>
      </p:sp>
      <p:sp>
        <p:nvSpPr>
          <p:cNvPr id="47" name="Text 45"/>
          <p:cNvSpPr/>
          <p:nvPr/>
        </p:nvSpPr>
        <p:spPr>
          <a:xfrm>
            <a:off x="8630717" y="2779776"/>
            <a:ext cx="2783738" cy="320040"/>
          </a:xfrm>
          <a:prstGeom prst="rect">
            <a:avLst/>
          </a:prstGeom>
          <a:noFill/>
          <a:ln/>
        </p:spPr>
        <p:txBody>
          <a:bodyPr wrap="square" lIns="0" tIns="0" rIns="0" bIns="0" rtlCol="0" anchor="t"/>
          <a:lstStyle/>
          <a:p>
            <a:pPr marL="0" indent="0">
              <a:buNone/>
            </a:pPr>
            <a:r>
              <a:rPr lang="en-US" sz="1200" dirty="0">
                <a:solidFill>
                  <a:srgbClr val="C7D2E4"/>
                </a:solidFill>
                <a:latin typeface="Calibri" pitchFamily="34" charset="0"/>
                <a:ea typeface="Calibri" pitchFamily="34" charset="-122"/>
                <a:cs typeface="Calibri" pitchFamily="34" charset="-120"/>
              </a:rPr>
              <a:t>Kafka / event-bus streaming</a:t>
            </a:r>
            <a:endParaRPr lang="en-US" sz="1200" dirty="0"/>
          </a:p>
        </p:txBody>
      </p:sp>
      <p:sp>
        <p:nvSpPr>
          <p:cNvPr id="48" name="Shape 46"/>
          <p:cNvSpPr/>
          <p:nvPr/>
        </p:nvSpPr>
        <p:spPr>
          <a:xfrm>
            <a:off x="8402117" y="3232404"/>
            <a:ext cx="118872" cy="118872"/>
          </a:xfrm>
          <a:prstGeom prst="ellipse">
            <a:avLst/>
          </a:prstGeom>
          <a:solidFill>
            <a:srgbClr val="A78BFA"/>
          </a:solidFill>
          <a:ln/>
        </p:spPr>
        <p:txBody>
          <a:bodyPr/>
          <a:lstStyle/>
          <a:p>
            <a:endParaRPr lang="en-US"/>
          </a:p>
        </p:txBody>
      </p:sp>
      <p:sp>
        <p:nvSpPr>
          <p:cNvPr id="49" name="Text 47"/>
          <p:cNvSpPr/>
          <p:nvPr/>
        </p:nvSpPr>
        <p:spPr>
          <a:xfrm>
            <a:off x="8630717" y="3131820"/>
            <a:ext cx="2783738" cy="320040"/>
          </a:xfrm>
          <a:prstGeom prst="rect">
            <a:avLst/>
          </a:prstGeom>
          <a:noFill/>
          <a:ln/>
        </p:spPr>
        <p:txBody>
          <a:bodyPr wrap="square" lIns="0" tIns="0" rIns="0" bIns="0" rtlCol="0" anchor="t"/>
          <a:lstStyle/>
          <a:p>
            <a:pPr marL="0" indent="0">
              <a:buNone/>
            </a:pPr>
            <a:r>
              <a:rPr lang="en-US" sz="1200" dirty="0">
                <a:solidFill>
                  <a:srgbClr val="C7D2E4"/>
                </a:solidFill>
                <a:latin typeface="Calibri" pitchFamily="34" charset="0"/>
                <a:ea typeface="Calibri" pitchFamily="34" charset="-122"/>
                <a:cs typeface="Calibri" pitchFamily="34" charset="-120"/>
              </a:rPr>
              <a:t>Cloud deploy + Terraform IaC</a:t>
            </a:r>
            <a:endParaRPr lang="en-US" sz="1200" dirty="0"/>
          </a:p>
        </p:txBody>
      </p:sp>
      <p:sp>
        <p:nvSpPr>
          <p:cNvPr id="50" name="Shape 48"/>
          <p:cNvSpPr/>
          <p:nvPr/>
        </p:nvSpPr>
        <p:spPr>
          <a:xfrm>
            <a:off x="8402117" y="3584448"/>
            <a:ext cx="118872" cy="118872"/>
          </a:xfrm>
          <a:prstGeom prst="ellipse">
            <a:avLst/>
          </a:prstGeom>
          <a:solidFill>
            <a:srgbClr val="A78BFA"/>
          </a:solidFill>
          <a:ln/>
        </p:spPr>
        <p:txBody>
          <a:bodyPr/>
          <a:lstStyle/>
          <a:p>
            <a:endParaRPr lang="en-US"/>
          </a:p>
        </p:txBody>
      </p:sp>
      <p:sp>
        <p:nvSpPr>
          <p:cNvPr id="51" name="Text 49"/>
          <p:cNvSpPr/>
          <p:nvPr/>
        </p:nvSpPr>
        <p:spPr>
          <a:xfrm>
            <a:off x="8630717" y="3483864"/>
            <a:ext cx="2783738" cy="320040"/>
          </a:xfrm>
          <a:prstGeom prst="rect">
            <a:avLst/>
          </a:prstGeom>
          <a:noFill/>
          <a:ln/>
        </p:spPr>
        <p:txBody>
          <a:bodyPr wrap="square" lIns="0" tIns="0" rIns="0" bIns="0" rtlCol="0" anchor="t"/>
          <a:lstStyle/>
          <a:p>
            <a:pPr marL="0" indent="0">
              <a:buNone/>
            </a:pPr>
            <a:r>
              <a:rPr lang="en-US" sz="1200" dirty="0">
                <a:solidFill>
                  <a:srgbClr val="C7D2E4"/>
                </a:solidFill>
                <a:latin typeface="Calibri" pitchFamily="34" charset="0"/>
                <a:ea typeface="Calibri" pitchFamily="34" charset="-122"/>
                <a:cs typeface="Calibri" pitchFamily="34" charset="-120"/>
              </a:rPr>
              <a:t>Managed model registry</a:t>
            </a:r>
            <a:endParaRPr lang="en-US" sz="1200" dirty="0"/>
          </a:p>
        </p:txBody>
      </p:sp>
      <p:sp>
        <p:nvSpPr>
          <p:cNvPr id="52" name="Shape 50"/>
          <p:cNvSpPr/>
          <p:nvPr/>
        </p:nvSpPr>
        <p:spPr>
          <a:xfrm>
            <a:off x="8402117" y="3936492"/>
            <a:ext cx="118872" cy="118872"/>
          </a:xfrm>
          <a:prstGeom prst="ellipse">
            <a:avLst/>
          </a:prstGeom>
          <a:solidFill>
            <a:srgbClr val="A78BFA"/>
          </a:solidFill>
          <a:ln/>
        </p:spPr>
        <p:txBody>
          <a:bodyPr/>
          <a:lstStyle/>
          <a:p>
            <a:endParaRPr lang="en-US"/>
          </a:p>
        </p:txBody>
      </p:sp>
      <p:sp>
        <p:nvSpPr>
          <p:cNvPr id="53" name="Text 51"/>
          <p:cNvSpPr/>
          <p:nvPr/>
        </p:nvSpPr>
        <p:spPr>
          <a:xfrm>
            <a:off x="8630717" y="3835908"/>
            <a:ext cx="2783738" cy="320040"/>
          </a:xfrm>
          <a:prstGeom prst="rect">
            <a:avLst/>
          </a:prstGeom>
          <a:noFill/>
          <a:ln/>
        </p:spPr>
        <p:txBody>
          <a:bodyPr wrap="square" lIns="0" tIns="0" rIns="0" bIns="0" rtlCol="0" anchor="t"/>
          <a:lstStyle/>
          <a:p>
            <a:pPr marL="0" indent="0">
              <a:buNone/>
            </a:pPr>
            <a:r>
              <a:rPr lang="en-US" sz="1200" dirty="0">
                <a:solidFill>
                  <a:srgbClr val="C7D2E4"/>
                </a:solidFill>
                <a:latin typeface="Calibri" pitchFamily="34" charset="0"/>
                <a:ea typeface="Calibri" pitchFamily="34" charset="-122"/>
                <a:cs typeface="Calibri" pitchFamily="34" charset="-120"/>
              </a:rPr>
              <a:t>Drift-triggered retraining</a:t>
            </a:r>
            <a:endParaRPr lang="en-US" sz="1200" dirty="0"/>
          </a:p>
        </p:txBody>
      </p:sp>
      <p:sp>
        <p:nvSpPr>
          <p:cNvPr id="54" name="Shape 52"/>
          <p:cNvSpPr/>
          <p:nvPr/>
        </p:nvSpPr>
        <p:spPr>
          <a:xfrm>
            <a:off x="8402117" y="4288536"/>
            <a:ext cx="118872" cy="118872"/>
          </a:xfrm>
          <a:prstGeom prst="ellipse">
            <a:avLst/>
          </a:prstGeom>
          <a:solidFill>
            <a:srgbClr val="A78BFA"/>
          </a:solidFill>
          <a:ln/>
        </p:spPr>
        <p:txBody>
          <a:bodyPr/>
          <a:lstStyle/>
          <a:p>
            <a:endParaRPr lang="en-US"/>
          </a:p>
        </p:txBody>
      </p:sp>
      <p:sp>
        <p:nvSpPr>
          <p:cNvPr id="55" name="Text 53"/>
          <p:cNvSpPr/>
          <p:nvPr/>
        </p:nvSpPr>
        <p:spPr>
          <a:xfrm>
            <a:off x="8630717" y="4187952"/>
            <a:ext cx="2783738" cy="320040"/>
          </a:xfrm>
          <a:prstGeom prst="rect">
            <a:avLst/>
          </a:prstGeom>
          <a:noFill/>
          <a:ln/>
        </p:spPr>
        <p:txBody>
          <a:bodyPr wrap="square" lIns="0" tIns="0" rIns="0" bIns="0" rtlCol="0" anchor="t"/>
          <a:lstStyle/>
          <a:p>
            <a:pPr marL="0" indent="0">
              <a:buNone/>
            </a:pPr>
            <a:r>
              <a:rPr lang="en-US" sz="1200" dirty="0">
                <a:solidFill>
                  <a:srgbClr val="C7D2E4"/>
                </a:solidFill>
                <a:latin typeface="Calibri" pitchFamily="34" charset="0"/>
                <a:ea typeface="Calibri" pitchFamily="34" charset="-122"/>
                <a:cs typeface="Calibri" pitchFamily="34" charset="-120"/>
              </a:rPr>
              <a:t>Multi-tenant partners</a:t>
            </a:r>
            <a:endParaRPr lang="en-US" sz="1200" dirty="0"/>
          </a:p>
        </p:txBody>
      </p:sp>
      <p:sp>
        <p:nvSpPr>
          <p:cNvPr id="57" name="Text 54"/>
          <p:cNvSpPr/>
          <p:nvPr/>
        </p:nvSpPr>
        <p:spPr>
          <a:xfrm>
            <a:off x="548640" y="6473952"/>
            <a:ext cx="8229600" cy="274320"/>
          </a:xfrm>
          <a:prstGeom prst="rect">
            <a:avLst/>
          </a:prstGeom>
          <a:noFill/>
          <a:ln/>
        </p:spPr>
        <p:txBody>
          <a:bodyPr wrap="square" lIns="0" tIns="0" rIns="0" bIns="0" rtlCol="0" anchor="ctr"/>
          <a:lstStyle/>
          <a:p>
            <a:pPr marL="0" indent="0" algn="l">
              <a:buNone/>
            </a:pPr>
            <a:r>
              <a:rPr lang="en-US" sz="900" dirty="0">
                <a:solidFill>
                  <a:srgbClr val="8A98B5"/>
                </a:solidFill>
                <a:latin typeface="Calibri" pitchFamily="34" charset="0"/>
                <a:ea typeface="Calibri" pitchFamily="34" charset="-122"/>
                <a:cs typeface="Calibri" pitchFamily="34" charset="-120"/>
              </a:rPr>
              <a:t>FraudShield AI  ·  Payment Fraud Sequence Detection (LSTM/RNN)</a:t>
            </a:r>
            <a:endParaRPr lang="en-US" sz="900" dirty="0"/>
          </a:p>
        </p:txBody>
      </p:sp>
      <p:sp>
        <p:nvSpPr>
          <p:cNvPr id="58" name="Text 55"/>
          <p:cNvSpPr/>
          <p:nvPr/>
        </p:nvSpPr>
        <p:spPr>
          <a:xfrm>
            <a:off x="10728655" y="6473952"/>
            <a:ext cx="914400" cy="274320"/>
          </a:xfrm>
          <a:prstGeom prst="rect">
            <a:avLst/>
          </a:prstGeom>
          <a:noFill/>
          <a:ln/>
        </p:spPr>
        <p:txBody>
          <a:bodyPr wrap="square" lIns="0" tIns="0" rIns="0" bIns="0" rtlCol="0" anchor="ctr"/>
          <a:lstStyle/>
          <a:p>
            <a:pPr marL="0" indent="0" algn="r">
              <a:buNone/>
            </a:pPr>
            <a:r>
              <a:rPr lang="en-US" sz="900" dirty="0">
                <a:solidFill>
                  <a:srgbClr val="8A98B5"/>
                </a:solidFill>
                <a:latin typeface="Calibri" pitchFamily="34" charset="0"/>
                <a:ea typeface="Calibri" pitchFamily="34" charset="-122"/>
                <a:cs typeface="Calibri" pitchFamily="34" charset="-120"/>
              </a:rPr>
              <a:t>13 / 15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marL="0" indent="0" algn="l">
              <a:buNone/>
            </a:pPr>
            <a:r>
              <a:rPr lang="en-US" sz="1200" b="1" kern="0" spc="300" dirty="0">
                <a:solidFill>
                  <a:srgbClr val="22D3EE"/>
                </a:solidFill>
                <a:latin typeface="Calibri" pitchFamily="34" charset="0"/>
                <a:ea typeface="Calibri" pitchFamily="34" charset="-122"/>
                <a:cs typeface="Calibri" pitchFamily="34" charset="-120"/>
              </a:rPr>
              <a:t>OPERATING MODEL</a:t>
            </a:r>
            <a:endParaRPr lang="en-US" sz="1200" dirty="0"/>
          </a:p>
        </p:txBody>
      </p:sp>
      <p:sp>
        <p:nvSpPr>
          <p:cNvPr id="3" name="Text 1"/>
          <p:cNvSpPr/>
          <p:nvPr/>
        </p:nvSpPr>
        <p:spPr>
          <a:xfrm>
            <a:off x="548640" y="658368"/>
            <a:ext cx="8869680" cy="868680"/>
          </a:xfrm>
          <a:prstGeom prst="rect">
            <a:avLst/>
          </a:prstGeom>
          <a:noFill/>
          <a:ln/>
        </p:spPr>
        <p:txBody>
          <a:bodyPr wrap="square" lIns="0" tIns="0" rIns="0" bIns="0" rtlCol="0" anchor="t"/>
          <a:lstStyle/>
          <a:p>
            <a:pPr marL="0" indent="0" algn="l">
              <a:buNone/>
            </a:pPr>
            <a:r>
              <a:rPr lang="en-US" sz="3000" b="1" dirty="0">
                <a:solidFill>
                  <a:srgbClr val="FFFFFF"/>
                </a:solidFill>
                <a:latin typeface="Calibri" pitchFamily="34" charset="0"/>
                <a:ea typeface="Calibri" pitchFamily="34" charset="-122"/>
                <a:cs typeface="Calibri" pitchFamily="34" charset="-120"/>
              </a:rPr>
              <a:t>Continuous scoring, review, learning, and monitoring</a:t>
            </a:r>
            <a:endParaRPr lang="en-US" sz="3000" dirty="0"/>
          </a:p>
        </p:txBody>
      </p:sp>
      <p:sp>
        <p:nvSpPr>
          <p:cNvPr id="5" name="Text 3"/>
          <p:cNvSpPr/>
          <p:nvPr/>
        </p:nvSpPr>
        <p:spPr>
          <a:xfrm>
            <a:off x="8945575" y="457200"/>
            <a:ext cx="2697480" cy="457200"/>
          </a:xfrm>
          <a:prstGeom prst="rect">
            <a:avLst/>
          </a:prstGeom>
          <a:noFill/>
          <a:ln/>
        </p:spPr>
        <p:txBody>
          <a:bodyPr wrap="square" lIns="0" tIns="0" rIns="0" bIns="0" rtlCol="0" anchor="ctr"/>
          <a:lstStyle/>
          <a:p>
            <a:pPr marL="0" indent="0" algn="ctr">
              <a:buNone/>
            </a:pPr>
            <a:endParaRPr lang="en-US" sz="900" dirty="0"/>
          </a:p>
        </p:txBody>
      </p:sp>
      <p:sp>
        <p:nvSpPr>
          <p:cNvPr id="6" name="Shape 4"/>
          <p:cNvSpPr/>
          <p:nvPr/>
        </p:nvSpPr>
        <p:spPr>
          <a:xfrm>
            <a:off x="792328" y="2148840"/>
            <a:ext cx="1554480" cy="1325880"/>
          </a:xfrm>
          <a:prstGeom prst="roundRect">
            <a:avLst>
              <a:gd name="adj" fmla="val 6897"/>
            </a:avLst>
          </a:prstGeom>
          <a:solidFill>
            <a:srgbClr val="1B2540"/>
          </a:solidFill>
          <a:ln w="17780">
            <a:solidFill>
              <a:srgbClr val="22D3EE"/>
            </a:solidFill>
            <a:prstDash val="solid"/>
          </a:ln>
          <a:effectLst>
            <a:outerShdw blurRad="101600" dist="38100" dir="5400000" algn="bl" rotWithShape="0">
              <a:srgbClr val="000000">
                <a:alpha val="25000"/>
              </a:srgbClr>
            </a:outerShdw>
          </a:effectLst>
        </p:spPr>
        <p:txBody>
          <a:bodyPr/>
          <a:lstStyle/>
          <a:p>
            <a:endParaRPr lang="en-US"/>
          </a:p>
        </p:txBody>
      </p:sp>
      <p:sp>
        <p:nvSpPr>
          <p:cNvPr id="7" name="Shape 5"/>
          <p:cNvSpPr/>
          <p:nvPr/>
        </p:nvSpPr>
        <p:spPr>
          <a:xfrm>
            <a:off x="1313536" y="2313432"/>
            <a:ext cx="512064" cy="512064"/>
          </a:xfrm>
          <a:prstGeom prst="ellipse">
            <a:avLst/>
          </a:prstGeom>
          <a:solidFill>
            <a:srgbClr val="1B2540"/>
          </a:solidFill>
          <a:ln w="15875">
            <a:solidFill>
              <a:srgbClr val="22D3EE"/>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1436431" y="2436327"/>
            <a:ext cx="266273" cy="266273"/>
          </a:xfrm>
          <a:prstGeom prst="rect">
            <a:avLst/>
          </a:prstGeom>
        </p:spPr>
      </p:pic>
      <p:sp>
        <p:nvSpPr>
          <p:cNvPr id="9" name="Text 6"/>
          <p:cNvSpPr/>
          <p:nvPr/>
        </p:nvSpPr>
        <p:spPr>
          <a:xfrm>
            <a:off x="792328" y="2862072"/>
            <a:ext cx="1554480" cy="548640"/>
          </a:xfrm>
          <a:prstGeom prst="rect">
            <a:avLst/>
          </a:prstGeom>
          <a:noFill/>
          <a:ln/>
        </p:spPr>
        <p:txBody>
          <a:bodyPr wrap="square" lIns="0" tIns="0" rIns="0" bIns="0"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Score</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Transaction</a:t>
            </a:r>
            <a:endParaRPr lang="en-US" sz="1300" dirty="0"/>
          </a:p>
        </p:txBody>
      </p:sp>
      <p:sp>
        <p:nvSpPr>
          <p:cNvPr id="10" name="Shape 7"/>
          <p:cNvSpPr/>
          <p:nvPr/>
        </p:nvSpPr>
        <p:spPr>
          <a:xfrm>
            <a:off x="2355952" y="2715768"/>
            <a:ext cx="274320" cy="201168"/>
          </a:xfrm>
          <a:prstGeom prst="rightArrow">
            <a:avLst/>
          </a:prstGeom>
          <a:solidFill>
            <a:srgbClr val="8A98B5"/>
          </a:solidFill>
          <a:ln/>
        </p:spPr>
        <p:txBody>
          <a:bodyPr/>
          <a:lstStyle/>
          <a:p>
            <a:endParaRPr lang="en-US"/>
          </a:p>
        </p:txBody>
      </p:sp>
      <p:sp>
        <p:nvSpPr>
          <p:cNvPr id="11" name="Shape 8"/>
          <p:cNvSpPr/>
          <p:nvPr/>
        </p:nvSpPr>
        <p:spPr>
          <a:xfrm>
            <a:off x="2602840" y="2148840"/>
            <a:ext cx="1554480" cy="1325880"/>
          </a:xfrm>
          <a:prstGeom prst="roundRect">
            <a:avLst>
              <a:gd name="adj" fmla="val 6897"/>
            </a:avLst>
          </a:prstGeom>
          <a:solidFill>
            <a:srgbClr val="1B2540"/>
          </a:solidFill>
          <a:ln w="17780">
            <a:solidFill>
              <a:srgbClr val="F59E0B"/>
            </a:solidFill>
            <a:prstDash val="solid"/>
          </a:ln>
          <a:effectLst>
            <a:outerShdw blurRad="101600" dist="38100" dir="5400000" algn="bl" rotWithShape="0">
              <a:srgbClr val="000000">
                <a:alpha val="25000"/>
              </a:srgbClr>
            </a:outerShdw>
          </a:effectLst>
        </p:spPr>
        <p:txBody>
          <a:bodyPr/>
          <a:lstStyle/>
          <a:p>
            <a:endParaRPr lang="en-US"/>
          </a:p>
        </p:txBody>
      </p:sp>
      <p:sp>
        <p:nvSpPr>
          <p:cNvPr id="12" name="Shape 9"/>
          <p:cNvSpPr/>
          <p:nvPr/>
        </p:nvSpPr>
        <p:spPr>
          <a:xfrm>
            <a:off x="3124048" y="2313432"/>
            <a:ext cx="512064" cy="512064"/>
          </a:xfrm>
          <a:prstGeom prst="ellipse">
            <a:avLst/>
          </a:prstGeom>
          <a:solidFill>
            <a:srgbClr val="1B2540"/>
          </a:solidFill>
          <a:ln w="15875">
            <a:solidFill>
              <a:srgbClr val="F59E0B"/>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3246943" y="2436327"/>
            <a:ext cx="266273" cy="266273"/>
          </a:xfrm>
          <a:prstGeom prst="rect">
            <a:avLst/>
          </a:prstGeom>
        </p:spPr>
      </p:pic>
      <p:sp>
        <p:nvSpPr>
          <p:cNvPr id="14" name="Text 10"/>
          <p:cNvSpPr/>
          <p:nvPr/>
        </p:nvSpPr>
        <p:spPr>
          <a:xfrm>
            <a:off x="2602840" y="2862072"/>
            <a:ext cx="1554480" cy="548640"/>
          </a:xfrm>
          <a:prstGeom prst="rect">
            <a:avLst/>
          </a:prstGeom>
          <a:noFill/>
          <a:ln/>
        </p:spPr>
        <p:txBody>
          <a:bodyPr wrap="square" lIns="0" tIns="0" rIns="0" bIns="0"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Route</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Case</a:t>
            </a:r>
            <a:endParaRPr lang="en-US" sz="1300" dirty="0"/>
          </a:p>
        </p:txBody>
      </p:sp>
      <p:sp>
        <p:nvSpPr>
          <p:cNvPr id="15" name="Shape 11"/>
          <p:cNvSpPr/>
          <p:nvPr/>
        </p:nvSpPr>
        <p:spPr>
          <a:xfrm>
            <a:off x="4166464" y="2715768"/>
            <a:ext cx="274320" cy="201168"/>
          </a:xfrm>
          <a:prstGeom prst="rightArrow">
            <a:avLst/>
          </a:prstGeom>
          <a:solidFill>
            <a:srgbClr val="8A98B5"/>
          </a:solidFill>
          <a:ln/>
        </p:spPr>
        <p:txBody>
          <a:bodyPr/>
          <a:lstStyle/>
          <a:p>
            <a:endParaRPr lang="en-US"/>
          </a:p>
        </p:txBody>
      </p:sp>
      <p:sp>
        <p:nvSpPr>
          <p:cNvPr id="16" name="Shape 12"/>
          <p:cNvSpPr/>
          <p:nvPr/>
        </p:nvSpPr>
        <p:spPr>
          <a:xfrm>
            <a:off x="4413352" y="2148840"/>
            <a:ext cx="1554480" cy="1325880"/>
          </a:xfrm>
          <a:prstGeom prst="roundRect">
            <a:avLst>
              <a:gd name="adj" fmla="val 6897"/>
            </a:avLst>
          </a:prstGeom>
          <a:solidFill>
            <a:srgbClr val="1B2540"/>
          </a:solidFill>
          <a:ln w="17780">
            <a:solidFill>
              <a:srgbClr val="10B981"/>
            </a:solidFill>
            <a:prstDash val="solid"/>
          </a:ln>
          <a:effectLst>
            <a:outerShdw blurRad="101600" dist="38100" dir="5400000" algn="bl" rotWithShape="0">
              <a:srgbClr val="000000">
                <a:alpha val="25000"/>
              </a:srgbClr>
            </a:outerShdw>
          </a:effectLst>
        </p:spPr>
        <p:txBody>
          <a:bodyPr/>
          <a:lstStyle/>
          <a:p>
            <a:endParaRPr lang="en-US"/>
          </a:p>
        </p:txBody>
      </p:sp>
      <p:sp>
        <p:nvSpPr>
          <p:cNvPr id="17" name="Shape 13"/>
          <p:cNvSpPr/>
          <p:nvPr/>
        </p:nvSpPr>
        <p:spPr>
          <a:xfrm>
            <a:off x="4934560" y="2313432"/>
            <a:ext cx="512064" cy="512064"/>
          </a:xfrm>
          <a:prstGeom prst="ellipse">
            <a:avLst/>
          </a:prstGeom>
          <a:solidFill>
            <a:srgbClr val="1B2540"/>
          </a:solidFill>
          <a:ln w="15875">
            <a:solidFill>
              <a:srgbClr val="10B981"/>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5057455" y="2436327"/>
            <a:ext cx="266273" cy="266273"/>
          </a:xfrm>
          <a:prstGeom prst="rect">
            <a:avLst/>
          </a:prstGeom>
        </p:spPr>
      </p:pic>
      <p:sp>
        <p:nvSpPr>
          <p:cNvPr id="19" name="Text 14"/>
          <p:cNvSpPr/>
          <p:nvPr/>
        </p:nvSpPr>
        <p:spPr>
          <a:xfrm>
            <a:off x="4413352" y="2862072"/>
            <a:ext cx="1554480" cy="548640"/>
          </a:xfrm>
          <a:prstGeom prst="rect">
            <a:avLst/>
          </a:prstGeom>
          <a:noFill/>
          <a:ln/>
        </p:spPr>
        <p:txBody>
          <a:bodyPr wrap="square" lIns="0" tIns="0" rIns="0" bIns="0"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Analyst</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Verdict</a:t>
            </a:r>
            <a:endParaRPr lang="en-US" sz="1300" dirty="0"/>
          </a:p>
        </p:txBody>
      </p:sp>
      <p:sp>
        <p:nvSpPr>
          <p:cNvPr id="20" name="Shape 15"/>
          <p:cNvSpPr/>
          <p:nvPr/>
        </p:nvSpPr>
        <p:spPr>
          <a:xfrm>
            <a:off x="5976976" y="2715768"/>
            <a:ext cx="274320" cy="201168"/>
          </a:xfrm>
          <a:prstGeom prst="rightArrow">
            <a:avLst/>
          </a:prstGeom>
          <a:solidFill>
            <a:srgbClr val="8A98B5"/>
          </a:solidFill>
          <a:ln/>
        </p:spPr>
        <p:txBody>
          <a:bodyPr/>
          <a:lstStyle/>
          <a:p>
            <a:endParaRPr lang="en-US"/>
          </a:p>
        </p:txBody>
      </p:sp>
      <p:sp>
        <p:nvSpPr>
          <p:cNvPr id="21" name="Shape 16"/>
          <p:cNvSpPr/>
          <p:nvPr/>
        </p:nvSpPr>
        <p:spPr>
          <a:xfrm>
            <a:off x="6223864" y="2148840"/>
            <a:ext cx="1554480" cy="1325880"/>
          </a:xfrm>
          <a:prstGeom prst="roundRect">
            <a:avLst>
              <a:gd name="adj" fmla="val 6897"/>
            </a:avLst>
          </a:prstGeom>
          <a:solidFill>
            <a:srgbClr val="1B2540"/>
          </a:solidFill>
          <a:ln w="17780">
            <a:solidFill>
              <a:srgbClr val="A78BFA"/>
            </a:solidFill>
            <a:prstDash val="solid"/>
          </a:ln>
          <a:effectLst>
            <a:outerShdw blurRad="101600" dist="38100" dir="5400000" algn="bl" rotWithShape="0">
              <a:srgbClr val="000000">
                <a:alpha val="25000"/>
              </a:srgbClr>
            </a:outerShdw>
          </a:effectLst>
        </p:spPr>
        <p:txBody>
          <a:bodyPr/>
          <a:lstStyle/>
          <a:p>
            <a:endParaRPr lang="en-US"/>
          </a:p>
        </p:txBody>
      </p:sp>
      <p:sp>
        <p:nvSpPr>
          <p:cNvPr id="22" name="Shape 17"/>
          <p:cNvSpPr/>
          <p:nvPr/>
        </p:nvSpPr>
        <p:spPr>
          <a:xfrm>
            <a:off x="6745072" y="2313432"/>
            <a:ext cx="512064" cy="512064"/>
          </a:xfrm>
          <a:prstGeom prst="ellipse">
            <a:avLst/>
          </a:prstGeom>
          <a:solidFill>
            <a:srgbClr val="1B2540"/>
          </a:solidFill>
          <a:ln w="15875">
            <a:solidFill>
              <a:srgbClr val="A78BFA"/>
            </a:solidFill>
            <a:prstDash val="solid"/>
          </a:ln>
        </p:spPr>
        <p:txBody>
          <a:bodyPr/>
          <a:lstStyle/>
          <a:p>
            <a:endParaRPr lang="en-US"/>
          </a:p>
        </p:txBody>
      </p:sp>
      <p:pic>
        <p:nvPicPr>
          <p:cNvPr id="23" name="Image 3" descr="preencoded.png"/>
          <p:cNvPicPr>
            <a:picLocks noChangeAspect="1"/>
          </p:cNvPicPr>
          <p:nvPr/>
        </p:nvPicPr>
        <p:blipFill>
          <a:blip r:embed="rId6"/>
          <a:stretch>
            <a:fillRect/>
          </a:stretch>
        </p:blipFill>
        <p:spPr>
          <a:xfrm>
            <a:off x="6867967" y="2436327"/>
            <a:ext cx="266273" cy="266273"/>
          </a:xfrm>
          <a:prstGeom prst="rect">
            <a:avLst/>
          </a:prstGeom>
        </p:spPr>
      </p:pic>
      <p:sp>
        <p:nvSpPr>
          <p:cNvPr id="24" name="Text 18"/>
          <p:cNvSpPr/>
          <p:nvPr/>
        </p:nvSpPr>
        <p:spPr>
          <a:xfrm>
            <a:off x="6223864" y="2862072"/>
            <a:ext cx="1554480" cy="548640"/>
          </a:xfrm>
          <a:prstGeom prst="rect">
            <a:avLst/>
          </a:prstGeom>
          <a:noFill/>
          <a:ln/>
        </p:spPr>
        <p:txBody>
          <a:bodyPr wrap="square" lIns="0" tIns="0" rIns="0" bIns="0"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Label</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Store</a:t>
            </a:r>
            <a:endParaRPr lang="en-US" sz="1300" dirty="0"/>
          </a:p>
        </p:txBody>
      </p:sp>
      <p:sp>
        <p:nvSpPr>
          <p:cNvPr id="25" name="Shape 19"/>
          <p:cNvSpPr/>
          <p:nvPr/>
        </p:nvSpPr>
        <p:spPr>
          <a:xfrm>
            <a:off x="7787488" y="2715768"/>
            <a:ext cx="274320" cy="201168"/>
          </a:xfrm>
          <a:prstGeom prst="rightArrow">
            <a:avLst/>
          </a:prstGeom>
          <a:solidFill>
            <a:srgbClr val="8A98B5"/>
          </a:solidFill>
          <a:ln/>
        </p:spPr>
        <p:txBody>
          <a:bodyPr/>
          <a:lstStyle/>
          <a:p>
            <a:endParaRPr lang="en-US"/>
          </a:p>
        </p:txBody>
      </p:sp>
      <p:sp>
        <p:nvSpPr>
          <p:cNvPr id="26" name="Shape 20"/>
          <p:cNvSpPr/>
          <p:nvPr/>
        </p:nvSpPr>
        <p:spPr>
          <a:xfrm>
            <a:off x="8034376" y="2148840"/>
            <a:ext cx="1554480" cy="1325880"/>
          </a:xfrm>
          <a:prstGeom prst="roundRect">
            <a:avLst>
              <a:gd name="adj" fmla="val 6897"/>
            </a:avLst>
          </a:prstGeom>
          <a:solidFill>
            <a:srgbClr val="1B2540"/>
          </a:solidFill>
          <a:ln w="17780">
            <a:solidFill>
              <a:srgbClr val="22D3EE"/>
            </a:solidFill>
            <a:prstDash val="solid"/>
          </a:ln>
          <a:effectLst>
            <a:outerShdw blurRad="101600" dist="38100" dir="5400000" algn="bl" rotWithShape="0">
              <a:srgbClr val="000000">
                <a:alpha val="25000"/>
              </a:srgbClr>
            </a:outerShdw>
          </a:effectLst>
        </p:spPr>
        <p:txBody>
          <a:bodyPr/>
          <a:lstStyle/>
          <a:p>
            <a:endParaRPr lang="en-US"/>
          </a:p>
        </p:txBody>
      </p:sp>
      <p:sp>
        <p:nvSpPr>
          <p:cNvPr id="27" name="Shape 21"/>
          <p:cNvSpPr/>
          <p:nvPr/>
        </p:nvSpPr>
        <p:spPr>
          <a:xfrm>
            <a:off x="8555584" y="2313432"/>
            <a:ext cx="512064" cy="512064"/>
          </a:xfrm>
          <a:prstGeom prst="ellipse">
            <a:avLst/>
          </a:prstGeom>
          <a:solidFill>
            <a:srgbClr val="1B2540"/>
          </a:solidFill>
          <a:ln w="15875">
            <a:solidFill>
              <a:srgbClr val="22D3EE"/>
            </a:solidFill>
            <a:prstDash val="solid"/>
          </a:ln>
        </p:spPr>
        <p:txBody>
          <a:bodyPr/>
          <a:lstStyle/>
          <a:p>
            <a:endParaRPr lang="en-US"/>
          </a:p>
        </p:txBody>
      </p:sp>
      <p:pic>
        <p:nvPicPr>
          <p:cNvPr id="28" name="Image 4" descr="preencoded.png"/>
          <p:cNvPicPr>
            <a:picLocks noChangeAspect="1"/>
          </p:cNvPicPr>
          <p:nvPr/>
        </p:nvPicPr>
        <p:blipFill>
          <a:blip r:embed="rId7"/>
          <a:stretch>
            <a:fillRect/>
          </a:stretch>
        </p:blipFill>
        <p:spPr>
          <a:xfrm>
            <a:off x="8678479" y="2436327"/>
            <a:ext cx="266273" cy="266273"/>
          </a:xfrm>
          <a:prstGeom prst="rect">
            <a:avLst/>
          </a:prstGeom>
        </p:spPr>
      </p:pic>
      <p:sp>
        <p:nvSpPr>
          <p:cNvPr id="29" name="Text 22"/>
          <p:cNvSpPr/>
          <p:nvPr/>
        </p:nvSpPr>
        <p:spPr>
          <a:xfrm>
            <a:off x="8034376" y="2862072"/>
            <a:ext cx="1554480" cy="548640"/>
          </a:xfrm>
          <a:prstGeom prst="rect">
            <a:avLst/>
          </a:prstGeom>
          <a:noFill/>
          <a:ln/>
        </p:spPr>
        <p:txBody>
          <a:bodyPr wrap="square" lIns="0" tIns="0" rIns="0" bIns="0"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Retrain</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Challenger</a:t>
            </a:r>
            <a:endParaRPr lang="en-US" sz="1300" dirty="0"/>
          </a:p>
        </p:txBody>
      </p:sp>
      <p:sp>
        <p:nvSpPr>
          <p:cNvPr id="30" name="Shape 23"/>
          <p:cNvSpPr/>
          <p:nvPr/>
        </p:nvSpPr>
        <p:spPr>
          <a:xfrm>
            <a:off x="9598000" y="2715768"/>
            <a:ext cx="274320" cy="201168"/>
          </a:xfrm>
          <a:prstGeom prst="rightArrow">
            <a:avLst/>
          </a:prstGeom>
          <a:solidFill>
            <a:srgbClr val="8A98B5"/>
          </a:solidFill>
          <a:ln/>
        </p:spPr>
        <p:txBody>
          <a:bodyPr/>
          <a:lstStyle/>
          <a:p>
            <a:endParaRPr lang="en-US"/>
          </a:p>
        </p:txBody>
      </p:sp>
      <p:sp>
        <p:nvSpPr>
          <p:cNvPr id="31" name="Shape 24"/>
          <p:cNvSpPr/>
          <p:nvPr/>
        </p:nvSpPr>
        <p:spPr>
          <a:xfrm>
            <a:off x="9844888" y="2148840"/>
            <a:ext cx="1554480" cy="1325880"/>
          </a:xfrm>
          <a:prstGeom prst="roundRect">
            <a:avLst>
              <a:gd name="adj" fmla="val 6897"/>
            </a:avLst>
          </a:prstGeom>
          <a:solidFill>
            <a:srgbClr val="1B2540"/>
          </a:solidFill>
          <a:ln w="17780">
            <a:solidFill>
              <a:srgbClr val="F59E0B"/>
            </a:solidFill>
            <a:prstDash val="solid"/>
          </a:ln>
          <a:effectLst>
            <a:outerShdw blurRad="101600" dist="38100" dir="5400000" algn="bl" rotWithShape="0">
              <a:srgbClr val="000000">
                <a:alpha val="25000"/>
              </a:srgbClr>
            </a:outerShdw>
          </a:effectLst>
        </p:spPr>
        <p:txBody>
          <a:bodyPr/>
          <a:lstStyle/>
          <a:p>
            <a:endParaRPr lang="en-US"/>
          </a:p>
        </p:txBody>
      </p:sp>
      <p:sp>
        <p:nvSpPr>
          <p:cNvPr id="32" name="Shape 25"/>
          <p:cNvSpPr/>
          <p:nvPr/>
        </p:nvSpPr>
        <p:spPr>
          <a:xfrm>
            <a:off x="10366096" y="2313432"/>
            <a:ext cx="512064" cy="512064"/>
          </a:xfrm>
          <a:prstGeom prst="ellipse">
            <a:avLst/>
          </a:prstGeom>
          <a:solidFill>
            <a:srgbClr val="1B2540"/>
          </a:solidFill>
          <a:ln w="15875">
            <a:solidFill>
              <a:srgbClr val="F59E0B"/>
            </a:solidFill>
            <a:prstDash val="solid"/>
          </a:ln>
        </p:spPr>
        <p:txBody>
          <a:bodyPr/>
          <a:lstStyle/>
          <a:p>
            <a:endParaRPr lang="en-US"/>
          </a:p>
        </p:txBody>
      </p:sp>
      <p:pic>
        <p:nvPicPr>
          <p:cNvPr id="33" name="Image 5" descr="preencoded.png"/>
          <p:cNvPicPr>
            <a:picLocks noChangeAspect="1"/>
          </p:cNvPicPr>
          <p:nvPr/>
        </p:nvPicPr>
        <p:blipFill>
          <a:blip r:embed="rId8"/>
          <a:stretch>
            <a:fillRect/>
          </a:stretch>
        </p:blipFill>
        <p:spPr>
          <a:xfrm>
            <a:off x="10488991" y="2436327"/>
            <a:ext cx="266273" cy="266273"/>
          </a:xfrm>
          <a:prstGeom prst="rect">
            <a:avLst/>
          </a:prstGeom>
        </p:spPr>
      </p:pic>
      <p:sp>
        <p:nvSpPr>
          <p:cNvPr id="34" name="Text 26"/>
          <p:cNvSpPr/>
          <p:nvPr/>
        </p:nvSpPr>
        <p:spPr>
          <a:xfrm>
            <a:off x="9844888" y="2862072"/>
            <a:ext cx="1554480" cy="548640"/>
          </a:xfrm>
          <a:prstGeom prst="rect">
            <a:avLst/>
          </a:prstGeom>
          <a:noFill/>
          <a:ln/>
        </p:spPr>
        <p:txBody>
          <a:bodyPr wrap="square" lIns="0" tIns="0" rIns="0" bIns="0"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Monitor</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Drift</a:t>
            </a:r>
            <a:endParaRPr lang="en-US" sz="1300" dirty="0"/>
          </a:p>
        </p:txBody>
      </p:sp>
      <p:sp>
        <p:nvSpPr>
          <p:cNvPr id="35" name="Shape 27"/>
          <p:cNvSpPr/>
          <p:nvPr/>
        </p:nvSpPr>
        <p:spPr>
          <a:xfrm>
            <a:off x="10622128" y="3611880"/>
            <a:ext cx="0" cy="411480"/>
          </a:xfrm>
          <a:prstGeom prst="line">
            <a:avLst/>
          </a:prstGeom>
          <a:noFill/>
          <a:ln w="25400">
            <a:solidFill>
              <a:srgbClr val="A78BFA"/>
            </a:solidFill>
            <a:prstDash val="solid"/>
          </a:ln>
        </p:spPr>
        <p:txBody>
          <a:bodyPr/>
          <a:lstStyle/>
          <a:p>
            <a:endParaRPr lang="en-US"/>
          </a:p>
        </p:txBody>
      </p:sp>
      <p:sp>
        <p:nvSpPr>
          <p:cNvPr id="36" name="Shape 28"/>
          <p:cNvSpPr/>
          <p:nvPr/>
        </p:nvSpPr>
        <p:spPr>
          <a:xfrm>
            <a:off x="1569568" y="4023360"/>
            <a:ext cx="9052560" cy="0"/>
          </a:xfrm>
          <a:prstGeom prst="line">
            <a:avLst/>
          </a:prstGeom>
          <a:noFill/>
          <a:ln w="25400">
            <a:solidFill>
              <a:srgbClr val="A78BFA"/>
            </a:solidFill>
            <a:prstDash val="solid"/>
          </a:ln>
        </p:spPr>
        <p:txBody>
          <a:bodyPr/>
          <a:lstStyle/>
          <a:p>
            <a:endParaRPr lang="en-US"/>
          </a:p>
        </p:txBody>
      </p:sp>
      <p:sp>
        <p:nvSpPr>
          <p:cNvPr id="37" name="Shape 29"/>
          <p:cNvSpPr/>
          <p:nvPr/>
        </p:nvSpPr>
        <p:spPr>
          <a:xfrm>
            <a:off x="1569568" y="3611880"/>
            <a:ext cx="0" cy="411480"/>
          </a:xfrm>
          <a:prstGeom prst="line">
            <a:avLst/>
          </a:prstGeom>
          <a:noFill/>
          <a:ln w="25400">
            <a:solidFill>
              <a:srgbClr val="A78BFA"/>
            </a:solidFill>
            <a:prstDash val="solid"/>
          </a:ln>
        </p:spPr>
        <p:txBody>
          <a:bodyPr/>
          <a:lstStyle/>
          <a:p>
            <a:endParaRPr lang="en-US"/>
          </a:p>
        </p:txBody>
      </p:sp>
      <p:sp>
        <p:nvSpPr>
          <p:cNvPr id="38" name="Shape 30"/>
          <p:cNvSpPr/>
          <p:nvPr/>
        </p:nvSpPr>
        <p:spPr>
          <a:xfrm>
            <a:off x="1487272" y="3456432"/>
            <a:ext cx="164592" cy="182880"/>
          </a:xfrm>
          <a:prstGeom prst="upArrow">
            <a:avLst/>
          </a:prstGeom>
          <a:solidFill>
            <a:srgbClr val="A78BFA"/>
          </a:solidFill>
          <a:ln/>
        </p:spPr>
        <p:txBody>
          <a:bodyPr/>
          <a:lstStyle/>
          <a:p>
            <a:endParaRPr lang="en-US"/>
          </a:p>
        </p:txBody>
      </p:sp>
      <p:sp>
        <p:nvSpPr>
          <p:cNvPr id="39" name="Text 31"/>
          <p:cNvSpPr/>
          <p:nvPr/>
        </p:nvSpPr>
        <p:spPr>
          <a:xfrm>
            <a:off x="548640" y="4114800"/>
            <a:ext cx="11064240" cy="274320"/>
          </a:xfrm>
          <a:prstGeom prst="rect">
            <a:avLst/>
          </a:prstGeom>
          <a:noFill/>
          <a:ln/>
        </p:spPr>
        <p:txBody>
          <a:bodyPr wrap="square" lIns="0" tIns="0" rIns="0" bIns="0" rtlCol="0" anchor="ctr"/>
          <a:lstStyle/>
          <a:p>
            <a:pPr marL="0" indent="0" algn="ctr">
              <a:buNone/>
            </a:pPr>
            <a:r>
              <a:rPr lang="en-US" sz="1150" i="1" dirty="0">
                <a:solidFill>
                  <a:srgbClr val="A78BFA"/>
                </a:solidFill>
                <a:latin typeface="Calibri" pitchFamily="34" charset="0"/>
                <a:ea typeface="Calibri" pitchFamily="34" charset="-122"/>
                <a:cs typeface="Calibri" pitchFamily="34" charset="-120"/>
              </a:rPr>
              <a:t>continuous feedback loop — each verdict improves the next model</a:t>
            </a:r>
            <a:endParaRPr lang="en-US" sz="1150" dirty="0"/>
          </a:p>
        </p:txBody>
      </p:sp>
      <p:sp>
        <p:nvSpPr>
          <p:cNvPr id="40" name="Text 32"/>
          <p:cNvSpPr/>
          <p:nvPr/>
        </p:nvSpPr>
        <p:spPr>
          <a:xfrm>
            <a:off x="548640" y="4617720"/>
            <a:ext cx="5486400" cy="274320"/>
          </a:xfrm>
          <a:prstGeom prst="rect">
            <a:avLst/>
          </a:prstGeom>
          <a:noFill/>
          <a:ln/>
        </p:spPr>
        <p:txBody>
          <a:bodyPr wrap="square" lIns="0" tIns="0" rIns="0" bIns="0" rtlCol="0" anchor="ctr"/>
          <a:lstStyle/>
          <a:p>
            <a:pPr marL="0" indent="0">
              <a:buNone/>
            </a:pPr>
            <a:r>
              <a:rPr lang="en-US" sz="1200" b="1" kern="0" spc="100" dirty="0">
                <a:solidFill>
                  <a:srgbClr val="22D3EE"/>
                </a:solidFill>
                <a:latin typeface="Calibri" pitchFamily="34" charset="0"/>
                <a:ea typeface="Calibri" pitchFamily="34" charset="-122"/>
                <a:cs typeface="Calibri" pitchFamily="34" charset="-120"/>
              </a:rPr>
              <a:t>SERVICE-LEVEL TARGETS</a:t>
            </a:r>
            <a:endParaRPr lang="en-US" sz="1200" dirty="0"/>
          </a:p>
        </p:txBody>
      </p:sp>
      <p:sp>
        <p:nvSpPr>
          <p:cNvPr id="41" name="Shape 33"/>
          <p:cNvSpPr/>
          <p:nvPr/>
        </p:nvSpPr>
        <p:spPr>
          <a:xfrm>
            <a:off x="548640" y="4956048"/>
            <a:ext cx="2567864" cy="1097280"/>
          </a:xfrm>
          <a:prstGeom prst="roundRect">
            <a:avLst>
              <a:gd name="adj" fmla="val 7500"/>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42" name="Text 34"/>
          <p:cNvSpPr/>
          <p:nvPr/>
        </p:nvSpPr>
        <p:spPr>
          <a:xfrm>
            <a:off x="777240" y="5120640"/>
            <a:ext cx="2110664" cy="457200"/>
          </a:xfrm>
          <a:prstGeom prst="rect">
            <a:avLst/>
          </a:prstGeom>
          <a:noFill/>
          <a:ln/>
        </p:spPr>
        <p:txBody>
          <a:bodyPr wrap="square" lIns="0" tIns="0" rIns="0" bIns="0" rtlCol="0" anchor="ctr"/>
          <a:lstStyle/>
          <a:p>
            <a:pPr marL="0" indent="0">
              <a:buNone/>
            </a:pPr>
            <a:r>
              <a:rPr lang="en-US" sz="2400" b="1" dirty="0">
                <a:solidFill>
                  <a:srgbClr val="22D3EE"/>
                </a:solidFill>
                <a:latin typeface="Calibri" pitchFamily="34" charset="0"/>
                <a:ea typeface="Calibri" pitchFamily="34" charset="-122"/>
                <a:cs typeface="Calibri" pitchFamily="34" charset="-120"/>
              </a:rPr>
              <a:t>p99 &lt; 100 ms</a:t>
            </a:r>
            <a:endParaRPr lang="en-US" sz="2400" dirty="0"/>
          </a:p>
        </p:txBody>
      </p:sp>
      <p:sp>
        <p:nvSpPr>
          <p:cNvPr id="43" name="Text 35"/>
          <p:cNvSpPr/>
          <p:nvPr/>
        </p:nvSpPr>
        <p:spPr>
          <a:xfrm>
            <a:off x="777240" y="5596128"/>
            <a:ext cx="2110664" cy="320040"/>
          </a:xfrm>
          <a:prstGeom prst="rect">
            <a:avLst/>
          </a:prstGeom>
          <a:noFill/>
          <a:ln/>
        </p:spPr>
        <p:txBody>
          <a:bodyPr wrap="square" lIns="0" tIns="0" rIns="0" bIns="0" rtlCol="0" anchor="ctr"/>
          <a:lstStyle/>
          <a:p>
            <a:pPr marL="0" indent="0">
              <a:buNone/>
            </a:pPr>
            <a:r>
              <a:rPr lang="en-US" sz="1150" dirty="0">
                <a:solidFill>
                  <a:srgbClr val="C7D2E4"/>
                </a:solidFill>
                <a:latin typeface="Calibri" pitchFamily="34" charset="0"/>
                <a:ea typeface="Calibri" pitchFamily="34" charset="-122"/>
                <a:cs typeface="Calibri" pitchFamily="34" charset="-120"/>
              </a:rPr>
              <a:t>scoring latency</a:t>
            </a:r>
            <a:endParaRPr lang="en-US" sz="1150" dirty="0"/>
          </a:p>
        </p:txBody>
      </p:sp>
      <p:sp>
        <p:nvSpPr>
          <p:cNvPr id="44" name="Shape 36"/>
          <p:cNvSpPr/>
          <p:nvPr/>
        </p:nvSpPr>
        <p:spPr>
          <a:xfrm>
            <a:off x="3390824" y="4956048"/>
            <a:ext cx="2567864" cy="1097280"/>
          </a:xfrm>
          <a:prstGeom prst="roundRect">
            <a:avLst>
              <a:gd name="adj" fmla="val 7500"/>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45" name="Text 37"/>
          <p:cNvSpPr/>
          <p:nvPr/>
        </p:nvSpPr>
        <p:spPr>
          <a:xfrm>
            <a:off x="3619424" y="5120640"/>
            <a:ext cx="2110664" cy="457200"/>
          </a:xfrm>
          <a:prstGeom prst="rect">
            <a:avLst/>
          </a:prstGeom>
          <a:noFill/>
          <a:ln/>
        </p:spPr>
        <p:txBody>
          <a:bodyPr wrap="square" lIns="0" tIns="0" rIns="0" bIns="0" rtlCol="0" anchor="ctr"/>
          <a:lstStyle/>
          <a:p>
            <a:pPr marL="0" indent="0">
              <a:buNone/>
            </a:pPr>
            <a:r>
              <a:rPr lang="en-US" sz="2400" b="1" dirty="0">
                <a:solidFill>
                  <a:srgbClr val="10B981"/>
                </a:solidFill>
                <a:latin typeface="Calibri" pitchFamily="34" charset="0"/>
                <a:ea typeface="Calibri" pitchFamily="34" charset="-122"/>
                <a:cs typeface="Calibri" pitchFamily="34" charset="-120"/>
              </a:rPr>
              <a:t>99.9%</a:t>
            </a:r>
            <a:endParaRPr lang="en-US" sz="2400" dirty="0"/>
          </a:p>
        </p:txBody>
      </p:sp>
      <p:sp>
        <p:nvSpPr>
          <p:cNvPr id="46" name="Text 38"/>
          <p:cNvSpPr/>
          <p:nvPr/>
        </p:nvSpPr>
        <p:spPr>
          <a:xfrm>
            <a:off x="3619424" y="5596128"/>
            <a:ext cx="2110664" cy="320040"/>
          </a:xfrm>
          <a:prstGeom prst="rect">
            <a:avLst/>
          </a:prstGeom>
          <a:noFill/>
          <a:ln/>
        </p:spPr>
        <p:txBody>
          <a:bodyPr wrap="square" lIns="0" tIns="0" rIns="0" bIns="0" rtlCol="0" anchor="ctr"/>
          <a:lstStyle/>
          <a:p>
            <a:pPr marL="0" indent="0">
              <a:buNone/>
            </a:pPr>
            <a:r>
              <a:rPr lang="en-US" sz="1150" dirty="0">
                <a:solidFill>
                  <a:srgbClr val="C7D2E4"/>
                </a:solidFill>
                <a:latin typeface="Calibri" pitchFamily="34" charset="0"/>
                <a:ea typeface="Calibri" pitchFamily="34" charset="-122"/>
                <a:cs typeface="Calibri" pitchFamily="34" charset="-120"/>
              </a:rPr>
              <a:t>scoring availability</a:t>
            </a:r>
            <a:endParaRPr lang="en-US" sz="1150" dirty="0"/>
          </a:p>
        </p:txBody>
      </p:sp>
      <p:sp>
        <p:nvSpPr>
          <p:cNvPr id="47" name="Shape 39"/>
          <p:cNvSpPr/>
          <p:nvPr/>
        </p:nvSpPr>
        <p:spPr>
          <a:xfrm>
            <a:off x="6233008" y="4956048"/>
            <a:ext cx="2567864" cy="1097280"/>
          </a:xfrm>
          <a:prstGeom prst="roundRect">
            <a:avLst>
              <a:gd name="adj" fmla="val 7500"/>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48" name="Text 40"/>
          <p:cNvSpPr/>
          <p:nvPr/>
        </p:nvSpPr>
        <p:spPr>
          <a:xfrm>
            <a:off x="6461608" y="5120640"/>
            <a:ext cx="2110664" cy="457200"/>
          </a:xfrm>
          <a:prstGeom prst="rect">
            <a:avLst/>
          </a:prstGeom>
          <a:noFill/>
          <a:ln/>
        </p:spPr>
        <p:txBody>
          <a:bodyPr wrap="square" lIns="0" tIns="0" rIns="0" bIns="0" rtlCol="0" anchor="ctr"/>
          <a:lstStyle/>
          <a:p>
            <a:pPr marL="0" indent="0">
              <a:buNone/>
            </a:pPr>
            <a:r>
              <a:rPr lang="en-US" sz="2400" b="1" dirty="0">
                <a:solidFill>
                  <a:srgbClr val="A78BFA"/>
                </a:solidFill>
                <a:latin typeface="Calibri" pitchFamily="34" charset="0"/>
                <a:ea typeface="Calibri" pitchFamily="34" charset="-122"/>
                <a:cs typeface="Calibri" pitchFamily="34" charset="-120"/>
              </a:rPr>
              <a:t>100%</a:t>
            </a:r>
            <a:endParaRPr lang="en-US" sz="2400" dirty="0"/>
          </a:p>
        </p:txBody>
      </p:sp>
      <p:sp>
        <p:nvSpPr>
          <p:cNvPr id="49" name="Text 41"/>
          <p:cNvSpPr/>
          <p:nvPr/>
        </p:nvSpPr>
        <p:spPr>
          <a:xfrm>
            <a:off x="6461608" y="5596128"/>
            <a:ext cx="2110664" cy="320040"/>
          </a:xfrm>
          <a:prstGeom prst="rect">
            <a:avLst/>
          </a:prstGeom>
          <a:noFill/>
          <a:ln/>
        </p:spPr>
        <p:txBody>
          <a:bodyPr wrap="square" lIns="0" tIns="0" rIns="0" bIns="0" rtlCol="0" anchor="ctr"/>
          <a:lstStyle/>
          <a:p>
            <a:pPr marL="0" indent="0">
              <a:buNone/>
            </a:pPr>
            <a:r>
              <a:rPr lang="en-US" sz="1150" dirty="0">
                <a:solidFill>
                  <a:srgbClr val="C7D2E4"/>
                </a:solidFill>
                <a:latin typeface="Calibri" pitchFamily="34" charset="0"/>
                <a:ea typeface="Calibri" pitchFamily="34" charset="-122"/>
                <a:cs typeface="Calibri" pitchFamily="34" charset="-120"/>
              </a:rPr>
              <a:t>decisions logged</a:t>
            </a:r>
            <a:endParaRPr lang="en-US" sz="1150" dirty="0"/>
          </a:p>
        </p:txBody>
      </p:sp>
      <p:sp>
        <p:nvSpPr>
          <p:cNvPr id="50" name="Shape 42"/>
          <p:cNvSpPr/>
          <p:nvPr/>
        </p:nvSpPr>
        <p:spPr>
          <a:xfrm>
            <a:off x="9075191" y="4956048"/>
            <a:ext cx="2567864" cy="1097280"/>
          </a:xfrm>
          <a:prstGeom prst="roundRect">
            <a:avLst>
              <a:gd name="adj" fmla="val 7500"/>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51" name="Text 43"/>
          <p:cNvSpPr/>
          <p:nvPr/>
        </p:nvSpPr>
        <p:spPr>
          <a:xfrm>
            <a:off x="9303791" y="5120640"/>
            <a:ext cx="2110664" cy="457200"/>
          </a:xfrm>
          <a:prstGeom prst="rect">
            <a:avLst/>
          </a:prstGeom>
          <a:noFill/>
          <a:ln/>
        </p:spPr>
        <p:txBody>
          <a:bodyPr wrap="square" lIns="0" tIns="0" rIns="0" bIns="0" rtlCol="0" anchor="ctr"/>
          <a:lstStyle/>
          <a:p>
            <a:pPr marL="0" indent="0">
              <a:buNone/>
            </a:pPr>
            <a:r>
              <a:rPr lang="en-US" sz="2400" b="1" dirty="0">
                <a:solidFill>
                  <a:srgbClr val="F59E0B"/>
                </a:solidFill>
                <a:latin typeface="Calibri" pitchFamily="34" charset="0"/>
                <a:ea typeface="Calibri" pitchFamily="34" charset="-122"/>
                <a:cs typeface="Calibri" pitchFamily="34" charset="-120"/>
              </a:rPr>
              <a:t>Canary</a:t>
            </a:r>
            <a:endParaRPr lang="en-US" sz="2400" dirty="0"/>
          </a:p>
        </p:txBody>
      </p:sp>
      <p:sp>
        <p:nvSpPr>
          <p:cNvPr id="52" name="Text 44"/>
          <p:cNvSpPr/>
          <p:nvPr/>
        </p:nvSpPr>
        <p:spPr>
          <a:xfrm>
            <a:off x="9303791" y="5596128"/>
            <a:ext cx="2110664" cy="320040"/>
          </a:xfrm>
          <a:prstGeom prst="rect">
            <a:avLst/>
          </a:prstGeom>
          <a:noFill/>
          <a:ln/>
        </p:spPr>
        <p:txBody>
          <a:bodyPr wrap="square" lIns="0" tIns="0" rIns="0" bIns="0" rtlCol="0" anchor="ctr"/>
          <a:lstStyle/>
          <a:p>
            <a:pPr marL="0" indent="0">
              <a:buNone/>
            </a:pPr>
            <a:r>
              <a:rPr lang="en-US" sz="1150" dirty="0">
                <a:solidFill>
                  <a:srgbClr val="C7D2E4"/>
                </a:solidFill>
                <a:latin typeface="Calibri" pitchFamily="34" charset="0"/>
                <a:ea typeface="Calibri" pitchFamily="34" charset="-122"/>
                <a:cs typeface="Calibri" pitchFamily="34" charset="-120"/>
              </a:rPr>
              <a:t>safe model rollout</a:t>
            </a:r>
            <a:endParaRPr lang="en-US" sz="1150" dirty="0"/>
          </a:p>
        </p:txBody>
      </p:sp>
      <p:sp>
        <p:nvSpPr>
          <p:cNvPr id="54" name="Text 45"/>
          <p:cNvSpPr/>
          <p:nvPr/>
        </p:nvSpPr>
        <p:spPr>
          <a:xfrm>
            <a:off x="548640" y="6473952"/>
            <a:ext cx="8229600" cy="274320"/>
          </a:xfrm>
          <a:prstGeom prst="rect">
            <a:avLst/>
          </a:prstGeom>
          <a:noFill/>
          <a:ln/>
        </p:spPr>
        <p:txBody>
          <a:bodyPr wrap="square" lIns="0" tIns="0" rIns="0" bIns="0" rtlCol="0" anchor="ctr"/>
          <a:lstStyle/>
          <a:p>
            <a:pPr marL="0" indent="0" algn="l">
              <a:buNone/>
            </a:pPr>
            <a:r>
              <a:rPr lang="en-US" sz="900" dirty="0">
                <a:solidFill>
                  <a:srgbClr val="8A98B5"/>
                </a:solidFill>
                <a:latin typeface="Calibri" pitchFamily="34" charset="0"/>
                <a:ea typeface="Calibri" pitchFamily="34" charset="-122"/>
                <a:cs typeface="Calibri" pitchFamily="34" charset="-120"/>
              </a:rPr>
              <a:t>FraudShield AI  ·  Payment Fraud Sequence Detection (LSTM/RNN)</a:t>
            </a:r>
            <a:endParaRPr lang="en-US" sz="900" dirty="0"/>
          </a:p>
        </p:txBody>
      </p:sp>
      <p:sp>
        <p:nvSpPr>
          <p:cNvPr id="55" name="Text 46"/>
          <p:cNvSpPr/>
          <p:nvPr/>
        </p:nvSpPr>
        <p:spPr>
          <a:xfrm>
            <a:off x="10728655" y="6473952"/>
            <a:ext cx="914400" cy="274320"/>
          </a:xfrm>
          <a:prstGeom prst="rect">
            <a:avLst/>
          </a:prstGeom>
          <a:noFill/>
          <a:ln/>
        </p:spPr>
        <p:txBody>
          <a:bodyPr wrap="square" lIns="0" tIns="0" rIns="0" bIns="0" rtlCol="0" anchor="ctr"/>
          <a:lstStyle/>
          <a:p>
            <a:pPr marL="0" indent="0" algn="r">
              <a:buNone/>
            </a:pPr>
            <a:r>
              <a:rPr lang="en-US" sz="900" dirty="0">
                <a:solidFill>
                  <a:srgbClr val="8A98B5"/>
                </a:solidFill>
                <a:latin typeface="Calibri" pitchFamily="34" charset="0"/>
                <a:ea typeface="Calibri" pitchFamily="34" charset="-122"/>
                <a:cs typeface="Calibri" pitchFamily="34" charset="-120"/>
              </a:rPr>
              <a:t>14 / 15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2011680" y="2286000"/>
            <a:ext cx="5943600" cy="5943600"/>
          </a:xfrm>
          <a:prstGeom prst="ellipse">
            <a:avLst/>
          </a:prstGeom>
          <a:solidFill>
            <a:srgbClr val="12224A">
              <a:alpha val="40000"/>
            </a:srgbClr>
          </a:solidFill>
          <a:ln/>
        </p:spPr>
        <p:txBody>
          <a:bodyPr/>
          <a:lstStyle/>
          <a:p>
            <a:endParaRPr lang="en-US"/>
          </a:p>
        </p:txBody>
      </p:sp>
      <p:sp>
        <p:nvSpPr>
          <p:cNvPr id="3" name="Shape 1"/>
          <p:cNvSpPr/>
          <p:nvPr/>
        </p:nvSpPr>
        <p:spPr>
          <a:xfrm>
            <a:off x="8961120" y="-2194560"/>
            <a:ext cx="5943600" cy="5943600"/>
          </a:xfrm>
          <a:prstGeom prst="ellipse">
            <a:avLst/>
          </a:prstGeom>
          <a:solidFill>
            <a:srgbClr val="1A1538">
              <a:alpha val="38000"/>
            </a:srgbClr>
          </a:solidFill>
          <a:ln/>
        </p:spPr>
        <p:txBody>
          <a:bodyPr/>
          <a:lstStyle/>
          <a:p>
            <a:endParaRPr lang="en-US"/>
          </a:p>
        </p:txBody>
      </p:sp>
      <p:sp>
        <p:nvSpPr>
          <p:cNvPr id="4" name="Shape 2"/>
          <p:cNvSpPr/>
          <p:nvPr/>
        </p:nvSpPr>
        <p:spPr>
          <a:xfrm>
            <a:off x="640080" y="640080"/>
            <a:ext cx="777240" cy="777240"/>
          </a:xfrm>
          <a:prstGeom prst="ellipse">
            <a:avLst/>
          </a:prstGeom>
          <a:solidFill>
            <a:srgbClr val="1B2540"/>
          </a:solidFill>
          <a:ln w="15875">
            <a:solidFill>
              <a:srgbClr val="22D3EE"/>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826618" y="826618"/>
            <a:ext cx="404165" cy="404165"/>
          </a:xfrm>
          <a:prstGeom prst="rect">
            <a:avLst/>
          </a:prstGeom>
        </p:spPr>
      </p:pic>
      <p:sp>
        <p:nvSpPr>
          <p:cNvPr id="6" name="Text 3"/>
          <p:cNvSpPr/>
          <p:nvPr/>
        </p:nvSpPr>
        <p:spPr>
          <a:xfrm>
            <a:off x="1600200" y="713232"/>
            <a:ext cx="7315200" cy="64008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FraudShield AI</a:t>
            </a:r>
            <a:endParaRPr lang="en-US" sz="3000" dirty="0"/>
          </a:p>
        </p:txBody>
      </p:sp>
      <p:sp>
        <p:nvSpPr>
          <p:cNvPr id="8" name="Text 5"/>
          <p:cNvSpPr/>
          <p:nvPr/>
        </p:nvSpPr>
        <p:spPr>
          <a:xfrm>
            <a:off x="8945575" y="457200"/>
            <a:ext cx="2697480" cy="457200"/>
          </a:xfrm>
          <a:prstGeom prst="rect">
            <a:avLst/>
          </a:prstGeom>
          <a:noFill/>
          <a:ln/>
        </p:spPr>
        <p:txBody>
          <a:bodyPr wrap="square" lIns="0" tIns="0" rIns="0" bIns="0" rtlCol="0" anchor="ctr"/>
          <a:lstStyle/>
          <a:p>
            <a:pPr marL="0" indent="0" algn="ctr">
              <a:buNone/>
            </a:pPr>
            <a:endParaRPr lang="en-US" sz="900" dirty="0"/>
          </a:p>
        </p:txBody>
      </p:sp>
      <p:sp>
        <p:nvSpPr>
          <p:cNvPr id="9" name="Text 6"/>
          <p:cNvSpPr/>
          <p:nvPr/>
        </p:nvSpPr>
        <p:spPr>
          <a:xfrm>
            <a:off x="640080" y="1783080"/>
            <a:ext cx="10881360" cy="640080"/>
          </a:xfrm>
          <a:prstGeom prst="rect">
            <a:avLst/>
          </a:prstGeom>
          <a:noFill/>
          <a:ln/>
        </p:spPr>
        <p:txBody>
          <a:bodyPr wrap="square" lIns="0" tIns="0" rIns="0" bIns="0" rtlCol="0" anchor="ctr"/>
          <a:lstStyle/>
          <a:p>
            <a:pPr marL="0" indent="0">
              <a:buNone/>
            </a:pPr>
            <a:r>
              <a:rPr lang="en-US" sz="2600" b="1" dirty="0">
                <a:solidFill>
                  <a:srgbClr val="22D3EE"/>
                </a:solidFill>
                <a:latin typeface="Calibri" pitchFamily="34" charset="0"/>
                <a:ea typeface="Calibri" pitchFamily="34" charset="-122"/>
                <a:cs typeface="Calibri" pitchFamily="34" charset="-120"/>
              </a:rPr>
              <a:t>The foundation for governed fraud-risk intelligence</a:t>
            </a:r>
            <a:endParaRPr lang="en-US" sz="2600" dirty="0"/>
          </a:p>
        </p:txBody>
      </p:sp>
      <p:sp>
        <p:nvSpPr>
          <p:cNvPr id="10" name="Text 7"/>
          <p:cNvSpPr/>
          <p:nvPr/>
        </p:nvSpPr>
        <p:spPr>
          <a:xfrm>
            <a:off x="640080" y="2423160"/>
            <a:ext cx="10058400" cy="640080"/>
          </a:xfrm>
          <a:prstGeom prst="rect">
            <a:avLst/>
          </a:prstGeom>
          <a:noFill/>
          <a:ln/>
        </p:spPr>
        <p:txBody>
          <a:bodyPr wrap="square" lIns="0" tIns="0" rIns="0" bIns="0" rtlCol="0" anchor="ctr"/>
          <a:lstStyle/>
          <a:p>
            <a:pPr marL="0" indent="0">
              <a:lnSpc>
                <a:spcPct val="110000"/>
              </a:lnSpc>
              <a:buNone/>
            </a:pPr>
            <a:r>
              <a:rPr lang="en-US" sz="1500" dirty="0">
                <a:solidFill>
                  <a:srgbClr val="C7D2E4"/>
                </a:solidFill>
                <a:latin typeface="Calibri" pitchFamily="34" charset="0"/>
                <a:ea typeface="Calibri" pitchFamily="34" charset="-122"/>
                <a:cs typeface="Calibri" pitchFamily="34" charset="-120"/>
              </a:rPr>
              <a:t>A decision-support platform that reads payment behaviour, scores fraud risk, and recommends a governed action — Approve, Review, or Block.</a:t>
            </a:r>
            <a:endParaRPr lang="en-US" sz="1500" dirty="0"/>
          </a:p>
        </p:txBody>
      </p:sp>
      <p:sp>
        <p:nvSpPr>
          <p:cNvPr id="11" name="Shape 8"/>
          <p:cNvSpPr/>
          <p:nvPr/>
        </p:nvSpPr>
        <p:spPr>
          <a:xfrm>
            <a:off x="640080" y="3337560"/>
            <a:ext cx="3454298" cy="1783080"/>
          </a:xfrm>
          <a:prstGeom prst="roundRect">
            <a:avLst>
              <a:gd name="adj" fmla="val 4615"/>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12" name="Text 9"/>
          <p:cNvSpPr/>
          <p:nvPr/>
        </p:nvSpPr>
        <p:spPr>
          <a:xfrm>
            <a:off x="3179978" y="3429000"/>
            <a:ext cx="731520" cy="457200"/>
          </a:xfrm>
          <a:prstGeom prst="rect">
            <a:avLst/>
          </a:prstGeom>
          <a:noFill/>
          <a:ln/>
        </p:spPr>
        <p:txBody>
          <a:bodyPr wrap="square" lIns="0" tIns="0" rIns="0" bIns="0" rtlCol="0" anchor="ctr"/>
          <a:lstStyle/>
          <a:p>
            <a:pPr marL="0" indent="0" algn="r">
              <a:buNone/>
            </a:pPr>
            <a:r>
              <a:rPr lang="en-US" sz="2600" b="1" dirty="0">
                <a:solidFill>
                  <a:srgbClr val="2A3550"/>
                </a:solidFill>
                <a:latin typeface="Calibri" pitchFamily="34" charset="0"/>
                <a:ea typeface="Calibri" pitchFamily="34" charset="-122"/>
                <a:cs typeface="Calibri" pitchFamily="34" charset="-120"/>
              </a:rPr>
              <a:t>01</a:t>
            </a:r>
            <a:endParaRPr lang="en-US" sz="2600" dirty="0"/>
          </a:p>
        </p:txBody>
      </p:sp>
      <p:sp>
        <p:nvSpPr>
          <p:cNvPr id="13" name="Shape 10"/>
          <p:cNvSpPr/>
          <p:nvPr/>
        </p:nvSpPr>
        <p:spPr>
          <a:xfrm>
            <a:off x="868680" y="3520440"/>
            <a:ext cx="548640" cy="548640"/>
          </a:xfrm>
          <a:prstGeom prst="ellipse">
            <a:avLst/>
          </a:prstGeom>
          <a:solidFill>
            <a:srgbClr val="1B2540"/>
          </a:solidFill>
          <a:ln w="15875">
            <a:solidFill>
              <a:srgbClr val="22D3EE"/>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1000354" y="3652114"/>
            <a:ext cx="285293" cy="285293"/>
          </a:xfrm>
          <a:prstGeom prst="rect">
            <a:avLst/>
          </a:prstGeom>
        </p:spPr>
      </p:pic>
      <p:sp>
        <p:nvSpPr>
          <p:cNvPr id="15" name="Text 11"/>
          <p:cNvSpPr/>
          <p:nvPr/>
        </p:nvSpPr>
        <p:spPr>
          <a:xfrm>
            <a:off x="868680" y="4160520"/>
            <a:ext cx="2997098"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Validate on real data</a:t>
            </a:r>
            <a:endParaRPr lang="en-US" sz="1500" dirty="0"/>
          </a:p>
        </p:txBody>
      </p:sp>
      <p:sp>
        <p:nvSpPr>
          <p:cNvPr id="16" name="Text 12"/>
          <p:cNvSpPr/>
          <p:nvPr/>
        </p:nvSpPr>
        <p:spPr>
          <a:xfrm>
            <a:off x="868680" y="4526280"/>
            <a:ext cx="2997098" cy="548640"/>
          </a:xfrm>
          <a:prstGeom prst="rect">
            <a:avLst/>
          </a:prstGeom>
          <a:noFill/>
          <a:ln/>
        </p:spPr>
        <p:txBody>
          <a:bodyPr wrap="square" lIns="0" tIns="0" rIns="0" bIns="0" rtlCol="0" anchor="ctr"/>
          <a:lstStyle/>
          <a:p>
            <a:pPr marL="0" indent="0">
              <a:lnSpc>
                <a:spcPct val="108000"/>
              </a:lnSpc>
              <a:buNone/>
            </a:pPr>
            <a:r>
              <a:rPr lang="en-US" sz="1150" dirty="0">
                <a:solidFill>
                  <a:srgbClr val="C7D2E4"/>
                </a:solidFill>
                <a:latin typeface="Calibri" pitchFamily="34" charset="0"/>
                <a:ea typeface="Calibri" pitchFamily="34" charset="-122"/>
                <a:cs typeface="Calibri" pitchFamily="34" charset="-120"/>
              </a:rPr>
              <a:t>Run on full PaySim or institution data with temporal monitoring.</a:t>
            </a:r>
            <a:endParaRPr lang="en-US" sz="1150" dirty="0"/>
          </a:p>
        </p:txBody>
      </p:sp>
      <p:sp>
        <p:nvSpPr>
          <p:cNvPr id="17" name="Shape 13"/>
          <p:cNvSpPr/>
          <p:nvPr/>
        </p:nvSpPr>
        <p:spPr>
          <a:xfrm>
            <a:off x="4368698" y="3337560"/>
            <a:ext cx="3454298" cy="1783080"/>
          </a:xfrm>
          <a:prstGeom prst="roundRect">
            <a:avLst>
              <a:gd name="adj" fmla="val 4615"/>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18" name="Text 14"/>
          <p:cNvSpPr/>
          <p:nvPr/>
        </p:nvSpPr>
        <p:spPr>
          <a:xfrm>
            <a:off x="6908597" y="3429000"/>
            <a:ext cx="731520" cy="457200"/>
          </a:xfrm>
          <a:prstGeom prst="rect">
            <a:avLst/>
          </a:prstGeom>
          <a:noFill/>
          <a:ln/>
        </p:spPr>
        <p:txBody>
          <a:bodyPr wrap="square" lIns="0" tIns="0" rIns="0" bIns="0" rtlCol="0" anchor="ctr"/>
          <a:lstStyle/>
          <a:p>
            <a:pPr marL="0" indent="0" algn="r">
              <a:buNone/>
            </a:pPr>
            <a:r>
              <a:rPr lang="en-US" sz="2600" b="1" dirty="0">
                <a:solidFill>
                  <a:srgbClr val="2A3550"/>
                </a:solidFill>
                <a:latin typeface="Calibri" pitchFamily="34" charset="0"/>
                <a:ea typeface="Calibri" pitchFamily="34" charset="-122"/>
                <a:cs typeface="Calibri" pitchFamily="34" charset="-120"/>
              </a:rPr>
              <a:t>02</a:t>
            </a:r>
            <a:endParaRPr lang="en-US" sz="2600" dirty="0"/>
          </a:p>
        </p:txBody>
      </p:sp>
      <p:sp>
        <p:nvSpPr>
          <p:cNvPr id="19" name="Shape 15"/>
          <p:cNvSpPr/>
          <p:nvPr/>
        </p:nvSpPr>
        <p:spPr>
          <a:xfrm>
            <a:off x="4597298" y="3520440"/>
            <a:ext cx="548640" cy="548640"/>
          </a:xfrm>
          <a:prstGeom prst="ellipse">
            <a:avLst/>
          </a:prstGeom>
          <a:solidFill>
            <a:srgbClr val="1B2540"/>
          </a:solidFill>
          <a:ln w="15875">
            <a:solidFill>
              <a:srgbClr val="F59E0B"/>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4728972" y="3652114"/>
            <a:ext cx="285293" cy="285293"/>
          </a:xfrm>
          <a:prstGeom prst="rect">
            <a:avLst/>
          </a:prstGeom>
        </p:spPr>
      </p:pic>
      <p:sp>
        <p:nvSpPr>
          <p:cNvPr id="21" name="Text 16"/>
          <p:cNvSpPr/>
          <p:nvPr/>
        </p:nvSpPr>
        <p:spPr>
          <a:xfrm>
            <a:off x="4597298" y="4160520"/>
            <a:ext cx="2997098"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Define threshold policy</a:t>
            </a:r>
            <a:endParaRPr lang="en-US" sz="1500" dirty="0"/>
          </a:p>
        </p:txBody>
      </p:sp>
      <p:sp>
        <p:nvSpPr>
          <p:cNvPr id="22" name="Text 17"/>
          <p:cNvSpPr/>
          <p:nvPr/>
        </p:nvSpPr>
        <p:spPr>
          <a:xfrm>
            <a:off x="4597298" y="4526280"/>
            <a:ext cx="2997098" cy="548640"/>
          </a:xfrm>
          <a:prstGeom prst="rect">
            <a:avLst/>
          </a:prstGeom>
          <a:noFill/>
          <a:ln/>
        </p:spPr>
        <p:txBody>
          <a:bodyPr wrap="square" lIns="0" tIns="0" rIns="0" bIns="0" rtlCol="0" anchor="ctr"/>
          <a:lstStyle/>
          <a:p>
            <a:pPr marL="0" indent="0">
              <a:lnSpc>
                <a:spcPct val="108000"/>
              </a:lnSpc>
              <a:buNone/>
            </a:pPr>
            <a:r>
              <a:rPr lang="en-US" sz="1150" dirty="0">
                <a:solidFill>
                  <a:srgbClr val="C7D2E4"/>
                </a:solidFill>
                <a:latin typeface="Calibri" pitchFamily="34" charset="0"/>
                <a:ea typeface="Calibri" pitchFamily="34" charset="-122"/>
                <a:cs typeface="Calibri" pitchFamily="34" charset="-120"/>
              </a:rPr>
              <a:t>Set the bands with fraud and compliance teams together.</a:t>
            </a:r>
            <a:endParaRPr lang="en-US" sz="1150" dirty="0"/>
          </a:p>
        </p:txBody>
      </p:sp>
      <p:sp>
        <p:nvSpPr>
          <p:cNvPr id="23" name="Shape 18"/>
          <p:cNvSpPr/>
          <p:nvPr/>
        </p:nvSpPr>
        <p:spPr>
          <a:xfrm>
            <a:off x="8097317" y="3337560"/>
            <a:ext cx="3454298" cy="1783080"/>
          </a:xfrm>
          <a:prstGeom prst="roundRect">
            <a:avLst>
              <a:gd name="adj" fmla="val 4615"/>
            </a:avLst>
          </a:prstGeom>
          <a:solidFill>
            <a:srgbClr val="151D33"/>
          </a:solidFill>
          <a:ln w="12700">
            <a:solidFill>
              <a:srgbClr val="2A3550"/>
            </a:solidFill>
            <a:prstDash val="solid"/>
          </a:ln>
          <a:effectLst>
            <a:outerShdw blurRad="127000" dist="38100" dir="5400000" algn="bl" rotWithShape="0">
              <a:srgbClr val="000000">
                <a:alpha val="30000"/>
              </a:srgbClr>
            </a:outerShdw>
          </a:effectLst>
        </p:spPr>
        <p:txBody>
          <a:bodyPr/>
          <a:lstStyle/>
          <a:p>
            <a:endParaRPr lang="en-US"/>
          </a:p>
        </p:txBody>
      </p:sp>
      <p:sp>
        <p:nvSpPr>
          <p:cNvPr id="24" name="Text 19"/>
          <p:cNvSpPr/>
          <p:nvPr/>
        </p:nvSpPr>
        <p:spPr>
          <a:xfrm>
            <a:off x="10637215" y="3429000"/>
            <a:ext cx="731520" cy="457200"/>
          </a:xfrm>
          <a:prstGeom prst="rect">
            <a:avLst/>
          </a:prstGeom>
          <a:noFill/>
          <a:ln/>
        </p:spPr>
        <p:txBody>
          <a:bodyPr wrap="square" lIns="0" tIns="0" rIns="0" bIns="0" rtlCol="0" anchor="ctr"/>
          <a:lstStyle/>
          <a:p>
            <a:pPr marL="0" indent="0" algn="r">
              <a:buNone/>
            </a:pPr>
            <a:r>
              <a:rPr lang="en-US" sz="2600" b="1" dirty="0">
                <a:solidFill>
                  <a:srgbClr val="2A3550"/>
                </a:solidFill>
                <a:latin typeface="Calibri" pitchFamily="34" charset="0"/>
                <a:ea typeface="Calibri" pitchFamily="34" charset="-122"/>
                <a:cs typeface="Calibri" pitchFamily="34" charset="-120"/>
              </a:rPr>
              <a:t>03</a:t>
            </a:r>
            <a:endParaRPr lang="en-US" sz="2600" dirty="0"/>
          </a:p>
        </p:txBody>
      </p:sp>
      <p:sp>
        <p:nvSpPr>
          <p:cNvPr id="25" name="Shape 20"/>
          <p:cNvSpPr/>
          <p:nvPr/>
        </p:nvSpPr>
        <p:spPr>
          <a:xfrm>
            <a:off x="8325917" y="3520440"/>
            <a:ext cx="548640" cy="548640"/>
          </a:xfrm>
          <a:prstGeom prst="ellipse">
            <a:avLst/>
          </a:prstGeom>
          <a:solidFill>
            <a:srgbClr val="1B2540"/>
          </a:solidFill>
          <a:ln w="15875">
            <a:solidFill>
              <a:srgbClr val="10B981"/>
            </a:solidFill>
            <a:prstDash val="solid"/>
          </a:ln>
        </p:spPr>
        <p:txBody>
          <a:bodyPr/>
          <a:lstStyle/>
          <a:p>
            <a:endParaRPr lang="en-US"/>
          </a:p>
        </p:txBody>
      </p:sp>
      <p:pic>
        <p:nvPicPr>
          <p:cNvPr id="26" name="Image 3" descr="preencoded.png"/>
          <p:cNvPicPr>
            <a:picLocks noChangeAspect="1"/>
          </p:cNvPicPr>
          <p:nvPr/>
        </p:nvPicPr>
        <p:blipFill>
          <a:blip r:embed="rId6"/>
          <a:stretch>
            <a:fillRect/>
          </a:stretch>
        </p:blipFill>
        <p:spPr>
          <a:xfrm>
            <a:off x="8457590" y="3652114"/>
            <a:ext cx="285293" cy="285293"/>
          </a:xfrm>
          <a:prstGeom prst="rect">
            <a:avLst/>
          </a:prstGeom>
        </p:spPr>
      </p:pic>
      <p:sp>
        <p:nvSpPr>
          <p:cNvPr id="27" name="Text 21"/>
          <p:cNvSpPr/>
          <p:nvPr/>
        </p:nvSpPr>
        <p:spPr>
          <a:xfrm>
            <a:off x="8325917" y="4160520"/>
            <a:ext cx="2997098"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Run a secure pilot</a:t>
            </a:r>
            <a:endParaRPr lang="en-US" sz="1500" dirty="0"/>
          </a:p>
        </p:txBody>
      </p:sp>
      <p:sp>
        <p:nvSpPr>
          <p:cNvPr id="28" name="Text 22"/>
          <p:cNvSpPr/>
          <p:nvPr/>
        </p:nvSpPr>
        <p:spPr>
          <a:xfrm>
            <a:off x="8325917" y="4526280"/>
            <a:ext cx="2997098" cy="548640"/>
          </a:xfrm>
          <a:prstGeom prst="rect">
            <a:avLst/>
          </a:prstGeom>
          <a:noFill/>
          <a:ln/>
        </p:spPr>
        <p:txBody>
          <a:bodyPr wrap="square" lIns="0" tIns="0" rIns="0" bIns="0" rtlCol="0" anchor="ctr"/>
          <a:lstStyle/>
          <a:p>
            <a:pPr marL="0" indent="0">
              <a:lnSpc>
                <a:spcPct val="108000"/>
              </a:lnSpc>
              <a:buNone/>
            </a:pPr>
            <a:r>
              <a:rPr lang="en-US" sz="1150" dirty="0">
                <a:solidFill>
                  <a:srgbClr val="C7D2E4"/>
                </a:solidFill>
                <a:latin typeface="Calibri" pitchFamily="34" charset="0"/>
                <a:ea typeface="Calibri" pitchFamily="34" charset="-122"/>
                <a:cs typeface="Calibri" pitchFamily="34" charset="-120"/>
              </a:rPr>
              <a:t>Deploy behind the payment gateway in a controlled rollout.</a:t>
            </a:r>
            <a:endParaRPr lang="en-US" sz="1150" dirty="0"/>
          </a:p>
        </p:txBody>
      </p:sp>
      <p:sp>
        <p:nvSpPr>
          <p:cNvPr id="29" name="Shape 23"/>
          <p:cNvSpPr/>
          <p:nvPr/>
        </p:nvSpPr>
        <p:spPr>
          <a:xfrm>
            <a:off x="640080" y="5230368"/>
            <a:ext cx="7680960" cy="530352"/>
          </a:xfrm>
          <a:prstGeom prst="roundRect">
            <a:avLst>
              <a:gd name="adj" fmla="val 17241"/>
            </a:avLst>
          </a:prstGeom>
          <a:solidFill>
            <a:srgbClr val="1B2540"/>
          </a:solidFill>
          <a:ln w="12700">
            <a:solidFill>
              <a:srgbClr val="2A3550"/>
            </a:solidFill>
            <a:prstDash val="solid"/>
          </a:ln>
        </p:spPr>
        <p:txBody>
          <a:bodyPr/>
          <a:lstStyle/>
          <a:p>
            <a:endParaRPr lang="en-US"/>
          </a:p>
        </p:txBody>
      </p:sp>
      <p:sp>
        <p:nvSpPr>
          <p:cNvPr id="30" name="Text 24"/>
          <p:cNvSpPr/>
          <p:nvPr/>
        </p:nvSpPr>
        <p:spPr>
          <a:xfrm>
            <a:off x="640080" y="5230368"/>
            <a:ext cx="7680960"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The model recommends.  </a:t>
            </a:r>
            <a:r>
              <a:rPr lang="en-US" sz="1400" b="1" dirty="0">
                <a:solidFill>
                  <a:srgbClr val="22D3EE"/>
                </a:solidFill>
                <a:latin typeface="Calibri" pitchFamily="34" charset="0"/>
                <a:ea typeface="Calibri" pitchFamily="34" charset="-122"/>
                <a:cs typeface="Calibri" pitchFamily="34" charset="-120"/>
              </a:rPr>
              <a:t>Humans and policy decide.</a:t>
            </a:r>
            <a:endParaRPr lang="en-US" sz="1400" dirty="0"/>
          </a:p>
        </p:txBody>
      </p:sp>
      <p:sp>
        <p:nvSpPr>
          <p:cNvPr id="31" name="Text 25"/>
          <p:cNvSpPr/>
          <p:nvPr/>
        </p:nvSpPr>
        <p:spPr>
          <a:xfrm>
            <a:off x="640080" y="5870448"/>
            <a:ext cx="7315200" cy="502920"/>
          </a:xfrm>
          <a:prstGeom prst="rect">
            <a:avLst/>
          </a:prstGeom>
          <a:noFill/>
          <a:ln/>
        </p:spPr>
        <p:txBody>
          <a:bodyPr wrap="square" lIns="0" tIns="0" rIns="0" bIns="0" rtlCol="0" anchor="ctr"/>
          <a:lstStyle/>
          <a:p>
            <a:pPr marL="0" indent="0">
              <a:buNone/>
            </a:pPr>
            <a:r>
              <a:rPr lang="en-US" sz="2500" b="1" dirty="0">
                <a:solidFill>
                  <a:srgbClr val="FFFFFF"/>
                </a:solidFill>
                <a:latin typeface="Calibri" pitchFamily="34" charset="0"/>
                <a:ea typeface="Calibri" pitchFamily="34" charset="-122"/>
                <a:cs typeface="Calibri" pitchFamily="34" charset="-120"/>
              </a:rPr>
              <a:t>Thank you.  Questions?</a:t>
            </a:r>
            <a:endParaRPr lang="en-US" sz="2500" dirty="0"/>
          </a:p>
        </p:txBody>
      </p:sp>
      <p:sp>
        <p:nvSpPr>
          <p:cNvPr id="32" name="Text 26"/>
          <p:cNvSpPr/>
          <p:nvPr/>
        </p:nvSpPr>
        <p:spPr>
          <a:xfrm>
            <a:off x="8503920" y="5870448"/>
            <a:ext cx="3108960" cy="502920"/>
          </a:xfrm>
          <a:prstGeom prst="rect">
            <a:avLst/>
          </a:prstGeom>
          <a:noFill/>
          <a:ln/>
        </p:spPr>
        <p:txBody>
          <a:bodyPr wrap="square" lIns="0" tIns="0" rIns="0" bIns="0" rtlCol="0" anchor="ctr"/>
          <a:lstStyle/>
          <a:p>
            <a:pPr marL="0" indent="0" algn="r">
              <a:buNone/>
            </a:pPr>
            <a:r>
              <a:rPr lang="en-US" sz="950" dirty="0">
                <a:solidFill>
                  <a:srgbClr val="8A98B5"/>
                </a:solidFill>
                <a:latin typeface="Calibri" pitchFamily="34" charset="0"/>
                <a:ea typeface="Calibri" pitchFamily="34" charset="-122"/>
                <a:cs typeface="Calibri" pitchFamily="34" charset="-120"/>
              </a:rPr>
              <a:t>Krishna Mathur · Yash Petkar · Atharva Soundankar · Krish Kumar</a:t>
            </a:r>
            <a:endParaRPr lang="en-US" sz="950" dirty="0"/>
          </a:p>
        </p:txBody>
      </p:sp>
      <p:sp>
        <p:nvSpPr>
          <p:cNvPr id="34" name="Text 27"/>
          <p:cNvSpPr/>
          <p:nvPr/>
        </p:nvSpPr>
        <p:spPr>
          <a:xfrm>
            <a:off x="548640" y="6473952"/>
            <a:ext cx="8229600" cy="274320"/>
          </a:xfrm>
          <a:prstGeom prst="rect">
            <a:avLst/>
          </a:prstGeom>
          <a:noFill/>
          <a:ln/>
        </p:spPr>
        <p:txBody>
          <a:bodyPr wrap="square" lIns="0" tIns="0" rIns="0" bIns="0" rtlCol="0" anchor="ctr"/>
          <a:lstStyle/>
          <a:p>
            <a:pPr marL="0" indent="0" algn="l">
              <a:buNone/>
            </a:pPr>
            <a:r>
              <a:rPr lang="en-US" sz="900" dirty="0">
                <a:solidFill>
                  <a:srgbClr val="8A98B5"/>
                </a:solidFill>
                <a:latin typeface="Calibri" pitchFamily="34" charset="0"/>
                <a:ea typeface="Calibri" pitchFamily="34" charset="-122"/>
                <a:cs typeface="Calibri" pitchFamily="34" charset="-120"/>
              </a:rPr>
              <a:t>FraudShield AI  ·  Payment Fraud Sequence Detection (LSTM/RNN)</a:t>
            </a:r>
            <a:endParaRPr lang="en-US" sz="900" dirty="0"/>
          </a:p>
        </p:txBody>
      </p:sp>
      <p:sp>
        <p:nvSpPr>
          <p:cNvPr id="35" name="Text 28"/>
          <p:cNvSpPr/>
          <p:nvPr/>
        </p:nvSpPr>
        <p:spPr>
          <a:xfrm>
            <a:off x="10728655" y="6473952"/>
            <a:ext cx="914400" cy="274320"/>
          </a:xfrm>
          <a:prstGeom prst="rect">
            <a:avLst/>
          </a:prstGeom>
          <a:noFill/>
          <a:ln/>
        </p:spPr>
        <p:txBody>
          <a:bodyPr wrap="square" lIns="0" tIns="0" rIns="0" bIns="0" rtlCol="0" anchor="ctr"/>
          <a:lstStyle/>
          <a:p>
            <a:pPr marL="0" indent="0" algn="r">
              <a:buNone/>
            </a:pPr>
            <a:r>
              <a:rPr lang="en-US" sz="900" dirty="0">
                <a:solidFill>
                  <a:srgbClr val="8A98B5"/>
                </a:solidFill>
                <a:latin typeface="Calibri" pitchFamily="34" charset="0"/>
                <a:ea typeface="Calibri" pitchFamily="34" charset="-122"/>
                <a:cs typeface="Calibri" pitchFamily="34" charset="-120"/>
              </a:rPr>
              <a:t>15 / 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3829</Words>
  <Application>Microsoft Macintosh PowerPoint</Application>
  <PresentationFormat>Widescreen</PresentationFormat>
  <Paragraphs>340</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FraudShield AI</dc:title>
  <dc:subject>PptxGenJS Presentation</dc:subject>
  <dc:creator>Krishna Mathur, Yash Petkar, Atharva Soundankar, Krish Kumar</dc:creator>
  <cp:lastModifiedBy>Krishna Mathur</cp:lastModifiedBy>
  <cp:revision>2</cp:revision>
  <dcterms:created xsi:type="dcterms:W3CDTF">2026-06-28T16:01:58Z</dcterms:created>
  <dcterms:modified xsi:type="dcterms:W3CDTF">2026-06-29T05:22:36Z</dcterms:modified>
</cp:coreProperties>
</file>